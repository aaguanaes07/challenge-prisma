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6"/>
  </p:notesMasterIdLst>
  <p:sldIdLst>
    <p:sldId id="263" r:id="rId2"/>
    <p:sldId id="296" r:id="rId3"/>
    <p:sldId id="294" r:id="rId4"/>
    <p:sldId id="295" r:id="rId5"/>
    <p:sldId id="290" r:id="rId6"/>
    <p:sldId id="288" r:id="rId7"/>
    <p:sldId id="277" r:id="rId8"/>
    <p:sldId id="308" r:id="rId9"/>
    <p:sldId id="281" r:id="rId10"/>
    <p:sldId id="280" r:id="rId11"/>
    <p:sldId id="314" r:id="rId12"/>
    <p:sldId id="309" r:id="rId13"/>
    <p:sldId id="305" r:id="rId14"/>
    <p:sldId id="307" r:id="rId15"/>
    <p:sldId id="313" r:id="rId16"/>
    <p:sldId id="300" r:id="rId17"/>
    <p:sldId id="316" r:id="rId18"/>
    <p:sldId id="303" r:id="rId19"/>
    <p:sldId id="302" r:id="rId20"/>
    <p:sldId id="317" r:id="rId21"/>
    <p:sldId id="312" r:id="rId22"/>
    <p:sldId id="311" r:id="rId23"/>
    <p:sldId id="318" r:id="rId24"/>
    <p:sldId id="301" r:id="rId25"/>
  </p:sldIdLst>
  <p:sldSz cx="12192000" cy="6858000"/>
  <p:notesSz cx="6858000" cy="9144000"/>
  <p:embeddedFontLst>
    <p:embeddedFont>
      <p:font typeface="Lato" panose="020F0502020204030203" pitchFamily="34" charset="0"/>
      <p:regular r:id="rId27"/>
      <p:bold r:id="rId28"/>
      <p:italic r:id="rId29"/>
      <p:boldItalic r:id="rId3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AA76"/>
    <a:srgbClr val="4CBF88"/>
    <a:srgbClr val="33C2FF"/>
    <a:srgbClr val="131313"/>
    <a:srgbClr val="282828"/>
    <a:srgbClr val="474747"/>
    <a:srgbClr val="F4F4F4"/>
    <a:srgbClr val="ECECEC"/>
    <a:srgbClr val="E8E8E8"/>
    <a:srgbClr val="F4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CC9B0-4D54-4557-9850-8DE3C60461C0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AF1CA-A862-4C60-A888-B4C8D949F3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05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171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535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81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E7D52-9FCF-47DD-B64E-C009A944E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964129-6898-4408-95FF-1EEAD8369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B7DB23-C448-48FE-B705-1F1A8B51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0D0364-CC44-421E-8C72-B6DA8872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3B4F00-30AE-4BDF-B182-E3642A12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00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0B206-D710-4EDF-8E61-D3569568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7D2B73-0BAC-468C-9684-D90BD2BFB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C129DB-8E78-4605-954B-AFA6D95D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805BD2-85CB-4F5C-A0C4-70B71D5F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5BC014-155B-476D-8CAA-00F8A4A3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7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DBA32-1C7A-430B-8772-9E371FBB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449BD2-9B84-4C94-9F39-AF714BAB3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B0981F-C486-48A6-ABA8-9652B3E51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FB472-302D-403A-8F86-315E2B44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1EB804-1AD2-4D63-9B6E-1EF8FC21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5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FB278-25D7-4082-92FA-FF65FF0A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E87F7C-38CA-468D-978A-A4D7B70BE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EEE420-DC0F-4A11-BB19-12EA9FF1F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07BFA5-7E2E-4ECC-B871-87F3479F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81807B-4BCF-4287-92D3-4C824B8B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89FD86-89C5-4FE8-BDD3-64D5B05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217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D604C-A865-427E-80D0-3B7FD2EF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5B5B2A-221F-4DB7-B75B-7E23D0A7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B5B39F-6913-49FB-AADC-80DB02E61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8FBF4D-B984-4583-9A24-CC75AFE7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5A4D18-5BEA-4B24-8335-CA8802C3D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9B9E2B-307F-404B-BF87-A9586C88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3DBAEC-4A34-4E8D-BB39-F9307EF0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8C1BB6-1C0F-4AE4-B7F9-7D887EFC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180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D1C6A-C8D7-4E13-8F8B-405C60A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EE442-54A3-466F-AADD-99DA0163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F0341B-CEFE-46B9-B34E-B6E3EF27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E1FBAD-393B-4906-8EC9-9F28F9EF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15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897B14-5DC3-4E56-9F8F-5B23FE7B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DA9F87-5DBC-41EE-ACF6-B3FAE34D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F2E076-DE43-42EC-8066-B436E63E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90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126C2-6C75-4D60-9FC6-709866397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EB5812-6635-4EA5-A786-B05DE5CF4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C5603E-F8A3-450D-A31C-88C916CA8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16A27E-1B5F-49B6-BE41-7B02F4BF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E71424-EE11-4F6A-BE29-1DF2F3DB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AA1004-657B-49EE-867B-FDABE352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50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BB996-CC15-418F-954E-1AE2DEB9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DC1496-21E5-4663-8D94-723B26426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25FA0A-C00F-4F4A-84BC-4D6C86E76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554003-0C8F-4570-99A4-126E68D6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A7BDC5-ACA5-4D33-9992-37C0132D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617AD-5E80-4F10-B665-C6A59205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39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9886E-5236-43D9-87BC-87BB876F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62D8CA-52ED-4599-9D86-50FFB8946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D6B8EF-1081-486A-9D0F-062C9727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84D7E2-BE8B-4FF3-A0F6-78ACFE6A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75270F-79E2-467F-847D-6660872F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79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5DE8B2-9F6F-483B-8592-A592B996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1F940-29B4-43CE-9C30-8B0D5046C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8E25F-5FC0-43C3-BE9C-FCC9DAA7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2AB1A-07A2-4F78-8726-8D7EC2B5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D6ACC7-9663-43C6-9794-01D0D88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57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4F3DD90-9DC3-4705-8C49-1F92650C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EC279-9772-4100-9D35-3832F91F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4B1702-381C-4118-B586-B72D969C1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1A783-1A18-420E-A1CE-166C89CD8D65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FA2F55-6463-4E14-BAB5-96AA15902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C10437-B659-4D5B-9517-D5C6A521E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08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aguanaes07-challenge-prisma-srcapp-niz5xn.streamlit.app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aguanaes07-challenge-prisma-srcapp-niz5xn.streamlit.app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aguanaes07-challenge-prisma-srcapp-niz5xn.streamlit.app/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aguanaes07-challenge-prisma-srcapp-niz5xn.streamlit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031B047-6BFC-4F8A-9E86-BC16658D35C3}"/>
              </a:ext>
            </a:extLst>
          </p:cNvPr>
          <p:cNvSpPr txBox="1"/>
          <p:nvPr/>
        </p:nvSpPr>
        <p:spPr>
          <a:xfrm>
            <a:off x="4871357" y="3502511"/>
            <a:ext cx="24492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BE5B9B9-31A8-4388-A219-7F767F006069}"/>
              </a:ext>
            </a:extLst>
          </p:cNvPr>
          <p:cNvCxnSpPr>
            <a:cxnSpLocks/>
          </p:cNvCxnSpPr>
          <p:nvPr/>
        </p:nvCxnSpPr>
        <p:spPr>
          <a:xfrm>
            <a:off x="4053068" y="4391045"/>
            <a:ext cx="408586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8DC687-655E-4F16-A22E-503E58FBA635}"/>
              </a:ext>
            </a:extLst>
          </p:cNvPr>
          <p:cNvSpPr txBox="1"/>
          <p:nvPr/>
        </p:nvSpPr>
        <p:spPr>
          <a:xfrm>
            <a:off x="4053066" y="4494750"/>
            <a:ext cx="4085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Plataforma de Risco e Inteligência para Securitização e Modelagem Avançada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2FB905-058D-48EB-B1B7-72EF94430B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8" t="10820" r="16971" b="25266"/>
          <a:stretch/>
        </p:blipFill>
        <p:spPr>
          <a:xfrm>
            <a:off x="5089602" y="1472799"/>
            <a:ext cx="2012793" cy="202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46A6D33-068D-4326-80B3-DC443BFDF1E3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CF5048E-6F02-422D-B870-0CBE2F64EEC4}"/>
              </a:ext>
            </a:extLst>
          </p:cNvPr>
          <p:cNvSpPr txBox="1"/>
          <p:nvPr/>
        </p:nvSpPr>
        <p:spPr>
          <a:xfrm>
            <a:off x="1485521" y="4402688"/>
            <a:ext cx="2358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Ana Carolina Andrade Guanaes</a:t>
            </a:r>
          </a:p>
          <a:p>
            <a:pPr algn="ctr"/>
            <a:r>
              <a:rPr lang="sv-SE" sz="12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RM566748</a:t>
            </a:r>
            <a:r>
              <a:rPr lang="pt-BR" sz="1200" b="1" kern="1200" dirty="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endParaRPr lang="sv-SE" sz="1200" b="1" dirty="0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061A7D-CDE8-424F-B2E3-A825D115D8F5}"/>
              </a:ext>
            </a:extLst>
          </p:cNvPr>
          <p:cNvSpPr txBox="1"/>
          <p:nvPr/>
        </p:nvSpPr>
        <p:spPr>
          <a:xfrm>
            <a:off x="4236555" y="4419794"/>
            <a:ext cx="157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kern="120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Italo Bangarcl Silva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RM567637</a:t>
            </a:r>
            <a:endParaRPr lang="pt-BR" sz="1200" b="1" kern="1200">
              <a:solidFill>
                <a:schemeClr val="bg1"/>
              </a:solidFill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C5ED58B-B041-442B-9107-2E669B3F6146}"/>
              </a:ext>
            </a:extLst>
          </p:cNvPr>
          <p:cNvSpPr txBox="1"/>
          <p:nvPr/>
        </p:nvSpPr>
        <p:spPr>
          <a:xfrm>
            <a:off x="6146226" y="4407094"/>
            <a:ext cx="2587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Matheus Augusto Pombo Mendes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RM567936</a:t>
            </a:r>
            <a:endParaRPr lang="sv-SE" sz="1200" b="1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020E157-E80B-4F24-AA21-3BDC98EC478A}"/>
              </a:ext>
            </a:extLst>
          </p:cNvPr>
          <p:cNvSpPr txBox="1"/>
          <p:nvPr/>
        </p:nvSpPr>
        <p:spPr>
          <a:xfrm>
            <a:off x="8806616" y="4423298"/>
            <a:ext cx="2056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Santiago </a:t>
            </a:r>
            <a:r>
              <a:rPr lang="pt-BR" sz="1200" b="1" err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Agustin</a:t>
            </a:r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200" b="1" err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Medardi</a:t>
            </a:r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RM566832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A3792AB-C7FD-419A-8786-BBEA6C1C82D9}"/>
              </a:ext>
            </a:extLst>
          </p:cNvPr>
          <p:cNvSpPr/>
          <p:nvPr/>
        </p:nvSpPr>
        <p:spPr>
          <a:xfrm>
            <a:off x="1671095" y="2200584"/>
            <a:ext cx="1987421" cy="2006081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D9E3C57-5259-48EE-9D09-F74D76A8BD2E}"/>
              </a:ext>
            </a:extLst>
          </p:cNvPr>
          <p:cNvSpPr/>
          <p:nvPr/>
        </p:nvSpPr>
        <p:spPr>
          <a:xfrm>
            <a:off x="4023565" y="2200586"/>
            <a:ext cx="1987421" cy="2006081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FB942AC1-210A-476D-8ED8-055FF7647DCC}"/>
              </a:ext>
            </a:extLst>
          </p:cNvPr>
          <p:cNvSpPr/>
          <p:nvPr/>
        </p:nvSpPr>
        <p:spPr>
          <a:xfrm>
            <a:off x="8962967" y="2200586"/>
            <a:ext cx="1987421" cy="2006081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C250B06-CB38-4E48-BCB0-FEF73728722A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INTEGRANTES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6BD18E1-3ACC-4642-A0D3-599207585194}"/>
              </a:ext>
            </a:extLst>
          </p:cNvPr>
          <p:cNvSpPr/>
          <p:nvPr/>
        </p:nvSpPr>
        <p:spPr>
          <a:xfrm>
            <a:off x="6485312" y="2200586"/>
            <a:ext cx="1987420" cy="2006081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93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C68B7B69-C306-4A29-8D18-3A68289A6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0" y="3973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D93505-4BBE-4094-A42B-D5D235C6E670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CONTEXTUALIZAÇÃO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10A69-3E5A-4003-9340-006080B8D8B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A052F8-E029-45EC-893E-8D3C524924B3}"/>
              </a:ext>
            </a:extLst>
          </p:cNvPr>
          <p:cNvSpPr txBox="1"/>
          <p:nvPr/>
        </p:nvSpPr>
        <p:spPr>
          <a:xfrm>
            <a:off x="764241" y="2127123"/>
            <a:ext cx="10663518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57200">
              <a:spcAft>
                <a:spcPts val="1600"/>
              </a:spcAft>
            </a:pP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 cenário empresarial brasileiro é de </a:t>
            </a:r>
            <a:r>
              <a:rPr lang="pt-BR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forte expansão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, impulsionado por uma onda de empreendedorismo que gerou mais de </a:t>
            </a:r>
            <a:r>
              <a:rPr lang="pt-BR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3,9 milhões de novas empresas 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em 2021 e mantém um crescimento notável, com </a:t>
            </a:r>
            <a:r>
              <a:rPr lang="pt-BR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1,4 milhão de pequenos negócios abertos 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apenas no primeiro trimestre de 2025. Esse dinamismo, que elevou a Taxa de Empreendedorismo para 33,4%, exige um fluxo de capital contínuo, evidenciado pelo fato de que 40% do crédito concedido no país é direcionado para empresas. </a:t>
            </a:r>
            <a:br>
              <a:rPr lang="pt-BR" b="0" i="0" u="none" strike="noStrike" dirty="0">
                <a:effectLst/>
                <a:latin typeface="Lato" panose="020F0502020204030203" pitchFamily="34" charset="0"/>
              </a:rPr>
            </a:b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Contudo, essa demanda por crédito opera sob a sombra da inadimplência, que atinge mais de 73 milhões de brasileiros, tornando a gestão de risco uma prioridade crítica. É neste contexto que os Fundos de Investimento em Direitos Creditórios (FIDCs) se estabelecem como um pilar estratégico, injetando liquidez imediata nas empresas ao comprar seus recebíveis, sendo 70% desses ativos de </a:t>
            </a:r>
            <a:r>
              <a:rPr lang="pt-BR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natureza comercial (B2B).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br>
              <a:rPr lang="pt-BR" b="0" i="0" u="none" strike="noStrike" dirty="0">
                <a:effectLst/>
                <a:latin typeface="Lato" panose="020F0502020204030203" pitchFamily="34" charset="0"/>
              </a:rPr>
            </a:b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Para que os </a:t>
            </a:r>
            <a:r>
              <a:rPr lang="pt-BR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FIDCs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 operem com segurança e garantam a rentabilidade diante do risco latente, o mercado exige ferramentas de análise sofisticada baseadas em IA/ML que vão além do score básico, realizando a validação estrutural, simulações de estresse e a previsão de rating das cotas do fundo.</a:t>
            </a:r>
            <a:endParaRPr lang="pt-BR" b="0" dirty="0"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191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C68B7B69-C306-4A29-8D18-3A68289A6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0" y="3973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D93505-4BBE-4094-A42B-D5D235C6E670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CONHEÇA A PRISMA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10A69-3E5A-4003-9340-006080B8D8B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A052F8-E029-45EC-893E-8D3C524924B3}"/>
              </a:ext>
            </a:extLst>
          </p:cNvPr>
          <p:cNvSpPr txBox="1"/>
          <p:nvPr/>
        </p:nvSpPr>
        <p:spPr>
          <a:xfrm>
            <a:off x="764241" y="2127123"/>
            <a:ext cx="1066351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57200">
              <a:spcAft>
                <a:spcPts val="1600"/>
              </a:spcAft>
            </a:pP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Pensando na complexidade do investimento FIDC e na gestão de ativos complexos, o projeto </a:t>
            </a:r>
            <a:r>
              <a:rPr lang="pt-BR" sz="18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PRISMA 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(Plataforma de Risco e Inteligência para Securitização e Modelagem Avançada) foi desenvolvido. Como um módulo especializado de risco estrutural com IA/ML, foi projetado para analisar rapidamente milhares de operações, indo além dos scores genéricos ao identificar padrões e </a:t>
            </a:r>
            <a:r>
              <a:rPr lang="pt-BR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correlações                                                                                                              para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 mitigar a seleção adversa e assimetria de informação.</a:t>
            </a:r>
            <a:r>
              <a:rPr lang="pt-BR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                                                                                                         </a:t>
            </a:r>
            <a:br>
              <a:rPr lang="pt-BR" sz="1800" b="0" i="0" u="none" strike="noStrike" dirty="0">
                <a:effectLst/>
                <a:latin typeface="Lato" panose="020F0502020204030203" pitchFamily="34" charset="0"/>
              </a:rPr>
            </a:br>
            <a:r>
              <a:rPr lang="pt-BR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 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 </a:t>
            </a:r>
            <a:r>
              <a:rPr lang="pt-BR" sz="18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PRISMA 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opera como o módulo de inteligência estrutural da </a:t>
            </a:r>
            <a:r>
              <a:rPr lang="pt-BR" sz="18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Núclea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, iniciando com a Análise e Seleção de Ativos , onde utiliza scores bancários e dados transacionais para validar a elegibilidade do recebível e mitigar a seleção adversa. Em seguida, aplica a Modelagem Preditiva para ir além dos modelos tradicionais, identificando padrões complexos e simulando o risco nas diferentes tranches do FIDC. Por fim, realiza o Monitoramento em Tempo Real da carteira, alertando o gestor sobre mudanças no risco de devedores antes da inadimplência, garantindo assim uma precificação mais acurada e segurança contínua ao patrimônio do Fundo.</a:t>
            </a:r>
            <a:endParaRPr lang="pt-BR" b="0" dirty="0">
              <a:effectLst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2696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1646778" y="463930"/>
            <a:ext cx="93143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PROBLEMAS A SER RESOLVIDOS: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D42B6B-97B0-4A32-B891-79ED89B21EDC}"/>
              </a:ext>
            </a:extLst>
          </p:cNvPr>
          <p:cNvSpPr txBox="1"/>
          <p:nvPr/>
        </p:nvSpPr>
        <p:spPr>
          <a:xfrm>
            <a:off x="1362023" y="3407507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620ED9-6212-49FC-9DCC-68708BB8E72E}"/>
              </a:ext>
            </a:extLst>
          </p:cNvPr>
          <p:cNvSpPr txBox="1"/>
          <p:nvPr/>
        </p:nvSpPr>
        <p:spPr>
          <a:xfrm>
            <a:off x="2532640" y="3600006"/>
            <a:ext cx="804968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Assimetria de Informação: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No mercado de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o cedente (quem vende a dívida) conhece mais sobre o risco do devedor do que o gestor do fundo, criando desequilíbrio de informação.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3894806-5A09-407E-9398-25E7DBDEF543}"/>
              </a:ext>
            </a:extLst>
          </p:cNvPr>
          <p:cNvSpPr txBox="1"/>
          <p:nvPr/>
        </p:nvSpPr>
        <p:spPr>
          <a:xfrm>
            <a:off x="2495535" y="4551398"/>
            <a:ext cx="804968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Risco de Seleção Adversa: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Devido à essa assimetria, o cedente pode ter o incentivo de vender ao FIDC apenas as dívidas mais arriscadas, retendo as seguras para si.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0C0D3B-3721-4E0F-94F2-1557D1936D4D}"/>
              </a:ext>
            </a:extLst>
          </p:cNvPr>
          <p:cNvSpPr txBox="1"/>
          <p:nvPr/>
        </p:nvSpPr>
        <p:spPr>
          <a:xfrm>
            <a:off x="2551194" y="5449430"/>
            <a:ext cx="80311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Inadimplência: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Se o FIDC compra os ativos arriscados e o cliente não paga, o fundo arca com esses ativos, o que gera perda para o fundo e seus investidores.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3353CC-5B2A-458E-AF0E-5080252A2966}"/>
              </a:ext>
            </a:extLst>
          </p:cNvPr>
          <p:cNvSpPr txBox="1"/>
          <p:nvPr/>
        </p:nvSpPr>
        <p:spPr>
          <a:xfrm>
            <a:off x="1380628" y="4320386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AB0AD9-6F16-481C-BD2F-62CCE2F67440}"/>
              </a:ext>
            </a:extLst>
          </p:cNvPr>
          <p:cNvSpPr txBox="1"/>
          <p:nvPr/>
        </p:nvSpPr>
        <p:spPr>
          <a:xfrm>
            <a:off x="1380628" y="5210353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DBCD53-A7CE-4C72-ABE7-A990BE2B6FA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49FD6B-60FA-DF5D-A2E7-C1D954767150}"/>
              </a:ext>
            </a:extLst>
          </p:cNvPr>
          <p:cNvSpPr txBox="1"/>
          <p:nvPr/>
        </p:nvSpPr>
        <p:spPr>
          <a:xfrm>
            <a:off x="1380628" y="1820472"/>
            <a:ext cx="920169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O principal problema identificado é a dificuldade de analisar, priorizar e monitorar títulos de forma estruturada, escalável e preditiva no contexto de FIDCs. O desafio não é apenas classificar o ativo no momento da entrada, mas também apoiar o gestor com visão executiva e operacional, reduzindo risco de crédito e melhorando a tomada de decisão.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47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1646778" y="463930"/>
            <a:ext cx="93143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PROBLEMAS A SER RESOLVIDOS: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D42B6B-97B0-4A32-B891-79ED89B21EDC}"/>
              </a:ext>
            </a:extLst>
          </p:cNvPr>
          <p:cNvSpPr txBox="1"/>
          <p:nvPr/>
        </p:nvSpPr>
        <p:spPr>
          <a:xfrm>
            <a:off x="1381759" y="1988204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620ED9-6212-49FC-9DCC-68708BB8E72E}"/>
              </a:ext>
            </a:extLst>
          </p:cNvPr>
          <p:cNvSpPr txBox="1"/>
          <p:nvPr/>
        </p:nvSpPr>
        <p:spPr>
          <a:xfrm>
            <a:off x="2495534" y="1988204"/>
            <a:ext cx="8223264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Dependência Excessiva de Consultorias/Agências de Rating: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A necessidade de contratar consultorias para modelagem ou depender exclusivamente das agências de rating para validar a estrutura do FIDC encarece o processo e reduz a agilidade na tomada de decisão do Gestor.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3894806-5A09-407E-9398-25E7DBDEF543}"/>
              </a:ext>
            </a:extLst>
          </p:cNvPr>
          <p:cNvSpPr txBox="1"/>
          <p:nvPr/>
        </p:nvSpPr>
        <p:spPr>
          <a:xfrm>
            <a:off x="2495534" y="3316581"/>
            <a:ext cx="822326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Dispersão e Subutilização de Dados: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Embora haja uma riqueza de dados disponíveis (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bureaus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de crédito, B3/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Neoway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Núclea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Serasa, etc.), a dificuldade em integrar, processar e aplicar esses dados de forma inteligente para análise de risco estrutural (específico para FIDC) leva a decisões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subótimas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 perda de oportunidades.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0C0D3B-3721-4E0F-94F2-1557D1936D4D}"/>
              </a:ext>
            </a:extLst>
          </p:cNvPr>
          <p:cNvSpPr txBox="1"/>
          <p:nvPr/>
        </p:nvSpPr>
        <p:spPr>
          <a:xfrm>
            <a:off x="2514087" y="4930993"/>
            <a:ext cx="820471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Modelos de Risco Genéricos: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Os scores de crédito tradicionais não são totalmente adequados para modelar a complexa dinâmica de um portfólio de direitos creditórios com diferentes prazos, setores e garantias, nem para simular a migração de rating das cotas do FIDC.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B4FB76-92E2-427D-B11A-5B36D39DF643}"/>
              </a:ext>
            </a:extLst>
          </p:cNvPr>
          <p:cNvSpPr txBox="1"/>
          <p:nvPr/>
        </p:nvSpPr>
        <p:spPr>
          <a:xfrm>
            <a:off x="1400312" y="331658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13EFB7B-4ECE-424F-AD7F-97327429A592}"/>
              </a:ext>
            </a:extLst>
          </p:cNvPr>
          <p:cNvSpPr txBox="1"/>
          <p:nvPr/>
        </p:nvSpPr>
        <p:spPr>
          <a:xfrm>
            <a:off x="1400312" y="487579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0CCF3F-FD1D-4E72-ADF2-DDED85D9F346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58217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3611698" y="415437"/>
            <a:ext cx="49686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PÚBLICO ALVO: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AE5BB21-8815-4F43-942E-7B373749BB4B}"/>
              </a:ext>
            </a:extLst>
          </p:cNvPr>
          <p:cNvSpPr txBox="1"/>
          <p:nvPr/>
        </p:nvSpPr>
        <p:spPr>
          <a:xfrm>
            <a:off x="2514087" y="1946465"/>
            <a:ext cx="85026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Administradores de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Validação e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Compliance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.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Garantir que os recebíveis comprados se enquadram nas regras do Fundo (elegibilidade) e que o risco está monitorado conforme a CVM (Comissão de Valores Mobiliários, entidade que regula os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).</a:t>
            </a:r>
            <a:endParaRPr lang="pt-BR" sz="1500" b="1" dirty="0">
              <a:solidFill>
                <a:srgbClr val="4CBF88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7D9A8D2-561A-4859-857E-55BD0100D96F}"/>
              </a:ext>
            </a:extLst>
          </p:cNvPr>
          <p:cNvSpPr txBox="1"/>
          <p:nvPr/>
        </p:nvSpPr>
        <p:spPr>
          <a:xfrm>
            <a:off x="2514087" y="3114830"/>
            <a:ext cx="850266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Gestores de Carteira de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Otimização de Retorno.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Precificar o risco com precisão para maximizar a margem de lucro e garantir que o Fundo não tome calotes inesperados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49EB5BF-75A2-406B-BE7E-AC3444779C74}"/>
              </a:ext>
            </a:extLst>
          </p:cNvPr>
          <p:cNvSpPr txBox="1"/>
          <p:nvPr/>
        </p:nvSpPr>
        <p:spPr>
          <a:xfrm>
            <a:off x="2495535" y="4126705"/>
            <a:ext cx="85026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Securitizadoras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 Previsibilidade de Rating.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Estruturar a emissão de cotas (Sênior, Mezanino, Subordinada) com segurança, sabendo antecipadamente qual será o rating da agência, garantindo a liquidez da cota sênior.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C571E80-09CA-44D2-9264-51A39B0BEA7E}"/>
              </a:ext>
            </a:extLst>
          </p:cNvPr>
          <p:cNvSpPr txBox="1"/>
          <p:nvPr/>
        </p:nvSpPr>
        <p:spPr>
          <a:xfrm>
            <a:off x="1381758" y="190420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1279208-A3AA-4F8C-83E5-AFD6C3B4141A}"/>
              </a:ext>
            </a:extLst>
          </p:cNvPr>
          <p:cNvSpPr txBox="1"/>
          <p:nvPr/>
        </p:nvSpPr>
        <p:spPr>
          <a:xfrm>
            <a:off x="1381758" y="295964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EF60DD3-DD93-4FA7-BEC3-AF4DD93E2E26}"/>
              </a:ext>
            </a:extLst>
          </p:cNvPr>
          <p:cNvSpPr txBox="1"/>
          <p:nvPr/>
        </p:nvSpPr>
        <p:spPr>
          <a:xfrm>
            <a:off x="1400312" y="4087376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ACA7D7A-EE91-42B6-A4AB-A69C584569FC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318296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DC4D075-CF27-4A93-BE96-3B5944A7405E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PROPOSTA DE SOLUÇÃO: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8DDBA7-3173-4455-B1F6-7A5DA1793AE8}"/>
              </a:ext>
            </a:extLst>
          </p:cNvPr>
          <p:cNvSpPr txBox="1"/>
          <p:nvPr/>
        </p:nvSpPr>
        <p:spPr>
          <a:xfrm>
            <a:off x="2514088" y="1687155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Criar uma plataforma inteligente que utiliza Python, Pandas,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NumPy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Scikit-Learn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para construir modelos de IA e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Machine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Learning capazes de avaliar o risco dos recebíveis com maior granularidade e precisão.</a:t>
            </a:r>
            <a:endParaRPr lang="pt-BR" sz="1500" dirty="0"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06E3E68-B50A-4408-BA7D-94BC06421C44}"/>
              </a:ext>
            </a:extLst>
          </p:cNvPr>
          <p:cNvSpPr txBox="1"/>
          <p:nvPr/>
        </p:nvSpPr>
        <p:spPr>
          <a:xfrm>
            <a:off x="2495535" y="2893112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Aplicar análise estrutural dos dados usando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pipelines de tratamento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imputação inteligente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regras por espécie de título e leitura regional, permitindo identificar padrões de atraso, inadimplência e distorções no score tradicional.</a:t>
            </a:r>
            <a:endParaRPr lang="pt-BR" sz="1500" b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B29C4F-A1E5-412C-A444-CFDC56B38EF3}"/>
              </a:ext>
            </a:extLst>
          </p:cNvPr>
          <p:cNvSpPr txBox="1"/>
          <p:nvPr/>
        </p:nvSpPr>
        <p:spPr>
          <a:xfrm>
            <a:off x="2514088" y="4017305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Detectar oportunidades, como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joias ocultas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por meio de modelos preditivos supervisionados e análise comportamental, reclassificando empresas com base em métricas reais e não apenas scores genéricos.</a:t>
            </a:r>
            <a:endParaRPr lang="pt-BR" sz="1500" b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3847F1-DD64-4DA3-B0B2-8EE0F7F776F9}"/>
              </a:ext>
            </a:extLst>
          </p:cNvPr>
          <p:cNvSpPr txBox="1"/>
          <p:nvPr/>
        </p:nvSpPr>
        <p:spPr>
          <a:xfrm>
            <a:off x="1381758" y="2816167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1A9586-71B5-4989-85A8-435F1C2230D3}"/>
              </a:ext>
            </a:extLst>
          </p:cNvPr>
          <p:cNvSpPr txBox="1"/>
          <p:nvPr/>
        </p:nvSpPr>
        <p:spPr>
          <a:xfrm>
            <a:off x="1381758" y="1603498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D166E77-EA8E-4995-9830-845773B033C4}"/>
              </a:ext>
            </a:extLst>
          </p:cNvPr>
          <p:cNvSpPr txBox="1"/>
          <p:nvPr/>
        </p:nvSpPr>
        <p:spPr>
          <a:xfrm>
            <a:off x="1381757" y="3940360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0FFEDE-28A4-44CB-B4DD-7939A501405B}"/>
              </a:ext>
            </a:extLst>
          </p:cNvPr>
          <p:cNvSpPr txBox="1"/>
          <p:nvPr/>
        </p:nvSpPr>
        <p:spPr>
          <a:xfrm>
            <a:off x="2514088" y="5137832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Integrar a solução a uma arquitetura composta por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API em </a:t>
            </a:r>
            <a:r>
              <a:rPr lang="pt-BR" sz="1500" b="1" dirty="0" err="1">
                <a:solidFill>
                  <a:schemeClr val="bg1"/>
                </a:solidFill>
                <a:latin typeface="Lato" panose="020F0502020204030203" pitchFamily="34" charset="0"/>
              </a:rPr>
              <a:t>FastAPI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armazenamento em nuvem, dashboards interativos desenvolvidos em </a:t>
            </a:r>
            <a:r>
              <a:rPr lang="pt-BR" sz="1500" b="1" dirty="0" err="1">
                <a:solidFill>
                  <a:schemeClr val="bg1"/>
                </a:solidFill>
                <a:latin typeface="Lato" panose="020F0502020204030203" pitchFamily="34" charset="0"/>
              </a:rPr>
              <a:t>Streamlit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e um motor preditivo central para entregar uma visão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completa, atualizada e transparente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 do risco da carteira em tempo real.</a:t>
            </a:r>
            <a:endParaRPr lang="pt-BR" sz="1500" b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794D5B-33B4-4926-B74F-97B1FCED6308}"/>
              </a:ext>
            </a:extLst>
          </p:cNvPr>
          <p:cNvSpPr txBox="1"/>
          <p:nvPr/>
        </p:nvSpPr>
        <p:spPr>
          <a:xfrm>
            <a:off x="1381757" y="5060887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955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IMPACTOS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ECCFB53-D531-4DA1-BE8D-1BC21DB22B1F}"/>
              </a:ext>
            </a:extLst>
          </p:cNvPr>
          <p:cNvSpPr txBox="1"/>
          <p:nvPr/>
        </p:nvSpPr>
        <p:spPr>
          <a:xfrm>
            <a:off x="2415449" y="2280358"/>
            <a:ext cx="804968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Inteligência Estrutural para a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Núclea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Posiciona a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Núclea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como um provedor </a:t>
            </a:r>
            <a:r>
              <a:rPr lang="pt-BR" sz="1500" b="0" i="1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premium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de inteligência para o mercado de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FIDCs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, convertendo seu vasto volume de dados transacionais em análises de risco estrutural (rating e stress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testing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) que faltam no mercado.</a:t>
            </a:r>
            <a:endParaRPr lang="pt-BR" sz="1500" b="0" dirty="0"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4455AE-607E-4265-8D3E-89D54FE8B3F3}"/>
              </a:ext>
            </a:extLst>
          </p:cNvPr>
          <p:cNvSpPr txBox="1"/>
          <p:nvPr/>
        </p:nvSpPr>
        <p:spPr>
          <a:xfrm>
            <a:off x="2415449" y="4048460"/>
            <a:ext cx="8928612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Melhoria no </a:t>
            </a:r>
            <a:r>
              <a:rPr lang="pt-BR" sz="1500" b="1" i="1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Underwriting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de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FIDCs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Reduz drasticamente o tempo de </a:t>
            </a:r>
            <a:r>
              <a:rPr lang="pt-BR" sz="1500" b="0" i="1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due</a:t>
            </a:r>
            <a:r>
              <a:rPr lang="pt-BR" sz="1500" b="0" i="1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</a:t>
            </a:r>
            <a:r>
              <a:rPr lang="pt-BR" sz="1500" b="0" i="1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diligence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e o risco operacional associado à análise manual de elegibilidade e risco do lastro, tornando o processo de originação de ativos mais ágil e seguro para gestores e administradores.</a:t>
            </a:r>
            <a:endParaRPr lang="pt-BR" sz="1500" b="0" dirty="0">
              <a:effectLst/>
              <a:latin typeface="Lato"/>
              <a:ea typeface="Lato"/>
              <a:cs typeface="Segoe UI"/>
            </a:endParaRPr>
          </a:p>
        </p:txBody>
      </p:sp>
      <p:sp>
        <p:nvSpPr>
          <p:cNvPr id="25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0814D594-65FB-4B7F-B099-987F07BFB8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4961" y="42129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7887AB-06FE-4386-8F79-B9264157D3BC}"/>
              </a:ext>
            </a:extLst>
          </p:cNvPr>
          <p:cNvSpPr txBox="1"/>
          <p:nvPr/>
        </p:nvSpPr>
        <p:spPr>
          <a:xfrm>
            <a:off x="1341978" y="3971515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E6CB5BE-FAD9-4409-9CA0-E59AE2BDF26D}"/>
              </a:ext>
            </a:extLst>
          </p:cNvPr>
          <p:cNvSpPr txBox="1"/>
          <p:nvPr/>
        </p:nvSpPr>
        <p:spPr>
          <a:xfrm>
            <a:off x="1341978" y="220341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15B322-FE5A-4BF8-9A25-901020C2E95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05685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BENEFÍCIOS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A78CFF5-A941-411D-B544-6D66176FC6A8}"/>
              </a:ext>
            </a:extLst>
          </p:cNvPr>
          <p:cNvSpPr txBox="1"/>
          <p:nvPr/>
        </p:nvSpPr>
        <p:spPr>
          <a:xfrm>
            <a:off x="1975309" y="1959362"/>
            <a:ext cx="944521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Potencial de Otimização do Retorno em até 1,5% a.a.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Precificação mais acurada do risco permite que o Fundo obtenha melhor retorno sem aumentar indevidamente a exposição, otimizando a margem de lucro em até 1,5% a.a..</a:t>
            </a:r>
            <a:endParaRPr lang="pt-BR" sz="1500" dirty="0">
              <a:latin typeface="Lato"/>
              <a:ea typeface="+mn-lt"/>
              <a:cs typeface="+mn-lt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CA8D025-F101-4BF7-B714-AFBCDA31AA2B}"/>
              </a:ext>
            </a:extLst>
          </p:cNvPr>
          <p:cNvSpPr txBox="1"/>
          <p:nvPr/>
        </p:nvSpPr>
        <p:spPr>
          <a:xfrm>
            <a:off x="1975309" y="3085768"/>
            <a:ext cx="944521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Meta de Redução do Risco de Crédito em 30%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Monitoramento em tempo real permite a ação preventiva antes do </a:t>
            </a:r>
            <a:r>
              <a:rPr lang="pt-BR" sz="1500" i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default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 do devedor, protegendo a cota sênior e buscando a redução do risco inesperado em 30%.</a:t>
            </a:r>
            <a:endParaRPr lang="pt-BR" dirty="0">
              <a:latin typeface="Lato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DD246C1-C352-427A-8CA2-0905939AE563}"/>
              </a:ext>
            </a:extLst>
          </p:cNvPr>
          <p:cNvSpPr txBox="1"/>
          <p:nvPr/>
        </p:nvSpPr>
        <p:spPr>
          <a:xfrm>
            <a:off x="1993862" y="4047997"/>
            <a:ext cx="944521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Aceleração da Análise de Ativos em até 95%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Analisar milhares de operações em segundos, eliminando erros de modelos legados (Excel) e 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acelerando a captação de novos ativos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 em até 95%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 através de automação de processos.</a:t>
            </a:r>
            <a:endParaRPr lang="pt-BR" dirty="0">
              <a:latin typeface="Lato"/>
              <a:ea typeface="+mn-lt"/>
              <a:cs typeface="+mn-lt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DE8D62A-2777-408A-9183-E406DFBBA18D}"/>
              </a:ext>
            </a:extLst>
          </p:cNvPr>
          <p:cNvSpPr txBox="1"/>
          <p:nvPr/>
        </p:nvSpPr>
        <p:spPr>
          <a:xfrm>
            <a:off x="1993862" y="5114075"/>
            <a:ext cx="944521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Redução de Custos Operacionais em até 20%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Maior rastreabilidade e validação automatizada da elegibilidade dos recebíveis, 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facilitando a auditoria e o relacionamento com a CVM com suporte ao </a:t>
            </a:r>
            <a:r>
              <a:rPr lang="pt-BR" sz="1500" i="1" u="none" strike="noStrike" dirty="0" err="1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compliance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 e reduzindo custos operacionais em até 20%.</a:t>
            </a:r>
            <a:endParaRPr lang="pt-BR" dirty="0">
              <a:latin typeface="Lato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6B8E7E-E2EB-478E-B291-F8128B1582AA}"/>
              </a:ext>
            </a:extLst>
          </p:cNvPr>
          <p:cNvSpPr txBox="1"/>
          <p:nvPr/>
        </p:nvSpPr>
        <p:spPr>
          <a:xfrm>
            <a:off x="966212" y="185514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D5718A4-500F-4D05-AA1F-ADCC04811A1A}"/>
              </a:ext>
            </a:extLst>
          </p:cNvPr>
          <p:cNvSpPr txBox="1"/>
          <p:nvPr/>
        </p:nvSpPr>
        <p:spPr>
          <a:xfrm>
            <a:off x="966212" y="2883325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3639F91-8E83-403A-882A-62DD21A18ACB}"/>
              </a:ext>
            </a:extLst>
          </p:cNvPr>
          <p:cNvSpPr txBox="1"/>
          <p:nvPr/>
        </p:nvSpPr>
        <p:spPr>
          <a:xfrm>
            <a:off x="966211" y="3971052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A1E2FF9-56CA-4083-9653-2AF192D531FB}"/>
              </a:ext>
            </a:extLst>
          </p:cNvPr>
          <p:cNvSpPr txBox="1"/>
          <p:nvPr/>
        </p:nvSpPr>
        <p:spPr>
          <a:xfrm>
            <a:off x="966214" y="4960186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8608EA-F51E-4BA3-BBFF-BB59DC6F55D5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529281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COMPARAÇÃO COM OS CONCORRENTES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D748A6-1EF3-4264-A873-ADFB3E75FEC3}"/>
              </a:ext>
            </a:extLst>
          </p:cNvPr>
          <p:cNvSpPr txBox="1"/>
          <p:nvPr/>
        </p:nvSpPr>
        <p:spPr>
          <a:xfrm>
            <a:off x="764400" y="2703059"/>
            <a:ext cx="10663200" cy="369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O mercado brasileiro conta com empresas fortes em dados,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analytics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e crédito, mas a maioria delas atua de forma </a:t>
            </a:r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ampla e genérica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, focada em scores tradicionais, big data corporativo ou plataformas operacionais. Embora ofereçam soluções consolidadas, </a:t>
            </a:r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nenhuma delas é especializada em análise preditiva estrutural para </a:t>
            </a:r>
            <a:r>
              <a:rPr lang="pt-BR" b="1" dirty="0" err="1">
                <a:solidFill>
                  <a:schemeClr val="bg1"/>
                </a:solidFill>
                <a:latin typeface="Lato" panose="020F0502020204030203" pitchFamily="34" charset="0"/>
              </a:rPr>
              <a:t>FIDCs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, nem modela risco com granularidade por espécie de título, região, comportamento histórico ou impacto sobre o </a:t>
            </a:r>
            <a:r>
              <a:rPr lang="pt-BR" i="1" dirty="0">
                <a:solidFill>
                  <a:schemeClr val="bg1"/>
                </a:solidFill>
                <a:latin typeface="Lato" panose="020F0502020204030203" pitchFamily="34" charset="0"/>
              </a:rPr>
              <a:t>rating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da cota — exatamente o espaço onde o PRISMA se diferencia.</a:t>
            </a:r>
          </a:p>
        </p:txBody>
      </p:sp>
    </p:spTree>
    <p:extLst>
      <p:ext uri="{BB962C8B-B14F-4D97-AF65-F5344CB8AC3E}">
        <p14:creationId xmlns:p14="http://schemas.microsoft.com/office/powerpoint/2010/main" val="2940914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5F0EC96-1B56-4B7F-8ABC-A007CF1D3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519546"/>
              </p:ext>
            </p:extLst>
          </p:nvPr>
        </p:nvGraphicFramePr>
        <p:xfrm>
          <a:off x="-2" y="0"/>
          <a:ext cx="12192000" cy="68632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489625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825974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3865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93344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296213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68436516"/>
                    </a:ext>
                  </a:extLst>
                </a:gridCol>
              </a:tblGrid>
              <a:tr h="972273">
                <a:tc>
                  <a:txBody>
                    <a:bodyPr/>
                    <a:lstStyle/>
                    <a:p>
                      <a:pPr algn="ctr"/>
                      <a:endParaRPr lang="pt-B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pt-BR" sz="1600" b="1" kern="1200" dirty="0">
                          <a:solidFill>
                            <a:schemeClr val="lt1"/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Característica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kern="1200" dirty="0">
                          <a:solidFill>
                            <a:schemeClr val="lt1"/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Serasa </a:t>
                      </a:r>
                      <a:r>
                        <a:rPr lang="pt-BR" sz="1600" b="1" kern="1200" dirty="0" err="1">
                          <a:solidFill>
                            <a:schemeClr val="lt1"/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Experian</a:t>
                      </a:r>
                      <a:r>
                        <a:rPr lang="pt-BR" sz="1600" b="1" kern="1200" dirty="0">
                          <a:solidFill>
                            <a:schemeClr val="lt1"/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(Concorrência Tradicional)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>
                          <a:latin typeface="Lato" panose="020F0502020204030203" pitchFamily="34" charset="0"/>
                        </a:rPr>
                        <a:t>Neoway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(B3) (Concorrência Tecnológica)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  <a:p>
                      <a:pPr algn="ctr"/>
                      <a:r>
                        <a:rPr lang="pt-BR" sz="1600" dirty="0" err="1"/>
                        <a:t>Neurotech</a:t>
                      </a:r>
                      <a:r>
                        <a:rPr lang="pt-BR" sz="1600" dirty="0"/>
                        <a:t> (IA / </a:t>
                      </a:r>
                      <a:r>
                        <a:rPr lang="pt-BR" sz="1600" dirty="0" err="1"/>
                        <a:t>Analytics</a:t>
                      </a:r>
                      <a:r>
                        <a:rPr lang="pt-BR" sz="1600" dirty="0"/>
                        <a:t>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latin typeface="Lato" panose="020F0502020204030203" pitchFamily="34" charset="0"/>
                      </a:endParaRPr>
                    </a:p>
                    <a:p>
                      <a:pPr algn="ctr"/>
                      <a:r>
                        <a:rPr lang="pt-BR" sz="1600" dirty="0" err="1">
                          <a:latin typeface="Lato" panose="020F0502020204030203" pitchFamily="34" charset="0"/>
                        </a:rPr>
                        <a:t>SIACorp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(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Akrual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) (ERP de FIDC)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latin typeface="Lato" panose="020F0502020204030203" pitchFamily="34" charset="0"/>
                      </a:endParaRPr>
                    </a:p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PRISMA (Solução da 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Núclea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073746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Mitiga Assimetria / Seleção Adversa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69176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Base de Dados Transacionais /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15040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Análise Preditiva Estrutural (IA / 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371397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Modelos Específicos para FIDC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63191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Monitoramento de Risco em Tempo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606889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Agilidade na Análise de Milhares de 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67678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Previsibilidade de Rating da Cota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201147"/>
                  </a:ext>
                </a:extLst>
              </a:tr>
            </a:tbl>
          </a:graphicData>
        </a:graphic>
      </p:graphicFrame>
      <p:sp>
        <p:nvSpPr>
          <p:cNvPr id="10" name="Gráfico 5" descr="Marca de seleção com preenchimento sólido">
            <a:extLst>
              <a:ext uri="{FF2B5EF4-FFF2-40B4-BE49-F238E27FC236}">
                <a16:creationId xmlns:a16="http://schemas.microsoft.com/office/drawing/2014/main" id="{F307C1D3-4338-4C07-85DD-CC30A237DA5F}"/>
              </a:ext>
            </a:extLst>
          </p:cNvPr>
          <p:cNvSpPr/>
          <p:nvPr/>
        </p:nvSpPr>
        <p:spPr>
          <a:xfrm>
            <a:off x="2806800" y="2037490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Gráfico 7" descr="Fechar com preenchimento sólido">
            <a:extLst>
              <a:ext uri="{FF2B5EF4-FFF2-40B4-BE49-F238E27FC236}">
                <a16:creationId xmlns:a16="http://schemas.microsoft.com/office/drawing/2014/main" id="{ED049682-4FD0-4FE0-9FEA-FBEC69B487CD}"/>
              </a:ext>
            </a:extLst>
          </p:cNvPr>
          <p:cNvSpPr/>
          <p:nvPr/>
        </p:nvSpPr>
        <p:spPr>
          <a:xfrm>
            <a:off x="2806800" y="1193095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Gráfico 7" descr="Fechar com preenchimento sólido">
            <a:extLst>
              <a:ext uri="{FF2B5EF4-FFF2-40B4-BE49-F238E27FC236}">
                <a16:creationId xmlns:a16="http://schemas.microsoft.com/office/drawing/2014/main" id="{8DD69732-685A-4D8A-B033-147AA3923890}"/>
              </a:ext>
            </a:extLst>
          </p:cNvPr>
          <p:cNvSpPr/>
          <p:nvPr/>
        </p:nvSpPr>
        <p:spPr>
          <a:xfrm>
            <a:off x="2809600" y="2881148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2" name="Gráfico 7" descr="Fechar com preenchimento sólido">
            <a:extLst>
              <a:ext uri="{FF2B5EF4-FFF2-40B4-BE49-F238E27FC236}">
                <a16:creationId xmlns:a16="http://schemas.microsoft.com/office/drawing/2014/main" id="{735EFDEF-3982-4FA2-94AA-6583F0B696EB}"/>
              </a:ext>
            </a:extLst>
          </p:cNvPr>
          <p:cNvSpPr/>
          <p:nvPr/>
        </p:nvSpPr>
        <p:spPr>
          <a:xfrm>
            <a:off x="2809600" y="3724806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3" name="Gráfico 7" descr="Fechar com preenchimento sólido">
            <a:extLst>
              <a:ext uri="{FF2B5EF4-FFF2-40B4-BE49-F238E27FC236}">
                <a16:creationId xmlns:a16="http://schemas.microsoft.com/office/drawing/2014/main" id="{0034C4AE-DE5C-45DE-A206-778B6B907741}"/>
              </a:ext>
            </a:extLst>
          </p:cNvPr>
          <p:cNvSpPr/>
          <p:nvPr/>
        </p:nvSpPr>
        <p:spPr>
          <a:xfrm>
            <a:off x="2806800" y="4568464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Gráfico 7" descr="Fechar com preenchimento sólido">
            <a:extLst>
              <a:ext uri="{FF2B5EF4-FFF2-40B4-BE49-F238E27FC236}">
                <a16:creationId xmlns:a16="http://schemas.microsoft.com/office/drawing/2014/main" id="{48300026-1FE3-4DD0-8E8E-106874E32875}"/>
              </a:ext>
            </a:extLst>
          </p:cNvPr>
          <p:cNvSpPr/>
          <p:nvPr/>
        </p:nvSpPr>
        <p:spPr>
          <a:xfrm>
            <a:off x="2806800" y="5412122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Gráfico 7" descr="Fechar com preenchimento sólido">
            <a:extLst>
              <a:ext uri="{FF2B5EF4-FFF2-40B4-BE49-F238E27FC236}">
                <a16:creationId xmlns:a16="http://schemas.microsoft.com/office/drawing/2014/main" id="{A8133130-6072-4DDD-99DB-746B03DA0EE9}"/>
              </a:ext>
            </a:extLst>
          </p:cNvPr>
          <p:cNvSpPr/>
          <p:nvPr/>
        </p:nvSpPr>
        <p:spPr>
          <a:xfrm>
            <a:off x="2806800" y="6255780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6" name="Gráfico 7" descr="Fechar com preenchimento sólido">
            <a:extLst>
              <a:ext uri="{FF2B5EF4-FFF2-40B4-BE49-F238E27FC236}">
                <a16:creationId xmlns:a16="http://schemas.microsoft.com/office/drawing/2014/main" id="{0238E997-C7F8-43CE-A8ED-E2290E59EDC9}"/>
              </a:ext>
            </a:extLst>
          </p:cNvPr>
          <p:cNvSpPr/>
          <p:nvPr/>
        </p:nvSpPr>
        <p:spPr>
          <a:xfrm>
            <a:off x="4880597" y="6255780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7" name="Gráfico 7" descr="Fechar com preenchimento sólido">
            <a:extLst>
              <a:ext uri="{FF2B5EF4-FFF2-40B4-BE49-F238E27FC236}">
                <a16:creationId xmlns:a16="http://schemas.microsoft.com/office/drawing/2014/main" id="{054019D6-8897-44FA-80D9-C7ED5090F4E8}"/>
              </a:ext>
            </a:extLst>
          </p:cNvPr>
          <p:cNvSpPr/>
          <p:nvPr/>
        </p:nvSpPr>
        <p:spPr>
          <a:xfrm>
            <a:off x="4880597" y="1203755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8" name="Gráfico 5" descr="Marca de seleção com preenchimento sólido">
            <a:extLst>
              <a:ext uri="{FF2B5EF4-FFF2-40B4-BE49-F238E27FC236}">
                <a16:creationId xmlns:a16="http://schemas.microsoft.com/office/drawing/2014/main" id="{C819A16E-7819-4A5E-A591-AB65E6B26702}"/>
              </a:ext>
            </a:extLst>
          </p:cNvPr>
          <p:cNvSpPr/>
          <p:nvPr/>
        </p:nvSpPr>
        <p:spPr>
          <a:xfrm>
            <a:off x="4880597" y="205128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9" name="Gráfico 5" descr="Marca de seleção com preenchimento sólido">
            <a:extLst>
              <a:ext uri="{FF2B5EF4-FFF2-40B4-BE49-F238E27FC236}">
                <a16:creationId xmlns:a16="http://schemas.microsoft.com/office/drawing/2014/main" id="{317520FA-41FC-4A50-8EA7-58CA787FDB13}"/>
              </a:ext>
            </a:extLst>
          </p:cNvPr>
          <p:cNvSpPr/>
          <p:nvPr/>
        </p:nvSpPr>
        <p:spPr>
          <a:xfrm>
            <a:off x="4880597" y="5393463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0" name="Gráfico 5" descr="Marca de seleção com preenchimento sólido">
            <a:extLst>
              <a:ext uri="{FF2B5EF4-FFF2-40B4-BE49-F238E27FC236}">
                <a16:creationId xmlns:a16="http://schemas.microsoft.com/office/drawing/2014/main" id="{F1DEF9F5-0B15-4A25-8DB1-2180943CDF7C}"/>
              </a:ext>
            </a:extLst>
          </p:cNvPr>
          <p:cNvSpPr/>
          <p:nvPr/>
        </p:nvSpPr>
        <p:spPr>
          <a:xfrm>
            <a:off x="4880597" y="4531147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1" name="Gráfico 7" descr="Fechar com preenchimento sólido">
            <a:extLst>
              <a:ext uri="{FF2B5EF4-FFF2-40B4-BE49-F238E27FC236}">
                <a16:creationId xmlns:a16="http://schemas.microsoft.com/office/drawing/2014/main" id="{9038F445-BC8C-41CB-BAD9-619C3CA25D5B}"/>
              </a:ext>
            </a:extLst>
          </p:cNvPr>
          <p:cNvSpPr/>
          <p:nvPr/>
        </p:nvSpPr>
        <p:spPr>
          <a:xfrm>
            <a:off x="4892327" y="2865671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2" name="Gráfico 7" descr="Fechar com preenchimento sólido">
            <a:extLst>
              <a:ext uri="{FF2B5EF4-FFF2-40B4-BE49-F238E27FC236}">
                <a16:creationId xmlns:a16="http://schemas.microsoft.com/office/drawing/2014/main" id="{ABFC631D-A684-4A34-B55B-C66844F9AE35}"/>
              </a:ext>
            </a:extLst>
          </p:cNvPr>
          <p:cNvSpPr/>
          <p:nvPr/>
        </p:nvSpPr>
        <p:spPr>
          <a:xfrm>
            <a:off x="4880597" y="3712464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Gráfico 7" descr="Fechar com preenchimento sólido">
            <a:extLst>
              <a:ext uri="{FF2B5EF4-FFF2-40B4-BE49-F238E27FC236}">
                <a16:creationId xmlns:a16="http://schemas.microsoft.com/office/drawing/2014/main" id="{FCCDB785-49A7-4AB3-8C54-AF218176BB3F}"/>
              </a:ext>
            </a:extLst>
          </p:cNvPr>
          <p:cNvSpPr/>
          <p:nvPr/>
        </p:nvSpPr>
        <p:spPr>
          <a:xfrm>
            <a:off x="6965805" y="1193437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Gráfico 5" descr="Marca de seleção com preenchimento sólido">
            <a:extLst>
              <a:ext uri="{FF2B5EF4-FFF2-40B4-BE49-F238E27FC236}">
                <a16:creationId xmlns:a16="http://schemas.microsoft.com/office/drawing/2014/main" id="{C44ED3FA-27E6-4F67-83B6-9FBE2C445297}"/>
              </a:ext>
            </a:extLst>
          </p:cNvPr>
          <p:cNvSpPr/>
          <p:nvPr/>
        </p:nvSpPr>
        <p:spPr>
          <a:xfrm>
            <a:off x="6954394" y="2071656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25" name="Gráfico 5" descr="Marca de seleção com preenchimento sólido">
            <a:extLst>
              <a:ext uri="{FF2B5EF4-FFF2-40B4-BE49-F238E27FC236}">
                <a16:creationId xmlns:a16="http://schemas.microsoft.com/office/drawing/2014/main" id="{48ABD6B3-5D75-46DE-92FB-D64983C7B90F}"/>
              </a:ext>
            </a:extLst>
          </p:cNvPr>
          <p:cNvSpPr/>
          <p:nvPr/>
        </p:nvSpPr>
        <p:spPr>
          <a:xfrm>
            <a:off x="6965805" y="2881884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Gráfico 7" descr="Fechar com preenchimento sólido">
            <a:extLst>
              <a:ext uri="{FF2B5EF4-FFF2-40B4-BE49-F238E27FC236}">
                <a16:creationId xmlns:a16="http://schemas.microsoft.com/office/drawing/2014/main" id="{E8550D2E-8C68-401B-AD61-0BE2280F0C58}"/>
              </a:ext>
            </a:extLst>
          </p:cNvPr>
          <p:cNvSpPr/>
          <p:nvPr/>
        </p:nvSpPr>
        <p:spPr>
          <a:xfrm>
            <a:off x="6946034" y="3724806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Gráfico 5" descr="Marca de seleção com preenchimento sólido">
            <a:extLst>
              <a:ext uri="{FF2B5EF4-FFF2-40B4-BE49-F238E27FC236}">
                <a16:creationId xmlns:a16="http://schemas.microsoft.com/office/drawing/2014/main" id="{2BAD4B37-E8F2-43CF-AFF6-C17A358BFB5F}"/>
              </a:ext>
            </a:extLst>
          </p:cNvPr>
          <p:cNvSpPr/>
          <p:nvPr/>
        </p:nvSpPr>
        <p:spPr>
          <a:xfrm>
            <a:off x="6946034" y="4569201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Gráfico 5" descr="Marca de seleção com preenchimento sólido">
            <a:extLst>
              <a:ext uri="{FF2B5EF4-FFF2-40B4-BE49-F238E27FC236}">
                <a16:creationId xmlns:a16="http://schemas.microsoft.com/office/drawing/2014/main" id="{BDDEF78B-484A-4B31-8E5E-B2440EFB0E80}"/>
              </a:ext>
            </a:extLst>
          </p:cNvPr>
          <p:cNvSpPr/>
          <p:nvPr/>
        </p:nvSpPr>
        <p:spPr>
          <a:xfrm>
            <a:off x="6916532" y="542095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Gráfico 7" descr="Fechar com preenchimento sólido">
            <a:extLst>
              <a:ext uri="{FF2B5EF4-FFF2-40B4-BE49-F238E27FC236}">
                <a16:creationId xmlns:a16="http://schemas.microsoft.com/office/drawing/2014/main" id="{2C7A88D3-245A-4AC7-B78C-E2286E5246F3}"/>
              </a:ext>
            </a:extLst>
          </p:cNvPr>
          <p:cNvSpPr/>
          <p:nvPr/>
        </p:nvSpPr>
        <p:spPr>
          <a:xfrm>
            <a:off x="6928899" y="6264614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Gráfico 7" descr="Fechar com preenchimento sólido">
            <a:extLst>
              <a:ext uri="{FF2B5EF4-FFF2-40B4-BE49-F238E27FC236}">
                <a16:creationId xmlns:a16="http://schemas.microsoft.com/office/drawing/2014/main" id="{E935BB8D-D5B8-46AA-83FE-94D9362650AD}"/>
              </a:ext>
            </a:extLst>
          </p:cNvPr>
          <p:cNvSpPr/>
          <p:nvPr/>
        </p:nvSpPr>
        <p:spPr>
          <a:xfrm>
            <a:off x="8878213" y="1193095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Gráfico 5" descr="Marca de seleção com preenchimento sólido">
            <a:extLst>
              <a:ext uri="{FF2B5EF4-FFF2-40B4-BE49-F238E27FC236}">
                <a16:creationId xmlns:a16="http://schemas.microsoft.com/office/drawing/2014/main" id="{60915F7A-EA99-41B9-B181-8FF8E9579B0E}"/>
              </a:ext>
            </a:extLst>
          </p:cNvPr>
          <p:cNvSpPr/>
          <p:nvPr/>
        </p:nvSpPr>
        <p:spPr>
          <a:xfrm>
            <a:off x="8855391" y="205128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32" name="Gráfico 7" descr="Fechar com preenchimento sólido">
            <a:extLst>
              <a:ext uri="{FF2B5EF4-FFF2-40B4-BE49-F238E27FC236}">
                <a16:creationId xmlns:a16="http://schemas.microsoft.com/office/drawing/2014/main" id="{D5B37FEE-745D-4C4F-8503-0BEF4EDFFEF6}"/>
              </a:ext>
            </a:extLst>
          </p:cNvPr>
          <p:cNvSpPr/>
          <p:nvPr/>
        </p:nvSpPr>
        <p:spPr>
          <a:xfrm>
            <a:off x="8854974" y="2881146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Gráfico 7" descr="Fechar com preenchimento sólido">
            <a:extLst>
              <a:ext uri="{FF2B5EF4-FFF2-40B4-BE49-F238E27FC236}">
                <a16:creationId xmlns:a16="http://schemas.microsoft.com/office/drawing/2014/main" id="{AA36A769-6930-444C-9F49-79B5D78C87B0}"/>
              </a:ext>
            </a:extLst>
          </p:cNvPr>
          <p:cNvSpPr/>
          <p:nvPr/>
        </p:nvSpPr>
        <p:spPr>
          <a:xfrm>
            <a:off x="8878213" y="6255779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Gráfico 5" descr="Marca de seleção com preenchimento sólido">
            <a:extLst>
              <a:ext uri="{FF2B5EF4-FFF2-40B4-BE49-F238E27FC236}">
                <a16:creationId xmlns:a16="http://schemas.microsoft.com/office/drawing/2014/main" id="{400DC568-A8E9-443B-9D6B-7F486E1C6AB7}"/>
              </a:ext>
            </a:extLst>
          </p:cNvPr>
          <p:cNvSpPr/>
          <p:nvPr/>
        </p:nvSpPr>
        <p:spPr>
          <a:xfrm>
            <a:off x="8854974" y="5412122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Gráfico 5" descr="Marca de seleção com preenchimento sólido">
            <a:extLst>
              <a:ext uri="{FF2B5EF4-FFF2-40B4-BE49-F238E27FC236}">
                <a16:creationId xmlns:a16="http://schemas.microsoft.com/office/drawing/2014/main" id="{97AFD697-5783-42D3-BBB4-62544C2CB70C}"/>
              </a:ext>
            </a:extLst>
          </p:cNvPr>
          <p:cNvSpPr/>
          <p:nvPr/>
        </p:nvSpPr>
        <p:spPr>
          <a:xfrm>
            <a:off x="8878213" y="4569201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Gráfico 5" descr="Marca de seleção com preenchimento sólido">
            <a:extLst>
              <a:ext uri="{FF2B5EF4-FFF2-40B4-BE49-F238E27FC236}">
                <a16:creationId xmlns:a16="http://schemas.microsoft.com/office/drawing/2014/main" id="{2B5EB10A-FC37-4F44-9275-5ED5D8C1331F}"/>
              </a:ext>
            </a:extLst>
          </p:cNvPr>
          <p:cNvSpPr/>
          <p:nvPr/>
        </p:nvSpPr>
        <p:spPr>
          <a:xfrm>
            <a:off x="8878213" y="3725543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Gráfico 5" descr="Marca de seleção com preenchimento sólido">
            <a:extLst>
              <a:ext uri="{FF2B5EF4-FFF2-40B4-BE49-F238E27FC236}">
                <a16:creationId xmlns:a16="http://schemas.microsoft.com/office/drawing/2014/main" id="{E5AAC0B5-BD1A-45B6-8A4E-51327FF8A053}"/>
              </a:ext>
            </a:extLst>
          </p:cNvPr>
          <p:cNvSpPr/>
          <p:nvPr/>
        </p:nvSpPr>
        <p:spPr>
          <a:xfrm>
            <a:off x="10952010" y="119309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38" name="Gráfico 5" descr="Marca de seleção com preenchimento sólido">
            <a:extLst>
              <a:ext uri="{FF2B5EF4-FFF2-40B4-BE49-F238E27FC236}">
                <a16:creationId xmlns:a16="http://schemas.microsoft.com/office/drawing/2014/main" id="{9B9A36AA-F6FE-4704-9A28-F7BC15F1A7A1}"/>
              </a:ext>
            </a:extLst>
          </p:cNvPr>
          <p:cNvSpPr/>
          <p:nvPr/>
        </p:nvSpPr>
        <p:spPr>
          <a:xfrm>
            <a:off x="10964304" y="2071656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39" name="Gráfico 5" descr="Marca de seleção com preenchimento sólido">
            <a:extLst>
              <a:ext uri="{FF2B5EF4-FFF2-40B4-BE49-F238E27FC236}">
                <a16:creationId xmlns:a16="http://schemas.microsoft.com/office/drawing/2014/main" id="{51CB4270-17F6-42BD-B482-9BC156117F1A}"/>
              </a:ext>
            </a:extLst>
          </p:cNvPr>
          <p:cNvSpPr/>
          <p:nvPr/>
        </p:nvSpPr>
        <p:spPr>
          <a:xfrm>
            <a:off x="10964304" y="2938820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0" name="Gráfico 5" descr="Marca de seleção com preenchimento sólido">
            <a:extLst>
              <a:ext uri="{FF2B5EF4-FFF2-40B4-BE49-F238E27FC236}">
                <a16:creationId xmlns:a16="http://schemas.microsoft.com/office/drawing/2014/main" id="{BB2E1404-ABDC-47FF-B00B-B9A6CE368E30}"/>
              </a:ext>
            </a:extLst>
          </p:cNvPr>
          <p:cNvSpPr/>
          <p:nvPr/>
        </p:nvSpPr>
        <p:spPr>
          <a:xfrm>
            <a:off x="10964304" y="3725174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1" name="Gráfico 5" descr="Marca de seleção com preenchimento sólido">
            <a:extLst>
              <a:ext uri="{FF2B5EF4-FFF2-40B4-BE49-F238E27FC236}">
                <a16:creationId xmlns:a16="http://schemas.microsoft.com/office/drawing/2014/main" id="{EB55AD8A-A919-48CC-92BE-914F485F1C52}"/>
              </a:ext>
            </a:extLst>
          </p:cNvPr>
          <p:cNvSpPr/>
          <p:nvPr/>
        </p:nvSpPr>
        <p:spPr>
          <a:xfrm>
            <a:off x="10964304" y="4598460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8" name="Gráfico 5" descr="Marca de seleção com preenchimento sólido">
            <a:extLst>
              <a:ext uri="{FF2B5EF4-FFF2-40B4-BE49-F238E27FC236}">
                <a16:creationId xmlns:a16="http://schemas.microsoft.com/office/drawing/2014/main" id="{A0201032-A895-4CF1-AACF-0118D7229157}"/>
              </a:ext>
            </a:extLst>
          </p:cNvPr>
          <p:cNvSpPr/>
          <p:nvPr/>
        </p:nvSpPr>
        <p:spPr>
          <a:xfrm>
            <a:off x="10961302" y="5471746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9" name="Gráfico 5" descr="Marca de seleção com preenchimento sólido">
            <a:extLst>
              <a:ext uri="{FF2B5EF4-FFF2-40B4-BE49-F238E27FC236}">
                <a16:creationId xmlns:a16="http://schemas.microsoft.com/office/drawing/2014/main" id="{7C518C1F-0063-4F9D-BAC2-4AD8B2CDCE60}"/>
              </a:ext>
            </a:extLst>
          </p:cNvPr>
          <p:cNvSpPr/>
          <p:nvPr/>
        </p:nvSpPr>
        <p:spPr>
          <a:xfrm>
            <a:off x="10961302" y="6190928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50" name="Gráfico 5" descr="Marca de seleção com preenchimento sólido">
            <a:extLst>
              <a:ext uri="{FF2B5EF4-FFF2-40B4-BE49-F238E27FC236}">
                <a16:creationId xmlns:a16="http://schemas.microsoft.com/office/drawing/2014/main" id="{E81342D3-F98B-47BE-9419-5586B9D64B14}"/>
              </a:ext>
            </a:extLst>
          </p:cNvPr>
          <p:cNvSpPr/>
          <p:nvPr/>
        </p:nvSpPr>
        <p:spPr>
          <a:xfrm>
            <a:off x="10964304" y="546158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5711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0" y="243691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TECNOLOGIAS E COMPONENTES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3BFB63-6ECC-4045-9626-4B0296E9D36B}"/>
              </a:ext>
            </a:extLst>
          </p:cNvPr>
          <p:cNvSpPr txBox="1"/>
          <p:nvPr/>
        </p:nvSpPr>
        <p:spPr>
          <a:xfrm>
            <a:off x="1363427" y="2100587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E791B3-D72E-4925-B0F1-71023D90A0EA}"/>
              </a:ext>
            </a:extLst>
          </p:cNvPr>
          <p:cNvSpPr txBox="1"/>
          <p:nvPr/>
        </p:nvSpPr>
        <p:spPr>
          <a:xfrm>
            <a:off x="1363428" y="332029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141054-B253-4637-ADF9-2969B523618F}"/>
              </a:ext>
            </a:extLst>
          </p:cNvPr>
          <p:cNvSpPr txBox="1"/>
          <p:nvPr/>
        </p:nvSpPr>
        <p:spPr>
          <a:xfrm>
            <a:off x="1391285" y="442458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7" name="Google Shape;101;p14">
            <a:extLst>
              <a:ext uri="{FF2B5EF4-FFF2-40B4-BE49-F238E27FC236}">
                <a16:creationId xmlns:a16="http://schemas.microsoft.com/office/drawing/2014/main" id="{30E57BDB-E8C3-4F11-AB09-CFC0EDC2DA16}"/>
              </a:ext>
            </a:extLst>
          </p:cNvPr>
          <p:cNvSpPr txBox="1"/>
          <p:nvPr/>
        </p:nvSpPr>
        <p:spPr>
          <a:xfrm>
            <a:off x="2505060" y="2292896"/>
            <a:ext cx="936496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Fontes de Dados:</a:t>
            </a: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Núclea</a:t>
            </a: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: Dados transacionais (boletos) e dados auxiliares + Enriquecimento com dados externos via API com o </a:t>
            </a:r>
            <a:r>
              <a:rPr lang="pt-BR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BrasilAPI</a:t>
            </a: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 simulação de dados do Serasa.</a:t>
            </a:r>
            <a:endParaRPr sz="15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102;p14">
            <a:extLst>
              <a:ext uri="{FF2B5EF4-FFF2-40B4-BE49-F238E27FC236}">
                <a16:creationId xmlns:a16="http://schemas.microsoft.com/office/drawing/2014/main" id="{1776E7A6-B81E-4269-923F-7C124206951A}"/>
              </a:ext>
            </a:extLst>
          </p:cNvPr>
          <p:cNvSpPr txBox="1"/>
          <p:nvPr/>
        </p:nvSpPr>
        <p:spPr>
          <a:xfrm>
            <a:off x="2455562" y="3512673"/>
            <a:ext cx="936496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Armazenamento (Data Lake Simulado):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Estruturado em diretórios locais (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Raw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e Trusted Zones) simulando um AWS S3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Bucket</a:t>
            </a:r>
            <a:r>
              <a:rPr lang="pt-BR" sz="1500" dirty="0">
                <a:solidFill>
                  <a:srgbClr val="FFFFFF"/>
                </a:solidFill>
                <a:latin typeface="Lato" panose="020F0502020204030203" pitchFamily="34" charset="0"/>
              </a:rPr>
              <a:t>.</a:t>
            </a:r>
            <a:endParaRPr lang="pt-BR" sz="1500" dirty="0">
              <a:effectLst/>
              <a:latin typeface="Lato" panose="020F0502020204030203" pitchFamily="34" charset="0"/>
            </a:endParaRPr>
          </a:p>
        </p:txBody>
      </p:sp>
      <p:sp>
        <p:nvSpPr>
          <p:cNvPr id="9" name="Google Shape;103;p14">
            <a:extLst>
              <a:ext uri="{FF2B5EF4-FFF2-40B4-BE49-F238E27FC236}">
                <a16:creationId xmlns:a16="http://schemas.microsoft.com/office/drawing/2014/main" id="{7DDBBA3D-4854-44EB-A287-A461D3D91ACB}"/>
              </a:ext>
            </a:extLst>
          </p:cNvPr>
          <p:cNvSpPr txBox="1"/>
          <p:nvPr/>
        </p:nvSpPr>
        <p:spPr>
          <a:xfrm>
            <a:off x="2455562" y="4561355"/>
            <a:ext cx="934332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Linguagem e Bibliotecas Base: 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Python (Linguagem Principal) , usado desde a ingestão até a construção da API. Pandas &amp;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NumPy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são essenciais para limpeza e manipulação dos dados.</a:t>
            </a:r>
            <a:endParaRPr lang="pt-B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467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0" y="243691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TECNOLOGIAS E COMPONENTES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3BFB63-6ECC-4045-9626-4B0296E9D36B}"/>
              </a:ext>
            </a:extLst>
          </p:cNvPr>
          <p:cNvSpPr txBox="1"/>
          <p:nvPr/>
        </p:nvSpPr>
        <p:spPr>
          <a:xfrm>
            <a:off x="1363427" y="1576712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E791B3-D72E-4925-B0F1-71023D90A0EA}"/>
              </a:ext>
            </a:extLst>
          </p:cNvPr>
          <p:cNvSpPr txBox="1"/>
          <p:nvPr/>
        </p:nvSpPr>
        <p:spPr>
          <a:xfrm>
            <a:off x="1363428" y="2796418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141054-B253-4637-ADF9-2969B523618F}"/>
              </a:ext>
            </a:extLst>
          </p:cNvPr>
          <p:cNvSpPr txBox="1"/>
          <p:nvPr/>
        </p:nvSpPr>
        <p:spPr>
          <a:xfrm>
            <a:off x="1391285" y="3900708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06</a:t>
            </a:r>
          </a:p>
        </p:txBody>
      </p:sp>
      <p:sp>
        <p:nvSpPr>
          <p:cNvPr id="7" name="Google Shape;101;p14">
            <a:extLst>
              <a:ext uri="{FF2B5EF4-FFF2-40B4-BE49-F238E27FC236}">
                <a16:creationId xmlns:a16="http://schemas.microsoft.com/office/drawing/2014/main" id="{30E57BDB-E8C3-4F11-AB09-CFC0EDC2DA16}"/>
              </a:ext>
            </a:extLst>
          </p:cNvPr>
          <p:cNvSpPr txBox="1"/>
          <p:nvPr/>
        </p:nvSpPr>
        <p:spPr>
          <a:xfrm>
            <a:off x="2477201" y="1721114"/>
            <a:ext cx="936496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Inteligência Artificial (ML): 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Uso de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Scikit-Learn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para o Módulo de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Imputation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(solucionando 40% de dados de liquidez faltantes) e para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Feature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Engineering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.</a:t>
            </a:r>
            <a:endParaRPr lang="pt-BR" sz="1600" dirty="0">
              <a:effectLst/>
            </a:endParaRPr>
          </a:p>
        </p:txBody>
      </p:sp>
      <p:sp>
        <p:nvSpPr>
          <p:cNvPr id="8" name="Google Shape;102;p14">
            <a:extLst>
              <a:ext uri="{FF2B5EF4-FFF2-40B4-BE49-F238E27FC236}">
                <a16:creationId xmlns:a16="http://schemas.microsoft.com/office/drawing/2014/main" id="{1776E7A6-B81E-4269-923F-7C124206951A}"/>
              </a:ext>
            </a:extLst>
          </p:cNvPr>
          <p:cNvSpPr txBox="1"/>
          <p:nvPr/>
        </p:nvSpPr>
        <p:spPr>
          <a:xfrm>
            <a:off x="2477201" y="2905125"/>
            <a:ext cx="936496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Modelo Preditivo: 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Algoritmo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Random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Forest escolhido pela sua robustez e aplicabilidade. Classifica o risco de inadimplência e identifica oportunidades</a:t>
            </a:r>
            <a:endParaRPr lang="pt-BR" sz="1600" dirty="0">
              <a:effectLst/>
            </a:endParaRPr>
          </a:p>
        </p:txBody>
      </p:sp>
      <p:sp>
        <p:nvSpPr>
          <p:cNvPr id="9" name="Google Shape;103;p14">
            <a:extLst>
              <a:ext uri="{FF2B5EF4-FFF2-40B4-BE49-F238E27FC236}">
                <a16:creationId xmlns:a16="http://schemas.microsoft.com/office/drawing/2014/main" id="{7DDBBA3D-4854-44EB-A287-A461D3D91ACB}"/>
              </a:ext>
            </a:extLst>
          </p:cNvPr>
          <p:cNvSpPr txBox="1"/>
          <p:nvPr/>
        </p:nvSpPr>
        <p:spPr>
          <a:xfrm>
            <a:off x="2477201" y="4016124"/>
            <a:ext cx="934332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Backend</a:t>
            </a: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e Interface de Consumo: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FastAPI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(Framework de alta performance) expõe o modelo de ML como um serviço. Retorna o Score PRISMA e a probabilidade de atraso via API (JSON).</a:t>
            </a:r>
            <a:endParaRPr lang="pt-BR" sz="1600" dirty="0">
              <a:effectLst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967BD9-6709-4F7B-A523-6A0EA393FA59}"/>
              </a:ext>
            </a:extLst>
          </p:cNvPr>
          <p:cNvSpPr txBox="1"/>
          <p:nvPr/>
        </p:nvSpPr>
        <p:spPr>
          <a:xfrm>
            <a:off x="1363427" y="5244414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07</a:t>
            </a:r>
          </a:p>
        </p:txBody>
      </p:sp>
      <p:sp>
        <p:nvSpPr>
          <p:cNvPr id="13" name="Google Shape;103;p14">
            <a:extLst>
              <a:ext uri="{FF2B5EF4-FFF2-40B4-BE49-F238E27FC236}">
                <a16:creationId xmlns:a16="http://schemas.microsoft.com/office/drawing/2014/main" id="{C9FD2BB4-ED4D-4F18-B0AC-DC8350A2E227}"/>
              </a:ext>
            </a:extLst>
          </p:cNvPr>
          <p:cNvSpPr txBox="1"/>
          <p:nvPr/>
        </p:nvSpPr>
        <p:spPr>
          <a:xfrm>
            <a:off x="2449343" y="5359830"/>
            <a:ext cx="934332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Frontend</a:t>
            </a: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e Visualização (MVP):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Streamlit</a:t>
            </a:r>
            <a:r>
              <a:rPr lang="pt-BR" sz="1600" dirty="0">
                <a:solidFill>
                  <a:srgbClr val="FFFFFF"/>
                </a:solidFill>
                <a:latin typeface="Lato" panose="020F0502020204030203" pitchFamily="34" charset="0"/>
              </a:rPr>
              <a:t> para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Interface visual para carregar carteiras e visualizar gráficos de risco e oportunidades. Power BI é opcional para dashboards gerenciais.</a:t>
            </a:r>
            <a:endParaRPr lang="pt-B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13232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ED750157-4669-4C74-9379-A8BFE1139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57929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blipFill>
                  <a:blip r:embed="rId2"/>
                  <a:stretch>
                    <a:fillRect/>
                  </a:stretch>
                </a:blipFill>
                <a:tableStyleId>{93296810-A885-4BE3-A3E7-6D5BEEA58F35}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86341620"/>
                    </a:ext>
                  </a:extLst>
                </a:gridCol>
                <a:gridCol w="10744200">
                  <a:extLst>
                    <a:ext uri="{9D8B030D-6E8A-4147-A177-3AD203B41FA5}">
                      <a16:colId xmlns:a16="http://schemas.microsoft.com/office/drawing/2014/main" val="325258716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lang="pt-BR" sz="2000" dirty="0">
                          <a:latin typeface="Lato" panose="020F0502020204030203" pitchFamily="34" charset="0"/>
                        </a:rPr>
                        <a:t>Tecnologia Utilizada</a:t>
                      </a:r>
                    </a:p>
                  </a:txBody>
                  <a:tcPr>
                    <a:solidFill>
                      <a:srgbClr val="3CAA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latin typeface="Lato" panose="020F0502020204030203" pitchFamily="34" charset="0"/>
                        </a:rPr>
                        <a:t>Descrição do uso da tecnologia</a:t>
                      </a:r>
                    </a:p>
                  </a:txBody>
                  <a:tcPr>
                    <a:solidFill>
                      <a:srgbClr val="3CAA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51352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Linguagem principal do projeto, escolhida por sua predominância em Data Science e vasta gama de bibliotecas. É utilizada desde a ingestão de dados até a construção da API.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47827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Bibliotecas essenciais para a manipulação de dados tabulares. São utilizadas para a limpeza dos mais de 7.000 registros e o tratamento dos valores nulos identificados.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21583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Biblioteca usada para construir o modelo preditivo 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Random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Forest (classificação de risco) e para aplicar técnicas de 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Imputation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(preenchimento de dados de liquidez ausentes com IA).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44879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Framework de alta performance para expor o modelo de ML como serviço. Recebe dados de um boleto (JSON) e retorna o SCORE PRISMA e a probabilidade de atraso em tempo real.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39750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Framework para a criação rápida da interface visual do protótipo (MVP). Permite carregar carteiras de boletos e visualizar gráficos de risco e oportunidades ("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Jóias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Ocultas").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42324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O </a:t>
                      </a:r>
                      <a:r>
                        <a:rPr lang="pt-BR" sz="1600" b="0" i="0" kern="1200" dirty="0" err="1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Joblib</a:t>
                      </a:r>
                      <a:r>
                        <a:rPr lang="pt-BR" sz="1600" b="0" i="0" kern="1200" dirty="0">
                          <a:solidFill>
                            <a:schemeClr val="dk1"/>
                          </a:solidFill>
                          <a:effectLst/>
                          <a:latin typeface="Lato" panose="020F0502020204030203" pitchFamily="34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a:t> foi utilizado para serializar e persistir o modelo preditivo treinado, permitindo que a API e o aplicativo carreguem o artefato já pronto para inferência, sem necessidade de novo treinamento a cada execução.</a:t>
                      </a:r>
                      <a:endParaRPr lang="pt-BR" sz="140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45353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No MVP, os dados são estruturados em diretórios locais simulando um "S3 </a:t>
                      </a:r>
                      <a:r>
                        <a:rPr lang="pt-BR" sz="1600" dirty="0" err="1">
                          <a:effectLst/>
                          <a:latin typeface="Lato" panose="020F0502020204030203" pitchFamily="34" charset="0"/>
                        </a:rPr>
                        <a:t>Bucket</a:t>
                      </a:r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" (camadas </a:t>
                      </a:r>
                      <a:r>
                        <a:rPr lang="pt-BR" sz="1600" dirty="0" err="1">
                          <a:effectLst/>
                          <a:latin typeface="Lato" panose="020F0502020204030203" pitchFamily="34" charset="0"/>
                        </a:rPr>
                        <a:t>Raw</a:t>
                      </a:r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 e Trusted).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90361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77DC3C34-2D70-450A-A712-5F26C83D1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37" y="918910"/>
            <a:ext cx="740889" cy="74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93DCD9B-AAA5-4590-A57A-7DF905DE80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86" y="1746478"/>
            <a:ext cx="1241508" cy="853122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5086C88-0A72-4F2A-9B8B-68B15FCF9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86" y="2686278"/>
            <a:ext cx="1229360" cy="66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astapi icon as SVG, PNG, JSX, and Base64">
            <a:extLst>
              <a:ext uri="{FF2B5EF4-FFF2-40B4-BE49-F238E27FC236}">
                <a16:creationId xmlns:a16="http://schemas.microsoft.com/office/drawing/2014/main" id="{20A7B87E-BA35-4534-9253-4B057B505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56" y="3349460"/>
            <a:ext cx="1150620" cy="11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Brand • Streamlit">
            <a:extLst>
              <a:ext uri="{FF2B5EF4-FFF2-40B4-BE49-F238E27FC236}">
                <a16:creationId xmlns:a16="http://schemas.microsoft.com/office/drawing/2014/main" id="{E0A505D9-DC23-4AB7-B861-46198F8EA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86" y="4346078"/>
            <a:ext cx="1241508" cy="72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Analytics software natively connected to Amazon S3 | Toucan">
            <a:extLst>
              <a:ext uri="{FF2B5EF4-FFF2-40B4-BE49-F238E27FC236}">
                <a16:creationId xmlns:a16="http://schemas.microsoft.com/office/drawing/2014/main" id="{58D60C86-04A1-4B99-8915-0B91AF6C0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37" y="6092556"/>
            <a:ext cx="968457" cy="72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Joblib: running Python functions as pipeline jobs — joblib 1.6.dev0  documentation">
            <a:extLst>
              <a:ext uri="{FF2B5EF4-FFF2-40B4-BE49-F238E27FC236}">
                <a16:creationId xmlns:a16="http://schemas.microsoft.com/office/drawing/2014/main" id="{0D821910-093A-5E7A-E9D4-05BEFF440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37" y="5212747"/>
            <a:ext cx="757961" cy="69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544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0998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ARQUITETURA DA PRISMA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93E924-F9F8-4EFF-8498-5596CF49B76E}"/>
              </a:ext>
            </a:extLst>
          </p:cNvPr>
          <p:cNvSpPr txBox="1"/>
          <p:nvPr/>
        </p:nvSpPr>
        <p:spPr>
          <a:xfrm>
            <a:off x="0" y="121533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A arquitetura do PRISMA segue um padrão de pipeline horizontal dividido em quatro camadas lógicas. Foi desenhada para ser escalável, focada no processamento de dados (Data-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Centric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) e garantir rastreabilidade.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53AB8C-F915-48D0-A1D6-2AE8AB3B38BB}"/>
              </a:ext>
            </a:extLst>
          </p:cNvPr>
          <p:cNvSpPr txBox="1"/>
          <p:nvPr/>
        </p:nvSpPr>
        <p:spPr>
          <a:xfrm>
            <a:off x="134681" y="2615702"/>
            <a:ext cx="19036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CAMADA 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804811-5E55-449C-AD8B-4C8CFE35CDEC}"/>
              </a:ext>
            </a:extLst>
          </p:cNvPr>
          <p:cNvSpPr txBox="1"/>
          <p:nvPr/>
        </p:nvSpPr>
        <p:spPr>
          <a:xfrm>
            <a:off x="1976237" y="2664846"/>
            <a:ext cx="1038569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b="1" dirty="0">
                <a:solidFill>
                  <a:schemeClr val="bg1"/>
                </a:solidFill>
                <a:latin typeface="Lato" panose="020F0502020204030203" pitchFamily="34" charset="0"/>
              </a:rPr>
              <a:t>Fontes de Dados: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Dados transacionais de boletos da 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Núclea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enriquecimento com dados externos para compor o perfil de risco.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99FB96-2B77-4FDE-BEC3-FE7CEB061FB1}"/>
              </a:ext>
            </a:extLst>
          </p:cNvPr>
          <p:cNvSpPr txBox="1"/>
          <p:nvPr/>
        </p:nvSpPr>
        <p:spPr>
          <a:xfrm>
            <a:off x="134681" y="3528722"/>
            <a:ext cx="19036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CAMADA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07C78C5-BB59-4121-9634-195D36F50E58}"/>
              </a:ext>
            </a:extLst>
          </p:cNvPr>
          <p:cNvSpPr txBox="1"/>
          <p:nvPr/>
        </p:nvSpPr>
        <p:spPr>
          <a:xfrm>
            <a:off x="1976237" y="3453448"/>
            <a:ext cx="1038569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b="1" dirty="0">
                <a:solidFill>
                  <a:schemeClr val="bg1"/>
                </a:solidFill>
                <a:latin typeface="Lato" panose="020F0502020204030203" pitchFamily="34" charset="0"/>
              </a:rPr>
              <a:t>Diferencial Crítico: 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Inclui o Módulo de Imputação (IA) desenvolvido para resolver a ausência de 40% dos indicadores de liquidez. Armazena dados brutos na 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Raw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Zone para auditoria.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A940D36-0082-487D-806C-12227A2BB791}"/>
              </a:ext>
            </a:extLst>
          </p:cNvPr>
          <p:cNvSpPr txBox="1"/>
          <p:nvPr/>
        </p:nvSpPr>
        <p:spPr>
          <a:xfrm>
            <a:off x="134681" y="4445660"/>
            <a:ext cx="19036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CAMADA 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10C294-E9C7-463E-B257-632738BA208B}"/>
              </a:ext>
            </a:extLst>
          </p:cNvPr>
          <p:cNvSpPr txBox="1"/>
          <p:nvPr/>
        </p:nvSpPr>
        <p:spPr>
          <a:xfrm>
            <a:off x="1976236" y="4300881"/>
            <a:ext cx="1038569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b="1" dirty="0">
                <a:solidFill>
                  <a:schemeClr val="bg1"/>
                </a:solidFill>
                <a:latin typeface="Lato" panose="020F0502020204030203" pitchFamily="34" charset="0"/>
              </a:rPr>
              <a:t>Processamento e Modelagem: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Armazena os dados tratados na 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Trusted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Zone. Executa a Engenharia de Atributos (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Feature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Engineering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) e alimenta o Modelo Preditivo (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Random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Forest) para classificar o risco e identificar as "Joias Ocultas"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A589E74-F23E-4DCF-AD40-665AB09DA1AF}"/>
              </a:ext>
            </a:extLst>
          </p:cNvPr>
          <p:cNvSpPr txBox="1"/>
          <p:nvPr/>
        </p:nvSpPr>
        <p:spPr>
          <a:xfrm>
            <a:off x="134681" y="5404134"/>
            <a:ext cx="19036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CAMADA 4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3318A6E-DB34-4107-ACA6-A159D2EEB47B}"/>
              </a:ext>
            </a:extLst>
          </p:cNvPr>
          <p:cNvSpPr txBox="1"/>
          <p:nvPr/>
        </p:nvSpPr>
        <p:spPr>
          <a:xfrm>
            <a:off x="1976236" y="5315364"/>
            <a:ext cx="1021576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b="1" dirty="0">
                <a:solidFill>
                  <a:schemeClr val="bg1"/>
                </a:solidFill>
                <a:latin typeface="Lato" panose="020F0502020204030203" pitchFamily="34" charset="0"/>
              </a:rPr>
              <a:t>Entrega de Valor: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Desacoplada através de uma API (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FastAPI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) que serve o score e a probabilidade de atraso em tempo real e alimenta o Dashboard do Gestor.</a:t>
            </a:r>
          </a:p>
        </p:txBody>
      </p:sp>
    </p:spTree>
    <p:extLst>
      <p:ext uri="{BB962C8B-B14F-4D97-AF65-F5344CB8AC3E}">
        <p14:creationId xmlns:p14="http://schemas.microsoft.com/office/powerpoint/2010/main" val="3155115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27B6F97-F5EA-435F-854D-F2FFD2908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6866"/>
            <a:ext cx="12192000" cy="16256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8255917-1FCF-476F-B8FA-1F81F0FC7C48}"/>
              </a:ext>
            </a:extLst>
          </p:cNvPr>
          <p:cNvSpPr txBox="1"/>
          <p:nvPr/>
        </p:nvSpPr>
        <p:spPr>
          <a:xfrm>
            <a:off x="2124053" y="20998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ARQUITETURA DA PRISMA</a:t>
            </a:r>
          </a:p>
        </p:txBody>
      </p:sp>
    </p:spTree>
    <p:extLst>
      <p:ext uri="{BB962C8B-B14F-4D97-AF65-F5344CB8AC3E}">
        <p14:creationId xmlns:p14="http://schemas.microsoft.com/office/powerpoint/2010/main" val="2470331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0" y="229038"/>
            <a:ext cx="121919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PLANEJAMENTO E GESTÃO DO PROJETO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6BC93E9-718A-4092-9B4B-6C7DFB2B992C}"/>
              </a:ext>
            </a:extLst>
          </p:cNvPr>
          <p:cNvSpPr txBox="1"/>
          <p:nvPr/>
        </p:nvSpPr>
        <p:spPr>
          <a:xfrm>
            <a:off x="357188" y="1040002"/>
            <a:ext cx="116424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Implementamos uma Metodologia Ágil baseada em </a:t>
            </a:r>
            <a:r>
              <a:rPr lang="pt-BR" sz="16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Kanban</a:t>
            </a:r>
            <a:r>
              <a:rPr lang="pt-BR" sz="16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, utilizando o </a:t>
            </a:r>
            <a:r>
              <a:rPr lang="pt-BR" sz="16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Notion</a:t>
            </a:r>
            <a:r>
              <a:rPr lang="pt-BR" sz="16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para organizar visualmente todas as tarefas e registrar as decisões de cada reunião. Esse modelo garante transparência no andamento, clareza na definição de responsáveis, priorização contínua e acompanhamento estruturado das sprints, permitindo que o time desenvolva o MVP de forma rápida, organizada e colaborativa.</a:t>
            </a:r>
            <a:endParaRPr lang="pt-BR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9C8A30-EF1F-4A72-8660-F7251681D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7029" y="1943042"/>
            <a:ext cx="6476272" cy="260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6476027-6C78-8E4E-649A-08331B808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94" r="14982"/>
          <a:stretch>
            <a:fillRect/>
          </a:stretch>
        </p:blipFill>
        <p:spPr>
          <a:xfrm>
            <a:off x="98699" y="2211783"/>
            <a:ext cx="5402402" cy="227313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37D155B-C6E8-D9D5-3020-A73A3EE68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9" r="31190" b="5900"/>
          <a:stretch>
            <a:fillRect/>
          </a:stretch>
        </p:blipFill>
        <p:spPr>
          <a:xfrm>
            <a:off x="2107177" y="4108616"/>
            <a:ext cx="3721823" cy="260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35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6" name="Google Shape;283;p31">
            <a:extLst>
              <a:ext uri="{FF2B5EF4-FFF2-40B4-BE49-F238E27FC236}">
                <a16:creationId xmlns:a16="http://schemas.microsoft.com/office/drawing/2014/main" id="{E73B0C89-FB60-4EA2-8091-BC4AAD51F2AF}"/>
              </a:ext>
            </a:extLst>
          </p:cNvPr>
          <p:cNvSpPr txBox="1"/>
          <p:nvPr/>
        </p:nvSpPr>
        <p:spPr>
          <a:xfrm>
            <a:off x="764241" y="2127123"/>
            <a:ext cx="10663500" cy="41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Sabemos que o mercado de crédito opera hoje em duas velocidades: a velocidade da originação, que é instantânea, e a velocidade da análise de risco, que muitas vezes é manual, lenta e reativa. Essa defasagem cria o que chamamos de 'ponto cego' — o momento exato onde a fraude e a inadimplência entram na carteira.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Diferente dos relatórios estáticos tradicionais, que mostram uma foto do passado (o que já aconteceu), a PRISMA oferece uma </a:t>
            </a:r>
            <a:r>
              <a:rPr lang="pt-BR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visão dinâmica e preditiva</a:t>
            </a: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baseada em </a:t>
            </a:r>
            <a:r>
              <a:rPr lang="pt-BR" i="1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Ground</a:t>
            </a:r>
            <a:r>
              <a:rPr lang="pt-BR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i="1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Truth</a:t>
            </a: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Ou seja, utilizamos dados reais processados em tempo real para antecipar o comportamento futuro da carteira, além de análise de risco, classificação dos títulos e simulação de novos ativos.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tornar essa inteligência acionável, estruturamos a experiência do usuário em três níveis de profundidade distintos, mas complementares: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457200" algn="just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27826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0C77-AD76-CB21-9EAD-22820EAFB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6;p33">
            <a:extLst>
              <a:ext uri="{FF2B5EF4-FFF2-40B4-BE49-F238E27FC236}">
                <a16:creationId xmlns:a16="http://schemas.microsoft.com/office/drawing/2014/main" id="{F47288CB-4354-53A8-9B88-735472665283}"/>
              </a:ext>
            </a:extLst>
          </p:cNvPr>
          <p:cNvSpPr/>
          <p:nvPr/>
        </p:nvSpPr>
        <p:spPr>
          <a:xfrm>
            <a:off x="10919436" y="304210"/>
            <a:ext cx="487591" cy="466406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051EF5D-9E76-AB8F-FC5E-C0FDDF5D2A30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5A4B1B6-A7B8-018D-A435-741C028165CB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Google Shape;302;p33">
            <a:extLst>
              <a:ext uri="{FF2B5EF4-FFF2-40B4-BE49-F238E27FC236}">
                <a16:creationId xmlns:a16="http://schemas.microsoft.com/office/drawing/2014/main" id="{B3F1116B-1942-5C4D-402B-3B8323D91393}"/>
              </a:ext>
            </a:extLst>
          </p:cNvPr>
          <p:cNvSpPr txBox="1"/>
          <p:nvPr/>
        </p:nvSpPr>
        <p:spPr>
          <a:xfrm>
            <a:off x="387952" y="1656175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dirty="0"/>
          </a:p>
        </p:txBody>
      </p:sp>
      <p:sp>
        <p:nvSpPr>
          <p:cNvPr id="5" name="Google Shape;303;p33">
            <a:extLst>
              <a:ext uri="{FF2B5EF4-FFF2-40B4-BE49-F238E27FC236}">
                <a16:creationId xmlns:a16="http://schemas.microsoft.com/office/drawing/2014/main" id="{3BCCE2CD-626A-0715-ABD2-7C51E7DB4CFA}"/>
              </a:ext>
            </a:extLst>
          </p:cNvPr>
          <p:cNvSpPr txBox="1"/>
          <p:nvPr/>
        </p:nvSpPr>
        <p:spPr>
          <a:xfrm>
            <a:off x="1585300" y="1811588"/>
            <a:ext cx="3752400" cy="30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Simulador de novos ativos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 painel foca na simulação de novos ativos, trazendo a probabilidade de inadimplência, a decisão de elegibilidade e a faixa de risco em que se encontra, tudo isso com base no aprendizado de ativos anteriores, na situação atual da empresa, na região do cedente e sacado, no tipo de título e valor do título.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305;p33">
            <a:extLst>
              <a:ext uri="{FF2B5EF4-FFF2-40B4-BE49-F238E27FC236}">
                <a16:creationId xmlns:a16="http://schemas.microsoft.com/office/drawing/2014/main" id="{86F64C23-EE9C-6EA6-42AC-55CFB967E54E}"/>
              </a:ext>
            </a:extLst>
          </p:cNvPr>
          <p:cNvSpPr txBox="1"/>
          <p:nvPr/>
        </p:nvSpPr>
        <p:spPr>
          <a:xfrm>
            <a:off x="8905918" y="260434"/>
            <a:ext cx="1959429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307;p33" title="github-icon-1-logo-png-transparent.png">
            <a:hlinkClick r:id="rId2"/>
            <a:extLst>
              <a:ext uri="{FF2B5EF4-FFF2-40B4-BE49-F238E27FC236}">
                <a16:creationId xmlns:a16="http://schemas.microsoft.com/office/drawing/2014/main" id="{F5A421AF-D009-3917-8609-9C4D3F3F0F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" b="19"/>
          <a:stretch/>
        </p:blipFill>
        <p:spPr>
          <a:xfrm>
            <a:off x="10937512" y="332059"/>
            <a:ext cx="415426" cy="427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269ECE1-DF53-C569-DE83-39025DA4F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312" y="1270373"/>
            <a:ext cx="6426125" cy="306718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C6D7036-0E0F-A820-70FC-4F9394CA2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2232" y="4357012"/>
            <a:ext cx="6284756" cy="177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76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6;p33">
            <a:extLst>
              <a:ext uri="{FF2B5EF4-FFF2-40B4-BE49-F238E27FC236}">
                <a16:creationId xmlns:a16="http://schemas.microsoft.com/office/drawing/2014/main" id="{F53072F0-669C-4A6E-96FE-B6ACF6A2CD77}"/>
              </a:ext>
            </a:extLst>
          </p:cNvPr>
          <p:cNvSpPr/>
          <p:nvPr/>
        </p:nvSpPr>
        <p:spPr>
          <a:xfrm>
            <a:off x="10675628" y="1089300"/>
            <a:ext cx="731400" cy="661800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pic>
        <p:nvPicPr>
          <p:cNvPr id="4" name="Google Shape;292;p32">
            <a:extLst>
              <a:ext uri="{FF2B5EF4-FFF2-40B4-BE49-F238E27FC236}">
                <a16:creationId xmlns:a16="http://schemas.microsoft.com/office/drawing/2014/main" id="{9728516B-D0EB-4A97-8B41-3BE975B04DF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0300" y="1811579"/>
            <a:ext cx="6549502" cy="2873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95;p32" title="github-icon-1-logo-png-transparent.png">
            <a:hlinkClick r:id="rId3"/>
            <a:extLst>
              <a:ext uri="{FF2B5EF4-FFF2-40B4-BE49-F238E27FC236}">
                <a16:creationId xmlns:a16="http://schemas.microsoft.com/office/drawing/2014/main" id="{169DC885-DD75-4835-999C-E8A865B043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9" b="19"/>
          <a:stretch/>
        </p:blipFill>
        <p:spPr>
          <a:xfrm>
            <a:off x="10729788" y="1117149"/>
            <a:ext cx="623150" cy="6061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1;p32">
            <a:extLst>
              <a:ext uri="{FF2B5EF4-FFF2-40B4-BE49-F238E27FC236}">
                <a16:creationId xmlns:a16="http://schemas.microsoft.com/office/drawing/2014/main" id="{876D4724-5F36-46CB-84C2-668CA19DD1E4}"/>
              </a:ext>
            </a:extLst>
          </p:cNvPr>
          <p:cNvSpPr txBox="1"/>
          <p:nvPr/>
        </p:nvSpPr>
        <p:spPr>
          <a:xfrm>
            <a:off x="1614452" y="1811588"/>
            <a:ext cx="37524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Visão Estratégica (Para Decisores):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 painel foca no resultado financeiro. Ele mostra quanto dinheiro o fundo economizou ao evitar ativos ruins (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Prejuízo Evitado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e como isso aumentou a rentabilidade geral (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Otimização de Retorno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Além disso, valida a tese de investimento através da "Bola de Cristal", um gráfico que correlaciona diretamente a queda de liquidez com o aumento do risco de calote, provando a eficácia do modelo preditivo.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290;p32">
            <a:extLst>
              <a:ext uri="{FF2B5EF4-FFF2-40B4-BE49-F238E27FC236}">
                <a16:creationId xmlns:a16="http://schemas.microsoft.com/office/drawing/2014/main" id="{C2D366A5-D7DE-45C6-A67F-B4A201DCAC0D}"/>
              </a:ext>
            </a:extLst>
          </p:cNvPr>
          <p:cNvSpPr txBox="1"/>
          <p:nvPr/>
        </p:nvSpPr>
        <p:spPr>
          <a:xfrm>
            <a:off x="387952" y="1694469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dirty="0"/>
          </a:p>
        </p:txBody>
      </p:sp>
      <p:sp>
        <p:nvSpPr>
          <p:cNvPr id="9" name="Google Shape;305;p33">
            <a:extLst>
              <a:ext uri="{FF2B5EF4-FFF2-40B4-BE49-F238E27FC236}">
                <a16:creationId xmlns:a16="http://schemas.microsoft.com/office/drawing/2014/main" id="{4B37C943-42DE-4F31-8BAB-0D25ECEBF034}"/>
              </a:ext>
            </a:extLst>
          </p:cNvPr>
          <p:cNvSpPr txBox="1"/>
          <p:nvPr/>
        </p:nvSpPr>
        <p:spPr>
          <a:xfrm>
            <a:off x="8755375" y="1198150"/>
            <a:ext cx="208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47025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6;p33">
            <a:extLst>
              <a:ext uri="{FF2B5EF4-FFF2-40B4-BE49-F238E27FC236}">
                <a16:creationId xmlns:a16="http://schemas.microsoft.com/office/drawing/2014/main" id="{7B16B49D-84D1-4D31-BE4D-525F181580C5}"/>
              </a:ext>
            </a:extLst>
          </p:cNvPr>
          <p:cNvSpPr/>
          <p:nvPr/>
        </p:nvSpPr>
        <p:spPr>
          <a:xfrm>
            <a:off x="10675628" y="1089300"/>
            <a:ext cx="731400" cy="661800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Google Shape;302;p33">
            <a:extLst>
              <a:ext uri="{FF2B5EF4-FFF2-40B4-BE49-F238E27FC236}">
                <a16:creationId xmlns:a16="http://schemas.microsoft.com/office/drawing/2014/main" id="{082A812E-3F0F-48AF-A5B6-F584A6331660}"/>
              </a:ext>
            </a:extLst>
          </p:cNvPr>
          <p:cNvSpPr txBox="1"/>
          <p:nvPr/>
        </p:nvSpPr>
        <p:spPr>
          <a:xfrm>
            <a:off x="387952" y="1656175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dirty="0"/>
          </a:p>
        </p:txBody>
      </p:sp>
      <p:sp>
        <p:nvSpPr>
          <p:cNvPr id="5" name="Google Shape;303;p33">
            <a:extLst>
              <a:ext uri="{FF2B5EF4-FFF2-40B4-BE49-F238E27FC236}">
                <a16:creationId xmlns:a16="http://schemas.microsoft.com/office/drawing/2014/main" id="{2D4EFE70-029C-4E81-A90C-9C7FBDC7040A}"/>
              </a:ext>
            </a:extLst>
          </p:cNvPr>
          <p:cNvSpPr txBox="1"/>
          <p:nvPr/>
        </p:nvSpPr>
        <p:spPr>
          <a:xfrm>
            <a:off x="1585300" y="1811588"/>
            <a:ext cx="3752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3. Visão Tática (Para Operação):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 painel foca na ação preventiva diária. Identifica parceiros comerciais problemáticos através do 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Radar de Seleção Adversa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(quem opera muito volume com alta inadimplência) e fornece uma lista de 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Alertas Antecipados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permitindo que a equipe de crédito atue imediatamente sobre empresas que apresentaram deterioração súbita nos seus indicadores, antes mesmo do vencimento dos títulos.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" name="Google Shape;304;p33">
            <a:extLst>
              <a:ext uri="{FF2B5EF4-FFF2-40B4-BE49-F238E27FC236}">
                <a16:creationId xmlns:a16="http://schemas.microsoft.com/office/drawing/2014/main" id="{FCDB60C7-04D1-4BD5-B80E-6E027A4362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37700" y="1811591"/>
            <a:ext cx="6732375" cy="32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05;p33">
            <a:extLst>
              <a:ext uri="{FF2B5EF4-FFF2-40B4-BE49-F238E27FC236}">
                <a16:creationId xmlns:a16="http://schemas.microsoft.com/office/drawing/2014/main" id="{DE0B8A23-A942-4E84-86F1-6E5D7ED675E6}"/>
              </a:ext>
            </a:extLst>
          </p:cNvPr>
          <p:cNvSpPr txBox="1"/>
          <p:nvPr/>
        </p:nvSpPr>
        <p:spPr>
          <a:xfrm>
            <a:off x="8755375" y="1198150"/>
            <a:ext cx="208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307;p33" title="github-icon-1-logo-png-transparent.png">
            <a:hlinkClick r:id="rId3"/>
            <a:extLst>
              <a:ext uri="{FF2B5EF4-FFF2-40B4-BE49-F238E27FC236}">
                <a16:creationId xmlns:a16="http://schemas.microsoft.com/office/drawing/2014/main" id="{A84A1D74-B6E9-4C3E-9D92-1168D20A2F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9" b="19"/>
          <a:stretch/>
        </p:blipFill>
        <p:spPr>
          <a:xfrm>
            <a:off x="10729788" y="1117149"/>
            <a:ext cx="623150" cy="606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3154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72DE-48B2-A123-B5D0-58B0F5A26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6;p33">
            <a:extLst>
              <a:ext uri="{FF2B5EF4-FFF2-40B4-BE49-F238E27FC236}">
                <a16:creationId xmlns:a16="http://schemas.microsoft.com/office/drawing/2014/main" id="{FD23F738-60A9-0896-B91C-5299D0B4D76B}"/>
              </a:ext>
            </a:extLst>
          </p:cNvPr>
          <p:cNvSpPr/>
          <p:nvPr/>
        </p:nvSpPr>
        <p:spPr>
          <a:xfrm>
            <a:off x="10675628" y="1089300"/>
            <a:ext cx="731400" cy="661800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320CEF0-C425-C9D7-E78B-A575E61414F5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3939A7D-4643-436E-1A01-BCEB05590D58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Google Shape;302;p33">
            <a:extLst>
              <a:ext uri="{FF2B5EF4-FFF2-40B4-BE49-F238E27FC236}">
                <a16:creationId xmlns:a16="http://schemas.microsoft.com/office/drawing/2014/main" id="{A5BE8A31-DB7B-8AB3-B089-FFDC766B0B8A}"/>
              </a:ext>
            </a:extLst>
          </p:cNvPr>
          <p:cNvSpPr txBox="1"/>
          <p:nvPr/>
        </p:nvSpPr>
        <p:spPr>
          <a:xfrm>
            <a:off x="387952" y="1656175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 dirty="0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dirty="0"/>
          </a:p>
        </p:txBody>
      </p:sp>
      <p:sp>
        <p:nvSpPr>
          <p:cNvPr id="5" name="Google Shape;303;p33">
            <a:extLst>
              <a:ext uri="{FF2B5EF4-FFF2-40B4-BE49-F238E27FC236}">
                <a16:creationId xmlns:a16="http://schemas.microsoft.com/office/drawing/2014/main" id="{E1B12808-AA30-ACC3-0440-8CB594DD7726}"/>
              </a:ext>
            </a:extLst>
          </p:cNvPr>
          <p:cNvSpPr txBox="1"/>
          <p:nvPr/>
        </p:nvSpPr>
        <p:spPr>
          <a:xfrm>
            <a:off x="1585300" y="1811588"/>
            <a:ext cx="3752400" cy="4016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4. Visão Analítica: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Este painel aprofunda a leitura do modelo, mostrando as variáveis que mais pesam na decisão, a curva cumulativa de atrasos e a comparação entre o modelo interno e o modelo enriquecido.</a:t>
            </a:r>
          </a:p>
          <a:p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Também concentra a inteligência dos cedentes, destacando volume, ticket médio, taxa de risco e alertas de parceiros com pior histórico. Com isso, a equipe ganha uma visão clara para calibrar regras, justificar decisões e evoluir continuamente a estratégia de crédito.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305;p33">
            <a:extLst>
              <a:ext uri="{FF2B5EF4-FFF2-40B4-BE49-F238E27FC236}">
                <a16:creationId xmlns:a16="http://schemas.microsoft.com/office/drawing/2014/main" id="{4C827743-14E4-1527-BF5D-351BA4570131}"/>
              </a:ext>
            </a:extLst>
          </p:cNvPr>
          <p:cNvSpPr txBox="1"/>
          <p:nvPr/>
        </p:nvSpPr>
        <p:spPr>
          <a:xfrm>
            <a:off x="8755375" y="1198150"/>
            <a:ext cx="208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307;p33" title="github-icon-1-logo-png-transparent.png">
            <a:hlinkClick r:id="rId2"/>
            <a:extLst>
              <a:ext uri="{FF2B5EF4-FFF2-40B4-BE49-F238E27FC236}">
                <a16:creationId xmlns:a16="http://schemas.microsoft.com/office/drawing/2014/main" id="{3F0C56E1-112C-EC9F-FA31-383C948ABA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29" b="19"/>
          <a:stretch/>
        </p:blipFill>
        <p:spPr>
          <a:xfrm>
            <a:off x="10729788" y="1117149"/>
            <a:ext cx="623150" cy="606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12359B7-5A93-AE43-CEE6-D75EEF6C7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52" y="2125675"/>
            <a:ext cx="6709446" cy="331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28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CONCLUSÃO E AGRADECIMENTOS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B4CF9E6-ADAF-4729-8F7E-5981EDCA5098}"/>
              </a:ext>
            </a:extLst>
          </p:cNvPr>
          <p:cNvSpPr txBox="1"/>
          <p:nvPr/>
        </p:nvSpPr>
        <p:spPr>
          <a:xfrm>
            <a:off x="981075" y="2921168"/>
            <a:ext cx="10229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A </a:t>
            </a:r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PRISMA 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se apresenta como uma solução moderna e estratégica para elevar o nível da gestão de risco nos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FIDCs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, unindo IA, modelagem preditiva e análise estrutural para reduzir assimetrias, antecipar inadimplência e revelar oportunidades ocultas. Ao oferecer uma visão integrada e precisa da carteira, a plataforma contribui para decisões mais seguras, operações mais eficientes e um ecossistema de crédito mais transparente e sustentável.</a:t>
            </a:r>
          </a:p>
        </p:txBody>
      </p:sp>
    </p:spTree>
    <p:extLst>
      <p:ext uri="{BB962C8B-B14F-4D97-AF65-F5344CB8AC3E}">
        <p14:creationId xmlns:p14="http://schemas.microsoft.com/office/powerpoint/2010/main" val="32983879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2545</TotalTime>
  <Words>2763</Words>
  <Application>Microsoft Office PowerPoint</Application>
  <PresentationFormat>Widescreen</PresentationFormat>
  <Paragraphs>168</Paragraphs>
  <Slides>24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Lato</vt:lpstr>
      <vt:lpstr>Calibri Light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Bangarcl Silva</dc:creator>
  <cp:lastModifiedBy>Ana Carolina Guanaes</cp:lastModifiedBy>
  <cp:revision>44</cp:revision>
  <cp:lastPrinted>2025-11-26T20:33:10Z</cp:lastPrinted>
  <dcterms:created xsi:type="dcterms:W3CDTF">2025-10-18T14:10:50Z</dcterms:created>
  <dcterms:modified xsi:type="dcterms:W3CDTF">2026-04-12T18:48:59Z</dcterms:modified>
</cp:coreProperties>
</file>