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4"/>
  </p:notesMasterIdLst>
  <p:sldIdLst>
    <p:sldId id="263" r:id="rId2"/>
    <p:sldId id="296" r:id="rId3"/>
    <p:sldId id="294" r:id="rId4"/>
    <p:sldId id="295" r:id="rId5"/>
    <p:sldId id="290" r:id="rId6"/>
    <p:sldId id="288" r:id="rId7"/>
    <p:sldId id="277" r:id="rId8"/>
    <p:sldId id="308" r:id="rId9"/>
    <p:sldId id="281" r:id="rId10"/>
    <p:sldId id="280" r:id="rId11"/>
    <p:sldId id="314" r:id="rId12"/>
    <p:sldId id="309" r:id="rId13"/>
    <p:sldId id="305" r:id="rId14"/>
    <p:sldId id="307" r:id="rId15"/>
    <p:sldId id="313" r:id="rId16"/>
    <p:sldId id="300" r:id="rId17"/>
    <p:sldId id="316" r:id="rId18"/>
    <p:sldId id="303" r:id="rId19"/>
    <p:sldId id="302" r:id="rId20"/>
    <p:sldId id="312" r:id="rId21"/>
    <p:sldId id="311" r:id="rId22"/>
    <p:sldId id="301" r:id="rId23"/>
  </p:sldIdLst>
  <p:sldSz cx="12192000" cy="6858000"/>
  <p:notesSz cx="6858000" cy="9144000"/>
  <p:embeddedFontLs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libri Light" panose="020F0302020204030204" pitchFamily="34" charset="0"/>
      <p:regular r:id="rId29"/>
      <p:italic r:id="rId30"/>
    </p:embeddedFont>
    <p:embeddedFont>
      <p:font typeface="Lato" panose="020F0502020204030203" pitchFamily="34" charset="0"/>
      <p:regular r:id="rId31"/>
      <p:bold r:id="rId32"/>
      <p:italic r:id="rId33"/>
      <p:boldItalic r:id="rId3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AA76"/>
    <a:srgbClr val="4CBF88"/>
    <a:srgbClr val="33C2FF"/>
    <a:srgbClr val="131313"/>
    <a:srgbClr val="282828"/>
    <a:srgbClr val="474747"/>
    <a:srgbClr val="F4F4F4"/>
    <a:srgbClr val="ECECEC"/>
    <a:srgbClr val="E8E8E8"/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C9B0-4D54-4557-9850-8DE3C60461C0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AF1CA-A862-4C60-A888-B4C8D949F3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05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171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1535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6AF1CA-A862-4C60-A888-B4C8D949F3F3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816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E7D52-9FCF-47DD-B64E-C009A944E5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964129-6898-4408-95FF-1EEAD8369E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B7DB23-C448-48FE-B705-1F1A8B514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80D0364-CC44-421E-8C72-B6DA8872B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3B4F00-30AE-4BDF-B182-E3642A12B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00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0B206-D710-4EDF-8E61-D35695686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7D2B73-0BAC-468C-9684-D90BD2BFB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C129DB-8E78-4605-954B-AFA6D95D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805BD2-85CB-4F5C-A0C4-70B71D5F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5BC014-155B-476D-8CAA-00F8A4A3B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071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DBA32-1C7A-430B-8772-9E371FBB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4449BD2-9B84-4C94-9F39-AF714BAB3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7B0981F-C486-48A6-ABA8-9652B3E51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FB472-302D-403A-8F86-315E2B448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1EB804-1AD2-4D63-9B6E-1EF8FC21B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500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BFB278-25D7-4082-92FA-FF65FF0A5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E87F7C-38CA-468D-978A-A4D7B70BEA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EEE420-DC0F-4A11-BB19-12EA9FF1F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007BFA5-7E2E-4ECC-B871-87F3479F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181807B-4BCF-4287-92D3-4C824B8B9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089FD86-89C5-4FE8-BDD3-64D5B05E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217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AD604C-A865-427E-80D0-3B7FD2EFF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5B5B2A-221F-4DB7-B75B-7E23D0A79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B5B39F-6913-49FB-AADC-80DB02E6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A8FBF4D-B984-4583-9A24-CC75AFE7C1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A5A4D18-5BEA-4B24-8335-CA8802C3D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9B9E2B-307F-404B-BF87-A9586C88B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3DBAEC-4A34-4E8D-BB39-F9307EF0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B8C1BB6-1C0F-4AE4-B7F9-7D887EFCF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8180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D1C6A-C8D7-4E13-8F8B-405C60A89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EE442-54A3-466F-AADD-99DA01634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F0341B-CEFE-46B9-B34E-B6E3EF27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CE1FBAD-393B-4906-8EC9-9F28F9EF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156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897B14-5DC3-4E56-9F8F-5B23FE7BE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DA9F87-5DBC-41EE-ACF6-B3FAE34D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F2E076-DE43-42EC-8066-B436E63E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7909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2126C2-6C75-4D60-9FC6-709866397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EB5812-6635-4EA5-A786-B05DE5CF4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C5603E-F8A3-450D-A31C-88C916CA86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16A27E-1B5F-49B6-BE41-7B02F4BF0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AE71424-EE11-4F6A-BE29-1DF2F3DB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AA1004-657B-49EE-867B-FDABE352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3509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BB996-CC15-418F-954E-1AE2DEB93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DDC1496-21E5-4663-8D94-723B26426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225FA0A-C00F-4F4A-84BC-4D6C86E76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D554003-0C8F-4570-99A4-126E68D6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A7BDC5-ACA5-4D33-9992-37C0132D8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0C617AD-5E80-4F10-B665-C6A59205E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39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99886E-5236-43D9-87BC-87BB876F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862D8CA-52ED-4599-9D86-50FFB8946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D6B8EF-1081-486A-9D0F-062C9727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84D7E2-BE8B-4FF3-A0F6-78ACFE6AD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75270F-79E2-467F-847D-6660872F7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3799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35DE8B2-9F6F-483B-8592-A592B996CB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991F940-29B4-43CE-9C30-8B0D5046C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68E25F-5FC0-43C3-BE9C-FCC9DAA78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A2AB1A-07A2-4F78-8726-8D7EC2B53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D6ACC7-9663-43C6-9794-01D0D88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574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3000" r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4F3DD90-9DC3-4705-8C49-1F92650C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1EC279-9772-4100-9D35-3832F91F2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4B1702-381C-4118-B586-B72D969C19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E1A783-1A18-420E-A1CE-166C89CD8D65}" type="datetimeFigureOut">
              <a:rPr lang="pt-BR" smtClean="0"/>
              <a:t>29/11/2025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FA2F55-6463-4E14-BAB5-96AA15902A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C10437-B659-4D5B-9517-D5C6A521E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5957A-007E-46CC-AC46-E6D2407504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8081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euspmendes.github.io/prisma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heuspmendes.github.io/prisma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031B047-6BFC-4F8A-9E86-BC16658D35C3}"/>
              </a:ext>
            </a:extLst>
          </p:cNvPr>
          <p:cNvSpPr txBox="1"/>
          <p:nvPr/>
        </p:nvSpPr>
        <p:spPr>
          <a:xfrm>
            <a:off x="4871357" y="3502511"/>
            <a:ext cx="244928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FBE5B9B9-31A8-4388-A219-7F767F006069}"/>
              </a:ext>
            </a:extLst>
          </p:cNvPr>
          <p:cNvCxnSpPr>
            <a:cxnSpLocks/>
          </p:cNvCxnSpPr>
          <p:nvPr/>
        </p:nvCxnSpPr>
        <p:spPr>
          <a:xfrm>
            <a:off x="4053068" y="4391045"/>
            <a:ext cx="4085864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8DC687-655E-4F16-A22E-503E58FBA635}"/>
              </a:ext>
            </a:extLst>
          </p:cNvPr>
          <p:cNvSpPr txBox="1"/>
          <p:nvPr/>
        </p:nvSpPr>
        <p:spPr>
          <a:xfrm>
            <a:off x="4053066" y="4494750"/>
            <a:ext cx="4085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Plataforma de Risco e Inteligência para Securitização e Modelagem Avançada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52FB905-058D-48EB-B1B7-72EF94430B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8" t="10820" r="16971" b="25266"/>
          <a:stretch/>
        </p:blipFill>
        <p:spPr>
          <a:xfrm>
            <a:off x="5089602" y="1472799"/>
            <a:ext cx="2012793" cy="202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107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ixaDeTexto 8">
            <a:extLst>
              <a:ext uri="{FF2B5EF4-FFF2-40B4-BE49-F238E27FC236}">
                <a16:creationId xmlns:a16="http://schemas.microsoft.com/office/drawing/2014/main" id="{F46A6D33-068D-4326-80B3-DC443BFDF1E3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CF5048E-6F02-422D-B870-0CBE2F64EEC4}"/>
              </a:ext>
            </a:extLst>
          </p:cNvPr>
          <p:cNvSpPr txBox="1"/>
          <p:nvPr/>
        </p:nvSpPr>
        <p:spPr>
          <a:xfrm>
            <a:off x="141514" y="4439633"/>
            <a:ext cx="23585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Ana Carolina Andrade </a:t>
            </a:r>
            <a:r>
              <a:rPr lang="pt-BR" sz="1200" b="1" kern="1200" err="1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Guanae</a:t>
            </a:r>
            <a:endParaRPr lang="pt-BR" sz="1200" b="1" kern="1200">
              <a:solidFill>
                <a:schemeClr val="bg1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  <a:p>
            <a:pPr algn="ctr"/>
            <a:r>
              <a:rPr lang="sv-SE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RM566748</a:t>
            </a:r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endParaRPr lang="sv-SE" sz="1200" b="1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E061A7D-CDE8-424F-B2E3-A825D115D8F5}"/>
              </a:ext>
            </a:extLst>
          </p:cNvPr>
          <p:cNvSpPr txBox="1"/>
          <p:nvPr/>
        </p:nvSpPr>
        <p:spPr>
          <a:xfrm>
            <a:off x="2892548" y="4456739"/>
            <a:ext cx="15736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kern="1200">
                <a:solidFill>
                  <a:schemeClr val="bg1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Italo Bangarcl Silva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RM567637</a:t>
            </a:r>
            <a:endParaRPr lang="pt-BR" sz="1200" b="1" kern="1200">
              <a:solidFill>
                <a:schemeClr val="bg1"/>
              </a:solidFill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C5ED58B-B041-442B-9107-2E669B3F6146}"/>
              </a:ext>
            </a:extLst>
          </p:cNvPr>
          <p:cNvSpPr txBox="1"/>
          <p:nvPr/>
        </p:nvSpPr>
        <p:spPr>
          <a:xfrm>
            <a:off x="4802219" y="4444039"/>
            <a:ext cx="25875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Matheus Augusto Pombo Mendes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RM567936</a:t>
            </a:r>
            <a:endParaRPr lang="sv-SE" sz="1200" b="1">
              <a:solidFill>
                <a:schemeClr val="bg1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020E157-E80B-4F24-AA21-3BDC98EC478A}"/>
              </a:ext>
            </a:extLst>
          </p:cNvPr>
          <p:cNvSpPr txBox="1"/>
          <p:nvPr/>
        </p:nvSpPr>
        <p:spPr>
          <a:xfrm>
            <a:off x="7462609" y="4460243"/>
            <a:ext cx="2056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Santiago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Agustin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200" b="1" err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Medardi</a:t>
            </a:r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RM566832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61E5815-0D0F-4F67-B024-582BEC601470}"/>
              </a:ext>
            </a:extLst>
          </p:cNvPr>
          <p:cNvSpPr txBox="1"/>
          <p:nvPr/>
        </p:nvSpPr>
        <p:spPr>
          <a:xfrm>
            <a:off x="10052784" y="4456739"/>
            <a:ext cx="1504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Vitor Targa Vieira</a:t>
            </a:r>
          </a:p>
          <a:p>
            <a:pPr algn="ctr"/>
            <a:r>
              <a:rPr lang="pt-BR" sz="12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RM566952</a:t>
            </a:r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BA3792AB-C7FD-419A-8786-BBEA6C1C82D9}"/>
              </a:ext>
            </a:extLst>
          </p:cNvPr>
          <p:cNvSpPr/>
          <p:nvPr/>
        </p:nvSpPr>
        <p:spPr>
          <a:xfrm>
            <a:off x="327088" y="2237529"/>
            <a:ext cx="1987421" cy="200608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FD9E3C57-5259-48EE-9D09-F74D76A8BD2E}"/>
              </a:ext>
            </a:extLst>
          </p:cNvPr>
          <p:cNvSpPr/>
          <p:nvPr/>
        </p:nvSpPr>
        <p:spPr>
          <a:xfrm>
            <a:off x="2679558" y="2237531"/>
            <a:ext cx="1987421" cy="2006081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FB942AC1-210A-476D-8ED8-055FF7647DCC}"/>
              </a:ext>
            </a:extLst>
          </p:cNvPr>
          <p:cNvSpPr/>
          <p:nvPr/>
        </p:nvSpPr>
        <p:spPr>
          <a:xfrm>
            <a:off x="7618960" y="2237531"/>
            <a:ext cx="1987421" cy="2006081"/>
          </a:xfrm>
          <a:prstGeom prst="ellipse">
            <a:avLst/>
          </a:prstGeom>
          <a:blipFill>
            <a:blip r:embed="rId4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41818F35-8CD1-4DD8-A9A2-CDB7CFE9A461}"/>
              </a:ext>
            </a:extLst>
          </p:cNvPr>
          <p:cNvSpPr/>
          <p:nvPr/>
        </p:nvSpPr>
        <p:spPr>
          <a:xfrm>
            <a:off x="9811533" y="2237530"/>
            <a:ext cx="1987421" cy="2006081"/>
          </a:xfrm>
          <a:prstGeom prst="ellipse">
            <a:avLst/>
          </a:prstGeom>
          <a:blipFill>
            <a:blip r:embed="rId5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C250B06-CB38-4E48-BCB0-FEF73728722A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INTEGRANTES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E6BD18E1-3ACC-4642-A0D3-599207585194}"/>
              </a:ext>
            </a:extLst>
          </p:cNvPr>
          <p:cNvSpPr/>
          <p:nvPr/>
        </p:nvSpPr>
        <p:spPr>
          <a:xfrm>
            <a:off x="5141305" y="2237531"/>
            <a:ext cx="1987420" cy="2006081"/>
          </a:xfrm>
          <a:prstGeom prst="ellipse">
            <a:avLst/>
          </a:prstGeom>
          <a:blipFill>
            <a:blip r:embed="rId6"/>
            <a:stretch>
              <a:fillRect/>
            </a:stretch>
          </a:blipFill>
          <a:ln w="38100">
            <a:solidFill>
              <a:srgbClr val="4CBF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30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CONTEXTUALIZAÇÃO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 algn="just">
              <a:spcAft>
                <a:spcPts val="1600"/>
              </a:spcAft>
            </a:pP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cenário empresarial brasileiro é de </a:t>
            </a:r>
            <a:r>
              <a:rPr lang="pt-BR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forte expansão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, impulsionado por uma onda de empreendedorismo que gerou mais de </a:t>
            </a:r>
            <a:r>
              <a:rPr lang="pt-BR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3,9 milhões de novas empresas 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em 2021 e mantém um crescimento notável, com </a:t>
            </a:r>
            <a:r>
              <a:rPr lang="pt-BR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1,4 milhão de pequenos negócios abertos 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apenas no primeiro trimestre de 2025. Esse dinamismo, que elevou a Taxa de Empreendedorismo para 33,4%, exige um fluxo de capital contínuo, evidenciado pelo fato de que 40% do crédito concedido no país é direcionado para empresas. </a:t>
            </a:r>
            <a:br>
              <a:rPr lang="pt-BR" b="0" i="0" u="none" strike="noStrike" dirty="0">
                <a:effectLst/>
                <a:latin typeface="Lato" panose="020F0502020204030203" pitchFamily="34" charset="0"/>
              </a:rPr>
            </a:b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Contudo, essa demanda por crédito opera sob a sombra da inadimplência, que atinge mais de 73 milhões de brasileiros, tornando a gestão de risco uma prioridade crítica. É neste contexto que os Fundos de Investimento em Direitos Creditórios (</a:t>
            </a:r>
            <a:r>
              <a:rPr lang="pt-BR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FIDCs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) se estabelecem como um pilar estratégico, injetando liquidez imediata nas empresas ao comprar seus recebíveis, sendo 70% desses ativos de </a:t>
            </a: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natureza comercial (B2B).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pt-BR" b="0" i="0" u="none" strike="noStrike" dirty="0">
                <a:effectLst/>
                <a:latin typeface="Lato" panose="020F0502020204030203" pitchFamily="34" charset="0"/>
              </a:rPr>
            </a:b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Para que os </a:t>
            </a:r>
            <a:r>
              <a:rPr lang="pt-BR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FIDCs</a:t>
            </a:r>
            <a:r>
              <a:rPr lang="pt-BR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operem com segurança e garantam a rentabilidade diante do risco latente, o mercado exige ferramentas de análise sofisticada baseadas em IA/ML que vão além do score básico, realizando a validação estrutural, simulações de estresse e a previsão de rating das cotas do fundo.</a:t>
            </a:r>
            <a:endParaRPr lang="pt-BR" b="0" dirty="0"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910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C68B7B69-C306-4A29-8D18-3A68289A65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26100" y="397378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CD93505-4BBE-4094-A42B-D5D235C6E670}"/>
              </a:ext>
            </a:extLst>
          </p:cNvPr>
          <p:cNvSpPr txBox="1"/>
          <p:nvPr/>
        </p:nvSpPr>
        <p:spPr>
          <a:xfrm>
            <a:off x="2250349" y="558954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500" b="1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CONHEÇA A PRISMA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6910A69-3E5A-4003-9340-006080B8D8B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3A052F8-E029-45EC-893E-8D3C524924B3}"/>
              </a:ext>
            </a:extLst>
          </p:cNvPr>
          <p:cNvSpPr txBox="1"/>
          <p:nvPr/>
        </p:nvSpPr>
        <p:spPr>
          <a:xfrm>
            <a:off x="764241" y="2127123"/>
            <a:ext cx="10663518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indent="457200" algn="just">
              <a:spcAft>
                <a:spcPts val="1600"/>
              </a:spcAft>
            </a:pP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Pensando na complexidade do investimento FIDC e na gestão de ativos complexos, o projeto </a:t>
            </a:r>
            <a:r>
              <a:rPr lang="pt-BR" sz="18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PRISMA 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(Plataforma de Risco e Inteligência para Securitização e Modelagem Avançada) foi desenvolvido. Como um módulo especializado de risco estrutural com IA/ML, foi projetado para analisar rapidamente milhares de operações, indo além dos scores genéricos ao identificar padrões e </a:t>
            </a: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correlações                                                                                                              para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 mitigar a seleção adversa e assimetria de informação.</a:t>
            </a: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                                                                                                         </a:t>
            </a:r>
            <a:br>
              <a:rPr lang="pt-BR" sz="1800" b="0" i="0" u="none" strike="noStrike" dirty="0">
                <a:effectLst/>
                <a:latin typeface="Lato" panose="020F0502020204030203" pitchFamily="34" charset="0"/>
              </a:rPr>
            </a:br>
            <a:r>
              <a:rPr lang="pt-BR" dirty="0">
                <a:solidFill>
                  <a:srgbClr val="FFFFFF"/>
                </a:solidFill>
                <a:latin typeface="Lato"/>
                <a:ea typeface="Lato"/>
                <a:cs typeface="Lato"/>
              </a:rPr>
              <a:t> 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 </a:t>
            </a:r>
            <a:r>
              <a:rPr lang="pt-BR" sz="18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PRISMA 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opera como o módulo de inteligência estrutural da </a:t>
            </a:r>
            <a:r>
              <a:rPr lang="pt-BR" sz="18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Núclea</a:t>
            </a:r>
            <a:r>
              <a:rPr lang="pt-BR" sz="18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Lato"/>
              </a:rPr>
              <a:t>, iniciando com a Análise e Seleção de Ativos , onde utiliza scores bancários e dados transacionais para validar a elegibilidade do recebível e mitigar a seleção adversa. Em seguida, aplica a Modelagem Preditiva para ir além dos modelos tradicionais, identificando padrões complexos e simulando o risco nas diferentes tranches do FIDC. Por fim, realiza o Monitoramento em Tempo Real da carteira, alertando o gestor sobre mudanças no risco de devedores antes da inadimplência, garantindo assim uma precificação mais acurada e segurança contínua ao patrimônio do Fundo.</a:t>
            </a:r>
            <a:endParaRPr lang="pt-BR" b="0" dirty="0">
              <a:effectLst/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12696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PROBLEMAS A SER RESOLVIDOS: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D42B6B-97B0-4A32-B891-79ED89B21EDC}"/>
              </a:ext>
            </a:extLst>
          </p:cNvPr>
          <p:cNvSpPr txBox="1"/>
          <p:nvPr/>
        </p:nvSpPr>
        <p:spPr>
          <a:xfrm>
            <a:off x="1362023" y="1995804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620ED9-6212-49FC-9DCC-68708BB8E72E}"/>
              </a:ext>
            </a:extLst>
          </p:cNvPr>
          <p:cNvSpPr txBox="1"/>
          <p:nvPr/>
        </p:nvSpPr>
        <p:spPr>
          <a:xfrm>
            <a:off x="2532640" y="1995804"/>
            <a:ext cx="804968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Assimetria de Informação: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No mercado de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o cedente (quem vende a dívida) conhece mais sobre o risco do devedor do que o gestor do fundo, criando desequilíbrio de informação.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894806-5A09-407E-9398-25E7DBDEF543}"/>
              </a:ext>
            </a:extLst>
          </p:cNvPr>
          <p:cNvSpPr txBox="1"/>
          <p:nvPr/>
        </p:nvSpPr>
        <p:spPr>
          <a:xfrm>
            <a:off x="2495535" y="3572836"/>
            <a:ext cx="8049687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Risco de Seleção Adversa: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Devido à essa assimetria, o cedente pode ter o incentivo de vender ao FIDC apenas as dívidas mais arriscadas, retendo as seguras para si.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0C0D3B-3721-4E0F-94F2-1557D1936D4D}"/>
              </a:ext>
            </a:extLst>
          </p:cNvPr>
          <p:cNvSpPr txBox="1"/>
          <p:nvPr/>
        </p:nvSpPr>
        <p:spPr>
          <a:xfrm>
            <a:off x="2551194" y="4920044"/>
            <a:ext cx="803113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Inadimplência: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Se o FIDC compra os ativos arriscados e o cliente não paga, o fundo arca com esses ativos, o que gera perda para o fundo e seus investidores.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93353CC-5B2A-458E-AF0E-5080252A2966}"/>
              </a:ext>
            </a:extLst>
          </p:cNvPr>
          <p:cNvSpPr txBox="1"/>
          <p:nvPr/>
        </p:nvSpPr>
        <p:spPr>
          <a:xfrm>
            <a:off x="1380628" y="3454118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AB0AD9-6F16-481C-BD2F-62CCE2F67440}"/>
              </a:ext>
            </a:extLst>
          </p:cNvPr>
          <p:cNvSpPr txBox="1"/>
          <p:nvPr/>
        </p:nvSpPr>
        <p:spPr>
          <a:xfrm>
            <a:off x="1380628" y="4809303"/>
            <a:ext cx="1133460" cy="938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DBCD53-A7CE-4C72-ABE7-A990BE2B6FA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710474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1646778" y="463930"/>
            <a:ext cx="931433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PROBLEMAS A SER RESOLVIDOS: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CD42B6B-97B0-4A32-B891-79ED89B21EDC}"/>
              </a:ext>
            </a:extLst>
          </p:cNvPr>
          <p:cNvSpPr txBox="1"/>
          <p:nvPr/>
        </p:nvSpPr>
        <p:spPr>
          <a:xfrm>
            <a:off x="1381759" y="1988204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C620ED9-6212-49FC-9DCC-68708BB8E72E}"/>
              </a:ext>
            </a:extLst>
          </p:cNvPr>
          <p:cNvSpPr txBox="1"/>
          <p:nvPr/>
        </p:nvSpPr>
        <p:spPr>
          <a:xfrm>
            <a:off x="2495534" y="1988204"/>
            <a:ext cx="8223264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Dependência Excessiva de Consultorias/Agências de Rating: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A necessidade de contratar consultorias para modelagem ou depender exclusivamente das agências de rating para validar a estrutura do FIDC encarece o processo e reduz a agilidade na tomada de decisão do Gestor.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3894806-5A09-407E-9398-25E7DBDEF543}"/>
              </a:ext>
            </a:extLst>
          </p:cNvPr>
          <p:cNvSpPr txBox="1"/>
          <p:nvPr/>
        </p:nvSpPr>
        <p:spPr>
          <a:xfrm>
            <a:off x="2495534" y="3316581"/>
            <a:ext cx="822326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Dispersão e Subutilização de Dados: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Embora haja uma riqueza de dados disponíveis (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bureaus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de crédito, B3/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Neoway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Núclea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, Serasa, etc.), a dificuldade em integrar, processar e aplicar esses dados de forma inteligente para análise de risco estrutural (específico para FIDC) leva a decisões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subótimas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 perda de oportunidades.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C0C0D3B-3721-4E0F-94F2-1557D1936D4D}"/>
              </a:ext>
            </a:extLst>
          </p:cNvPr>
          <p:cNvSpPr txBox="1"/>
          <p:nvPr/>
        </p:nvSpPr>
        <p:spPr>
          <a:xfrm>
            <a:off x="2514087" y="4930993"/>
            <a:ext cx="8204711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Modelos de Risco Genéricos: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Os scores de crédito tradicionais não são totalmente adequados para modelar a complexa dinâmica de um portfólio de direitos creditórios com diferentes prazos, setores e garantias, nem para simular a migração de rating das cotas do FIDC.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6B4FB76-92E2-427D-B11A-5B36D39DF643}"/>
              </a:ext>
            </a:extLst>
          </p:cNvPr>
          <p:cNvSpPr txBox="1"/>
          <p:nvPr/>
        </p:nvSpPr>
        <p:spPr>
          <a:xfrm>
            <a:off x="1400312" y="331658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13EFB7B-4ECE-424F-AD7F-97327429A592}"/>
              </a:ext>
            </a:extLst>
          </p:cNvPr>
          <p:cNvSpPr txBox="1"/>
          <p:nvPr/>
        </p:nvSpPr>
        <p:spPr>
          <a:xfrm>
            <a:off x="1400312" y="487579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06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0CCF3F-FD1D-4E72-ADF2-DDED85D9F346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58217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3611698" y="415437"/>
            <a:ext cx="496860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PÚBLICO ALVO: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1AE5BB21-8815-4F43-942E-7B373749BB4B}"/>
              </a:ext>
            </a:extLst>
          </p:cNvPr>
          <p:cNvSpPr txBox="1"/>
          <p:nvPr/>
        </p:nvSpPr>
        <p:spPr>
          <a:xfrm>
            <a:off x="2514087" y="1946465"/>
            <a:ext cx="85026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Administradores de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Validação 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Compliance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.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Garantir que os recebíveis comprados se enquadram nas regras do Fundo (elegibilidade) e que o risco está monitorado conforme a CVM (Comissão de Valores Mobiliários, entidade que regula os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).</a:t>
            </a:r>
            <a:endParaRPr lang="pt-BR" sz="1500" b="1" dirty="0">
              <a:solidFill>
                <a:srgbClr val="4CBF88"/>
              </a:solidFill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7D9A8D2-561A-4859-857E-55BD0100D96F}"/>
              </a:ext>
            </a:extLst>
          </p:cNvPr>
          <p:cNvSpPr txBox="1"/>
          <p:nvPr/>
        </p:nvSpPr>
        <p:spPr>
          <a:xfrm>
            <a:off x="2514087" y="3114830"/>
            <a:ext cx="8502665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Gestores de Carteira de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FIDCs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Otimização de Retorno.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Precificar o risco com precisão para maximizar a margem de lucro e garantir que o Fundo não tome calotes inesperados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49EB5BF-75A2-406B-BE7E-AC3444779C74}"/>
              </a:ext>
            </a:extLst>
          </p:cNvPr>
          <p:cNvSpPr txBox="1"/>
          <p:nvPr/>
        </p:nvSpPr>
        <p:spPr>
          <a:xfrm>
            <a:off x="2495535" y="4126705"/>
            <a:ext cx="8502665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Securitizadoras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: Previsibilidade de Rating.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Estruturar a emissão de cotas (Sênior, Mezanino, Subordinada) com segurança, sabendo antecipadamente qual será o rating da agência, garantindo a liquidez da cota sênior.</a:t>
            </a:r>
            <a:endParaRPr lang="pt-BR" sz="1500" b="0" dirty="0">
              <a:effectLst/>
              <a:latin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571E80-09CA-44D2-9264-51A39B0BEA7E}"/>
              </a:ext>
            </a:extLst>
          </p:cNvPr>
          <p:cNvSpPr txBox="1"/>
          <p:nvPr/>
        </p:nvSpPr>
        <p:spPr>
          <a:xfrm>
            <a:off x="1381758" y="190420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31279208-A3AA-4F8C-83E5-AFD6C3B4141A}"/>
              </a:ext>
            </a:extLst>
          </p:cNvPr>
          <p:cNvSpPr txBox="1"/>
          <p:nvPr/>
        </p:nvSpPr>
        <p:spPr>
          <a:xfrm>
            <a:off x="1381758" y="295964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EF60DD3-DD93-4FA7-BEC3-AF4DD93E2E26}"/>
              </a:ext>
            </a:extLst>
          </p:cNvPr>
          <p:cNvSpPr txBox="1"/>
          <p:nvPr/>
        </p:nvSpPr>
        <p:spPr>
          <a:xfrm>
            <a:off x="1400312" y="4087376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ACA7D7A-EE91-42B6-A4AB-A69C584569FC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3182966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0DC4D075-CF27-4A93-BE96-3B5944A7405E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PROPOSTA DE SOLUÇÃO: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8DDBA7-3173-4455-B1F6-7A5DA1793AE8}"/>
              </a:ext>
            </a:extLst>
          </p:cNvPr>
          <p:cNvSpPr txBox="1"/>
          <p:nvPr/>
        </p:nvSpPr>
        <p:spPr>
          <a:xfrm>
            <a:off x="2514088" y="1687155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Criar uma plataforma inteligente que utiliza Python, Pandas,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NumPy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e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Scikit-Learn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para construir modelos de IA e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Machine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  <a:cs typeface="Segoe UI" panose="020B0502040204020203" pitchFamily="34" charset="0"/>
              </a:rPr>
              <a:t> Learning capazes de avaliar o risco dos recebíveis com maior granularidade e precisão.</a:t>
            </a:r>
            <a:endParaRPr lang="pt-BR" sz="1500" dirty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06E3E68-B50A-4408-BA7D-94BC06421C44}"/>
              </a:ext>
            </a:extLst>
          </p:cNvPr>
          <p:cNvSpPr txBox="1"/>
          <p:nvPr/>
        </p:nvSpPr>
        <p:spPr>
          <a:xfrm>
            <a:off x="2495535" y="2893112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Aplicar análise estrutural dos dados usando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pipelines de tratamento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imputação inteligente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regras por espécie de título e leitura regional, permitindo identificar padrões de atraso, inadimplência e distorções no score tradicional.</a:t>
            </a:r>
            <a:endParaRPr lang="pt-BR" sz="1500" b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8B29C4F-A1E5-412C-A444-CFDC56B38EF3}"/>
              </a:ext>
            </a:extLst>
          </p:cNvPr>
          <p:cNvSpPr txBox="1"/>
          <p:nvPr/>
        </p:nvSpPr>
        <p:spPr>
          <a:xfrm>
            <a:off x="2514088" y="4017305"/>
            <a:ext cx="8149430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Detectar oportunidades, como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joias ocultas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por meio de modelos preditivos supervisionados e análise comportamental, reclassificando empresas com base em métricas reais e não apenas scores genéricos.</a:t>
            </a:r>
            <a:endParaRPr lang="pt-BR" sz="1500" b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03847F1-DD64-4DA3-B0B2-8EE0F7F776F9}"/>
              </a:ext>
            </a:extLst>
          </p:cNvPr>
          <p:cNvSpPr txBox="1"/>
          <p:nvPr/>
        </p:nvSpPr>
        <p:spPr>
          <a:xfrm>
            <a:off x="1381758" y="281616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1A9586-71B5-4989-85A8-435F1C2230D3}"/>
              </a:ext>
            </a:extLst>
          </p:cNvPr>
          <p:cNvSpPr txBox="1"/>
          <p:nvPr/>
        </p:nvSpPr>
        <p:spPr>
          <a:xfrm>
            <a:off x="1381758" y="1603498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D166E77-EA8E-4995-9830-845773B033C4}"/>
              </a:ext>
            </a:extLst>
          </p:cNvPr>
          <p:cNvSpPr txBox="1"/>
          <p:nvPr/>
        </p:nvSpPr>
        <p:spPr>
          <a:xfrm>
            <a:off x="1381757" y="3940360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90FFEDE-28A4-44CB-B4DD-7939A501405B}"/>
              </a:ext>
            </a:extLst>
          </p:cNvPr>
          <p:cNvSpPr txBox="1"/>
          <p:nvPr/>
        </p:nvSpPr>
        <p:spPr>
          <a:xfrm>
            <a:off x="2514088" y="5137832"/>
            <a:ext cx="814943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Integrar a solução a uma arquitetura composta por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API em </a:t>
            </a:r>
            <a:r>
              <a:rPr lang="pt-BR" sz="1500" b="1" dirty="0" err="1">
                <a:solidFill>
                  <a:schemeClr val="bg1"/>
                </a:solidFill>
                <a:latin typeface="Lato" panose="020F0502020204030203" pitchFamily="34" charset="0"/>
              </a:rPr>
              <a:t>FastAPI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armazenamento em nuvem, dashboards interativos desenvolvidos em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Power BI / </a:t>
            </a:r>
            <a:r>
              <a:rPr lang="pt-BR" sz="1500" b="1" dirty="0" err="1">
                <a:solidFill>
                  <a:schemeClr val="bg1"/>
                </a:solidFill>
                <a:latin typeface="Lato" panose="020F0502020204030203" pitchFamily="34" charset="0"/>
              </a:rPr>
              <a:t>Streamlit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 / Dash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, e um motor preditivo central para entregar uma visão </a:t>
            </a:r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</a:rPr>
              <a:t>completa, atualizada e transparente</a:t>
            </a:r>
            <a:r>
              <a:rPr lang="pt-BR" sz="1500" dirty="0">
                <a:solidFill>
                  <a:schemeClr val="bg1"/>
                </a:solidFill>
                <a:latin typeface="Lato" panose="020F0502020204030203" pitchFamily="34" charset="0"/>
              </a:rPr>
              <a:t> do risco da carteira em tempo real.</a:t>
            </a:r>
            <a:endParaRPr lang="pt-BR" sz="1500" b="0" dirty="0">
              <a:solidFill>
                <a:schemeClr val="bg1"/>
              </a:solidFill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794D5B-33B4-4926-B74F-97B1FCED6308}"/>
              </a:ext>
            </a:extLst>
          </p:cNvPr>
          <p:cNvSpPr txBox="1"/>
          <p:nvPr/>
        </p:nvSpPr>
        <p:spPr>
          <a:xfrm>
            <a:off x="1381757" y="506088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95587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IMPACTOS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2ECCFB53-D531-4DA1-BE8D-1BC21DB22B1F}"/>
              </a:ext>
            </a:extLst>
          </p:cNvPr>
          <p:cNvSpPr txBox="1"/>
          <p:nvPr/>
        </p:nvSpPr>
        <p:spPr>
          <a:xfrm>
            <a:off x="2415449" y="2280358"/>
            <a:ext cx="8049687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Inteligência Estrutural para a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Núclea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Posiciona a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Núclea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como um provedor </a:t>
            </a:r>
            <a:r>
              <a:rPr lang="pt-BR" sz="1500" b="0" i="1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premium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de inteligência para o mercado de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FIDCs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, convertendo seu vasto volume de dados transacionais em análises de risco estrutural (rating e stress </a:t>
            </a:r>
            <a:r>
              <a:rPr lang="pt-BR" sz="1500" b="0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testing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) que faltam no mercado.</a:t>
            </a:r>
            <a:endParaRPr lang="pt-BR" sz="1500" b="0" dirty="0">
              <a:effectLst/>
              <a:latin typeface="Lato" panose="020F0502020204030203" pitchFamily="34" charset="0"/>
              <a:ea typeface="Lato" panose="020F050202020403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04455AE-607E-4265-8D3E-89D54FE8B3F3}"/>
              </a:ext>
            </a:extLst>
          </p:cNvPr>
          <p:cNvSpPr txBox="1"/>
          <p:nvPr/>
        </p:nvSpPr>
        <p:spPr>
          <a:xfrm>
            <a:off x="2415449" y="4048460"/>
            <a:ext cx="8928612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 rtl="0">
              <a:spcBef>
                <a:spcPts val="0"/>
              </a:spcBef>
              <a:spcAft>
                <a:spcPts val="160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Melhoria no </a:t>
            </a:r>
            <a:r>
              <a:rPr lang="pt-BR" sz="1500" b="1" i="1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Underwriting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de </a:t>
            </a:r>
            <a:r>
              <a:rPr lang="pt-BR" sz="1500" b="1" i="0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FIDCs</a:t>
            </a: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: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Reduz drasticamente o tempo de </a:t>
            </a:r>
            <a:r>
              <a:rPr lang="pt-BR" sz="1500" b="0" i="1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due</a:t>
            </a:r>
            <a:r>
              <a:rPr lang="pt-BR" sz="1500" b="0" i="1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</a:t>
            </a:r>
            <a:r>
              <a:rPr lang="pt-BR" sz="1500" b="0" i="1" u="none" strike="noStrike" dirty="0" err="1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diligence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Lato"/>
                <a:cs typeface="Segoe UI"/>
              </a:rPr>
              <a:t> e o risco operacional associado à análise manual de elegibilidade e risco do lastro, tornando o processo de originação de ativos mais ágil e seguro para gestores e administradores.</a:t>
            </a:r>
            <a:endParaRPr lang="pt-BR" sz="1500" b="0" dirty="0">
              <a:effectLst/>
              <a:latin typeface="Lato"/>
              <a:ea typeface="Lato"/>
              <a:cs typeface="Segoe UI"/>
            </a:endParaRPr>
          </a:p>
        </p:txBody>
      </p:sp>
      <p:sp>
        <p:nvSpPr>
          <p:cNvPr id="25" name="AutoShape 2" descr="Avaliar Vetor De ícone De Linha PNG , Avaliar ícone, Avaliar, Contexto  Imagem PNG e Vetor Para Download Gratuito">
            <a:extLst>
              <a:ext uri="{FF2B5EF4-FFF2-40B4-BE49-F238E27FC236}">
                <a16:creationId xmlns:a16="http://schemas.microsoft.com/office/drawing/2014/main" id="{0814D594-65FB-4B7F-B099-987F07BFB8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4961" y="421293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endParaRPr lang="pt-BR">
              <a:latin typeface="Lato" panose="020F0502020204030203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7887AB-06FE-4386-8F79-B9264157D3BC}"/>
              </a:ext>
            </a:extLst>
          </p:cNvPr>
          <p:cNvSpPr txBox="1"/>
          <p:nvPr/>
        </p:nvSpPr>
        <p:spPr>
          <a:xfrm>
            <a:off x="1341978" y="397151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E6CB5BE-FAD9-4409-9CA0-E59AE2BDF26D}"/>
              </a:ext>
            </a:extLst>
          </p:cNvPr>
          <p:cNvSpPr txBox="1"/>
          <p:nvPr/>
        </p:nvSpPr>
        <p:spPr>
          <a:xfrm>
            <a:off x="1341978" y="220341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15B322-FE5A-4BF8-9A25-901020C2E95A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056856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363426B4-61E1-457E-A551-D6271DEDFEED}"/>
              </a:ext>
            </a:extLst>
          </p:cNvPr>
          <p:cNvSpPr txBox="1"/>
          <p:nvPr/>
        </p:nvSpPr>
        <p:spPr>
          <a:xfrm>
            <a:off x="2415449" y="332921"/>
            <a:ext cx="7361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BENEFÍCIOS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A78CFF5-A941-411D-B544-6D66176FC6A8}"/>
              </a:ext>
            </a:extLst>
          </p:cNvPr>
          <p:cNvSpPr txBox="1"/>
          <p:nvPr/>
        </p:nvSpPr>
        <p:spPr>
          <a:xfrm>
            <a:off x="1975309" y="1959362"/>
            <a:ext cx="944521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Potencial de Otimização do Retorno em até 1,5% a.a.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Precificação mais acurada do risco permite que o Fundo obtenha melhor retorno sem aumentar indevidamente a exposição, otimizando a margem de lucro em até 1,5% a.a..</a:t>
            </a:r>
            <a:endParaRPr lang="pt-BR" sz="1500" dirty="0">
              <a:latin typeface="Lato"/>
              <a:ea typeface="+mn-lt"/>
              <a:cs typeface="+mn-lt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CCA8D025-F101-4BF7-B714-AFBCDA31AA2B}"/>
              </a:ext>
            </a:extLst>
          </p:cNvPr>
          <p:cNvSpPr txBox="1"/>
          <p:nvPr/>
        </p:nvSpPr>
        <p:spPr>
          <a:xfrm>
            <a:off x="1975309" y="3085768"/>
            <a:ext cx="9445213" cy="55399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Meta de Redução do Risco de Crédito em 30%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Monitoramento em tempo real permite a ação preventiva antes do </a:t>
            </a:r>
            <a:r>
              <a:rPr lang="pt-BR" sz="1500" i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default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 do devedor, protegendo a cota sênior e buscando a redução do risco inesperado em 30%.</a:t>
            </a:r>
            <a:endParaRPr lang="pt-BR" dirty="0">
              <a:latin typeface="Lato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DD246C1-C352-427A-8CA2-0905939AE563}"/>
              </a:ext>
            </a:extLst>
          </p:cNvPr>
          <p:cNvSpPr txBox="1"/>
          <p:nvPr/>
        </p:nvSpPr>
        <p:spPr>
          <a:xfrm>
            <a:off x="1993862" y="4047997"/>
            <a:ext cx="944521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Aceleração da Análise de Ativos em até 95%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Analisar milhares de operações em segundos, eliminando erros de modelos legados (Excel) e 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acelerando a captação de novos ativos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 em até 95%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 através de automação de processos.</a:t>
            </a:r>
            <a:endParaRPr lang="pt-BR" dirty="0">
              <a:latin typeface="Lato"/>
              <a:ea typeface="+mn-lt"/>
              <a:cs typeface="+mn-lt"/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8DE8D62A-2777-408A-9183-E406DFBBA18D}"/>
              </a:ext>
            </a:extLst>
          </p:cNvPr>
          <p:cNvSpPr txBox="1"/>
          <p:nvPr/>
        </p:nvSpPr>
        <p:spPr>
          <a:xfrm>
            <a:off x="1993862" y="5114075"/>
            <a:ext cx="9445213" cy="7848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spcAft>
                <a:spcPts val="1600"/>
              </a:spcAft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Redução de Custos Operacionais em até 20%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: </a:t>
            </a:r>
            <a:r>
              <a:rPr lang="pt-BR" sz="1500" b="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Maior rastreabilidade e validação automatizada da elegibilidade dos recebíveis, 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facilitando a auditoria e o relacionamento com a CVM com suporte ao </a:t>
            </a:r>
            <a:r>
              <a:rPr lang="pt-BR" sz="1500" i="1" u="none" strike="noStrike" dirty="0" err="1">
                <a:solidFill>
                  <a:srgbClr val="FFFFFF"/>
                </a:solidFill>
                <a:effectLst/>
                <a:latin typeface="Lato"/>
                <a:ea typeface="+mn-lt"/>
                <a:cs typeface="+mn-lt"/>
              </a:rPr>
              <a:t>compliance</a:t>
            </a:r>
            <a:r>
              <a:rPr lang="pt-BR" sz="1500" dirty="0">
                <a:solidFill>
                  <a:srgbClr val="FFFFFF"/>
                </a:solidFill>
                <a:latin typeface="Lato"/>
                <a:ea typeface="+mn-lt"/>
                <a:cs typeface="+mn-lt"/>
              </a:rPr>
              <a:t> e reduzindo custos operacionais em até 20%.</a:t>
            </a:r>
            <a:endParaRPr lang="pt-BR" dirty="0">
              <a:latin typeface="Lato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A6B8E7E-E2EB-478E-B291-F8128B1582AA}"/>
              </a:ext>
            </a:extLst>
          </p:cNvPr>
          <p:cNvSpPr txBox="1"/>
          <p:nvPr/>
        </p:nvSpPr>
        <p:spPr>
          <a:xfrm>
            <a:off x="966212" y="1855141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D5718A4-500F-4D05-AA1F-ADCC04811A1A}"/>
              </a:ext>
            </a:extLst>
          </p:cNvPr>
          <p:cNvSpPr txBox="1"/>
          <p:nvPr/>
        </p:nvSpPr>
        <p:spPr>
          <a:xfrm>
            <a:off x="966212" y="2883325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3639F91-8E83-403A-882A-62DD21A18ACB}"/>
              </a:ext>
            </a:extLst>
          </p:cNvPr>
          <p:cNvSpPr txBox="1"/>
          <p:nvPr/>
        </p:nvSpPr>
        <p:spPr>
          <a:xfrm>
            <a:off x="966211" y="3971052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A1E2FF9-56CA-4083-9653-2AF192D531FB}"/>
              </a:ext>
            </a:extLst>
          </p:cNvPr>
          <p:cNvSpPr txBox="1"/>
          <p:nvPr/>
        </p:nvSpPr>
        <p:spPr>
          <a:xfrm>
            <a:off x="966214" y="4960186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0D8608EA-F51E-4BA3-BBFF-BB59DC6F55D5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</p:spTree>
    <p:extLst>
      <p:ext uri="{BB962C8B-B14F-4D97-AF65-F5344CB8AC3E}">
        <p14:creationId xmlns:p14="http://schemas.microsoft.com/office/powerpoint/2010/main" val="1529281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COMPARAÇÃO COM OS CONCORRENTES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D748A6-1EF3-4264-A873-ADFB3E75FEC3}"/>
              </a:ext>
            </a:extLst>
          </p:cNvPr>
          <p:cNvSpPr txBox="1"/>
          <p:nvPr/>
        </p:nvSpPr>
        <p:spPr>
          <a:xfrm>
            <a:off x="764400" y="2703059"/>
            <a:ext cx="10663200" cy="3693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O mercado brasileiro conta com empresas fortes em dados,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analytics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e crédito, mas a maioria delas atua de forma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ampla e genérica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focada em scores tradicionais, big data corporativo ou plataformas operacionais. Embora ofereçam soluções consolidadas,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nenhuma delas é especializada em análise preditiva estrutural para </a:t>
            </a:r>
            <a:r>
              <a:rPr lang="pt-BR" b="1" dirty="0" err="1">
                <a:solidFill>
                  <a:schemeClr val="bg1"/>
                </a:solidFill>
                <a:latin typeface="Lato" panose="020F0502020204030203" pitchFamily="34" charset="0"/>
              </a:rPr>
              <a:t>FIDCs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nem modela risco com granularidade por espécie de título, região, comportamento histórico ou impacto sobre o </a:t>
            </a:r>
            <a:r>
              <a:rPr lang="pt-BR" i="1" dirty="0">
                <a:solidFill>
                  <a:schemeClr val="bg1"/>
                </a:solidFill>
                <a:latin typeface="Lato" panose="020F0502020204030203" pitchFamily="34" charset="0"/>
              </a:rPr>
              <a:t>rating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 da cota — exatamente o espaço onde o PRISMA se diferencia.</a:t>
            </a:r>
          </a:p>
        </p:txBody>
      </p:sp>
    </p:spTree>
    <p:extLst>
      <p:ext uri="{BB962C8B-B14F-4D97-AF65-F5344CB8AC3E}">
        <p14:creationId xmlns:p14="http://schemas.microsoft.com/office/powerpoint/2010/main" val="2940914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05F0EC96-1B56-4B7F-8ABC-A007CF1D3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519546"/>
              </p:ext>
            </p:extLst>
          </p:nvPr>
        </p:nvGraphicFramePr>
        <p:xfrm>
          <a:off x="-2" y="0"/>
          <a:ext cx="12192000" cy="686326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44896255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825974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83865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493344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962137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968436516"/>
                    </a:ext>
                  </a:extLst>
                </a:gridCol>
              </a:tblGrid>
              <a:tr h="972273">
                <a:tc>
                  <a:txBody>
                    <a:bodyPr/>
                    <a:lstStyle/>
                    <a:p>
                      <a:pPr algn="ctr"/>
                      <a:endParaRPr lang="pt-BR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Característica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Serasa </a:t>
                      </a:r>
                      <a:r>
                        <a:rPr lang="pt-BR" sz="1600" b="1" kern="1200" dirty="0" err="1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Experian</a:t>
                      </a:r>
                      <a:r>
                        <a:rPr lang="pt-BR" sz="1600" b="1" kern="1200" dirty="0">
                          <a:solidFill>
                            <a:schemeClr val="lt1"/>
                          </a:solidFill>
                          <a:latin typeface="Lato" panose="020F0502020204030203" pitchFamily="34" charset="0"/>
                          <a:ea typeface="+mn-ea"/>
                          <a:cs typeface="+mn-cs"/>
                        </a:rPr>
                        <a:t>(Concorrência Tradicional)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 err="1">
                          <a:latin typeface="Lato" panose="020F0502020204030203" pitchFamily="34" charset="0"/>
                        </a:rPr>
                        <a:t>Neoway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(B3) (Concorrência Tecnológica)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  <a:p>
                      <a:pPr algn="ctr"/>
                      <a:r>
                        <a:rPr lang="pt-BR" sz="1600" dirty="0" err="1"/>
                        <a:t>Neurotech</a:t>
                      </a:r>
                      <a:r>
                        <a:rPr lang="pt-BR" sz="1600" dirty="0"/>
                        <a:t> (IA / </a:t>
                      </a:r>
                      <a:r>
                        <a:rPr lang="pt-BR" sz="1600" dirty="0" err="1"/>
                        <a:t>Analytics</a:t>
                      </a:r>
                      <a:r>
                        <a:rPr lang="pt-BR" sz="1600" dirty="0"/>
                        <a:t>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Lato" panose="020F0502020204030203" pitchFamily="34" charset="0"/>
                      </a:endParaRPr>
                    </a:p>
                    <a:p>
                      <a:pPr algn="ctr"/>
                      <a:r>
                        <a:rPr lang="pt-BR" sz="1600" dirty="0" err="1">
                          <a:latin typeface="Lato" panose="020F0502020204030203" pitchFamily="34" charset="0"/>
                        </a:rPr>
                        <a:t>SIACorp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(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Akrual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) (ERP de FIDC)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>
                        <a:latin typeface="Lato" panose="020F0502020204030203" pitchFamily="34" charset="0"/>
                      </a:endParaRPr>
                    </a:p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PRISMA (Solução da 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Núclea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)</a:t>
                      </a:r>
                    </a:p>
                  </a:txBody>
                  <a:tcPr>
                    <a:solidFill>
                      <a:srgbClr val="4CBF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0073746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Mitiga Assimetria / Seleção Adversa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869176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Base de Dados Transacionais / 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3315040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Análise Preditiva Estrutural (IA / 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371397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Modelos Específicos para FIDC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963191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Monitoramento de Risco em Tempo Real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606889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Agilidade na Análise de Milhares de Ativos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4867678"/>
                  </a:ext>
                </a:extLst>
              </a:tr>
              <a:tr h="84157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latin typeface="Lato" panose="020F0502020204030203" pitchFamily="34" charset="0"/>
                        </a:rPr>
                        <a:t>Previsibilidade de Rating da Cota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201147"/>
                  </a:ext>
                </a:extLst>
              </a:tr>
            </a:tbl>
          </a:graphicData>
        </a:graphic>
      </p:graphicFrame>
      <p:sp>
        <p:nvSpPr>
          <p:cNvPr id="10" name="Gráfico 5" descr="Marca de seleção com preenchimento sólido">
            <a:extLst>
              <a:ext uri="{FF2B5EF4-FFF2-40B4-BE49-F238E27FC236}">
                <a16:creationId xmlns:a16="http://schemas.microsoft.com/office/drawing/2014/main" id="{F307C1D3-4338-4C07-85DD-CC30A237DA5F}"/>
              </a:ext>
            </a:extLst>
          </p:cNvPr>
          <p:cNvSpPr/>
          <p:nvPr/>
        </p:nvSpPr>
        <p:spPr>
          <a:xfrm>
            <a:off x="2806800" y="2037490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9" name="Gráfico 7" descr="Fechar com preenchimento sólido">
            <a:extLst>
              <a:ext uri="{FF2B5EF4-FFF2-40B4-BE49-F238E27FC236}">
                <a16:creationId xmlns:a16="http://schemas.microsoft.com/office/drawing/2014/main" id="{ED049682-4FD0-4FE0-9FEA-FBEC69B487CD}"/>
              </a:ext>
            </a:extLst>
          </p:cNvPr>
          <p:cNvSpPr/>
          <p:nvPr/>
        </p:nvSpPr>
        <p:spPr>
          <a:xfrm>
            <a:off x="2806800" y="1193095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1" name="Gráfico 7" descr="Fechar com preenchimento sólido">
            <a:extLst>
              <a:ext uri="{FF2B5EF4-FFF2-40B4-BE49-F238E27FC236}">
                <a16:creationId xmlns:a16="http://schemas.microsoft.com/office/drawing/2014/main" id="{8DD69732-685A-4D8A-B033-147AA3923890}"/>
              </a:ext>
            </a:extLst>
          </p:cNvPr>
          <p:cNvSpPr/>
          <p:nvPr/>
        </p:nvSpPr>
        <p:spPr>
          <a:xfrm>
            <a:off x="2809600" y="2881148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2" name="Gráfico 7" descr="Fechar com preenchimento sólido">
            <a:extLst>
              <a:ext uri="{FF2B5EF4-FFF2-40B4-BE49-F238E27FC236}">
                <a16:creationId xmlns:a16="http://schemas.microsoft.com/office/drawing/2014/main" id="{735EFDEF-3982-4FA2-94AA-6583F0B696EB}"/>
              </a:ext>
            </a:extLst>
          </p:cNvPr>
          <p:cNvSpPr/>
          <p:nvPr/>
        </p:nvSpPr>
        <p:spPr>
          <a:xfrm>
            <a:off x="2809600" y="3724806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3" name="Gráfico 7" descr="Fechar com preenchimento sólido">
            <a:extLst>
              <a:ext uri="{FF2B5EF4-FFF2-40B4-BE49-F238E27FC236}">
                <a16:creationId xmlns:a16="http://schemas.microsoft.com/office/drawing/2014/main" id="{0034C4AE-DE5C-45DE-A206-778B6B907741}"/>
              </a:ext>
            </a:extLst>
          </p:cNvPr>
          <p:cNvSpPr/>
          <p:nvPr/>
        </p:nvSpPr>
        <p:spPr>
          <a:xfrm>
            <a:off x="2806800" y="4568464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4" name="Gráfico 7" descr="Fechar com preenchimento sólido">
            <a:extLst>
              <a:ext uri="{FF2B5EF4-FFF2-40B4-BE49-F238E27FC236}">
                <a16:creationId xmlns:a16="http://schemas.microsoft.com/office/drawing/2014/main" id="{48300026-1FE3-4DD0-8E8E-106874E32875}"/>
              </a:ext>
            </a:extLst>
          </p:cNvPr>
          <p:cNvSpPr/>
          <p:nvPr/>
        </p:nvSpPr>
        <p:spPr>
          <a:xfrm>
            <a:off x="2806800" y="5412122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5" name="Gráfico 7" descr="Fechar com preenchimento sólido">
            <a:extLst>
              <a:ext uri="{FF2B5EF4-FFF2-40B4-BE49-F238E27FC236}">
                <a16:creationId xmlns:a16="http://schemas.microsoft.com/office/drawing/2014/main" id="{A8133130-6072-4DDD-99DB-746B03DA0EE9}"/>
              </a:ext>
            </a:extLst>
          </p:cNvPr>
          <p:cNvSpPr/>
          <p:nvPr/>
        </p:nvSpPr>
        <p:spPr>
          <a:xfrm>
            <a:off x="2806800" y="6255780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6" name="Gráfico 7" descr="Fechar com preenchimento sólido">
            <a:extLst>
              <a:ext uri="{FF2B5EF4-FFF2-40B4-BE49-F238E27FC236}">
                <a16:creationId xmlns:a16="http://schemas.microsoft.com/office/drawing/2014/main" id="{0238E997-C7F8-43CE-A8ED-E2290E59EDC9}"/>
              </a:ext>
            </a:extLst>
          </p:cNvPr>
          <p:cNvSpPr/>
          <p:nvPr/>
        </p:nvSpPr>
        <p:spPr>
          <a:xfrm>
            <a:off x="4880597" y="6255780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7" name="Gráfico 7" descr="Fechar com preenchimento sólido">
            <a:extLst>
              <a:ext uri="{FF2B5EF4-FFF2-40B4-BE49-F238E27FC236}">
                <a16:creationId xmlns:a16="http://schemas.microsoft.com/office/drawing/2014/main" id="{054019D6-8897-44FA-80D9-C7ED5090F4E8}"/>
              </a:ext>
            </a:extLst>
          </p:cNvPr>
          <p:cNvSpPr/>
          <p:nvPr/>
        </p:nvSpPr>
        <p:spPr>
          <a:xfrm>
            <a:off x="4880597" y="1203755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18" name="Gráfico 5" descr="Marca de seleção com preenchimento sólido">
            <a:extLst>
              <a:ext uri="{FF2B5EF4-FFF2-40B4-BE49-F238E27FC236}">
                <a16:creationId xmlns:a16="http://schemas.microsoft.com/office/drawing/2014/main" id="{C819A16E-7819-4A5E-A591-AB65E6B26702}"/>
              </a:ext>
            </a:extLst>
          </p:cNvPr>
          <p:cNvSpPr/>
          <p:nvPr/>
        </p:nvSpPr>
        <p:spPr>
          <a:xfrm>
            <a:off x="4880597" y="205128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9" name="Gráfico 5" descr="Marca de seleção com preenchimento sólido">
            <a:extLst>
              <a:ext uri="{FF2B5EF4-FFF2-40B4-BE49-F238E27FC236}">
                <a16:creationId xmlns:a16="http://schemas.microsoft.com/office/drawing/2014/main" id="{317520FA-41FC-4A50-8EA7-58CA787FDB13}"/>
              </a:ext>
            </a:extLst>
          </p:cNvPr>
          <p:cNvSpPr/>
          <p:nvPr/>
        </p:nvSpPr>
        <p:spPr>
          <a:xfrm>
            <a:off x="4880597" y="5393463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0" name="Gráfico 5" descr="Marca de seleção com preenchimento sólido">
            <a:extLst>
              <a:ext uri="{FF2B5EF4-FFF2-40B4-BE49-F238E27FC236}">
                <a16:creationId xmlns:a16="http://schemas.microsoft.com/office/drawing/2014/main" id="{F1DEF9F5-0B15-4A25-8DB1-2180943CDF7C}"/>
              </a:ext>
            </a:extLst>
          </p:cNvPr>
          <p:cNvSpPr/>
          <p:nvPr/>
        </p:nvSpPr>
        <p:spPr>
          <a:xfrm>
            <a:off x="4880597" y="4531147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1" name="Gráfico 7" descr="Fechar com preenchimento sólido">
            <a:extLst>
              <a:ext uri="{FF2B5EF4-FFF2-40B4-BE49-F238E27FC236}">
                <a16:creationId xmlns:a16="http://schemas.microsoft.com/office/drawing/2014/main" id="{9038F445-BC8C-41CB-BAD9-619C3CA25D5B}"/>
              </a:ext>
            </a:extLst>
          </p:cNvPr>
          <p:cNvSpPr/>
          <p:nvPr/>
        </p:nvSpPr>
        <p:spPr>
          <a:xfrm>
            <a:off x="4892327" y="2865671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2" name="Gráfico 7" descr="Fechar com preenchimento sólido">
            <a:extLst>
              <a:ext uri="{FF2B5EF4-FFF2-40B4-BE49-F238E27FC236}">
                <a16:creationId xmlns:a16="http://schemas.microsoft.com/office/drawing/2014/main" id="{ABFC631D-A684-4A34-B55B-C66844F9AE35}"/>
              </a:ext>
            </a:extLst>
          </p:cNvPr>
          <p:cNvSpPr/>
          <p:nvPr/>
        </p:nvSpPr>
        <p:spPr>
          <a:xfrm>
            <a:off x="4880597" y="3712464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3" name="Gráfico 7" descr="Fechar com preenchimento sólido">
            <a:extLst>
              <a:ext uri="{FF2B5EF4-FFF2-40B4-BE49-F238E27FC236}">
                <a16:creationId xmlns:a16="http://schemas.microsoft.com/office/drawing/2014/main" id="{FCCDB785-49A7-4AB3-8C54-AF218176BB3F}"/>
              </a:ext>
            </a:extLst>
          </p:cNvPr>
          <p:cNvSpPr/>
          <p:nvPr/>
        </p:nvSpPr>
        <p:spPr>
          <a:xfrm>
            <a:off x="6965805" y="1193437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4" name="Gráfico 5" descr="Marca de seleção com preenchimento sólido">
            <a:extLst>
              <a:ext uri="{FF2B5EF4-FFF2-40B4-BE49-F238E27FC236}">
                <a16:creationId xmlns:a16="http://schemas.microsoft.com/office/drawing/2014/main" id="{C44ED3FA-27E6-4F67-83B6-9FBE2C445297}"/>
              </a:ext>
            </a:extLst>
          </p:cNvPr>
          <p:cNvSpPr/>
          <p:nvPr/>
        </p:nvSpPr>
        <p:spPr>
          <a:xfrm>
            <a:off x="6954394" y="2071656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25" name="Gráfico 5" descr="Marca de seleção com preenchimento sólido">
            <a:extLst>
              <a:ext uri="{FF2B5EF4-FFF2-40B4-BE49-F238E27FC236}">
                <a16:creationId xmlns:a16="http://schemas.microsoft.com/office/drawing/2014/main" id="{48ABD6B3-5D75-46DE-92FB-D64983C7B90F}"/>
              </a:ext>
            </a:extLst>
          </p:cNvPr>
          <p:cNvSpPr/>
          <p:nvPr/>
        </p:nvSpPr>
        <p:spPr>
          <a:xfrm>
            <a:off x="6965805" y="2881884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6" name="Gráfico 7" descr="Fechar com preenchimento sólido">
            <a:extLst>
              <a:ext uri="{FF2B5EF4-FFF2-40B4-BE49-F238E27FC236}">
                <a16:creationId xmlns:a16="http://schemas.microsoft.com/office/drawing/2014/main" id="{E8550D2E-8C68-401B-AD61-0BE2280F0C58}"/>
              </a:ext>
            </a:extLst>
          </p:cNvPr>
          <p:cNvSpPr/>
          <p:nvPr/>
        </p:nvSpPr>
        <p:spPr>
          <a:xfrm>
            <a:off x="6946034" y="3724806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7" name="Gráfico 5" descr="Marca de seleção com preenchimento sólido">
            <a:extLst>
              <a:ext uri="{FF2B5EF4-FFF2-40B4-BE49-F238E27FC236}">
                <a16:creationId xmlns:a16="http://schemas.microsoft.com/office/drawing/2014/main" id="{2BAD4B37-E8F2-43CF-AFF6-C17A358BFB5F}"/>
              </a:ext>
            </a:extLst>
          </p:cNvPr>
          <p:cNvSpPr/>
          <p:nvPr/>
        </p:nvSpPr>
        <p:spPr>
          <a:xfrm>
            <a:off x="6946034" y="4569201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8" name="Gráfico 5" descr="Marca de seleção com preenchimento sólido">
            <a:extLst>
              <a:ext uri="{FF2B5EF4-FFF2-40B4-BE49-F238E27FC236}">
                <a16:creationId xmlns:a16="http://schemas.microsoft.com/office/drawing/2014/main" id="{BDDEF78B-484A-4B31-8E5E-B2440EFB0E80}"/>
              </a:ext>
            </a:extLst>
          </p:cNvPr>
          <p:cNvSpPr/>
          <p:nvPr/>
        </p:nvSpPr>
        <p:spPr>
          <a:xfrm>
            <a:off x="6916532" y="542095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29" name="Gráfico 7" descr="Fechar com preenchimento sólido">
            <a:extLst>
              <a:ext uri="{FF2B5EF4-FFF2-40B4-BE49-F238E27FC236}">
                <a16:creationId xmlns:a16="http://schemas.microsoft.com/office/drawing/2014/main" id="{2C7A88D3-245A-4AC7-B78C-E2286E5246F3}"/>
              </a:ext>
            </a:extLst>
          </p:cNvPr>
          <p:cNvSpPr/>
          <p:nvPr/>
        </p:nvSpPr>
        <p:spPr>
          <a:xfrm>
            <a:off x="6928899" y="6264614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0" name="Gráfico 7" descr="Fechar com preenchimento sólido">
            <a:extLst>
              <a:ext uri="{FF2B5EF4-FFF2-40B4-BE49-F238E27FC236}">
                <a16:creationId xmlns:a16="http://schemas.microsoft.com/office/drawing/2014/main" id="{E935BB8D-D5B8-46AA-83FE-94D9362650AD}"/>
              </a:ext>
            </a:extLst>
          </p:cNvPr>
          <p:cNvSpPr/>
          <p:nvPr/>
        </p:nvSpPr>
        <p:spPr>
          <a:xfrm>
            <a:off x="8878213" y="1193095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1" name="Gráfico 5" descr="Marca de seleção com preenchimento sólido">
            <a:extLst>
              <a:ext uri="{FF2B5EF4-FFF2-40B4-BE49-F238E27FC236}">
                <a16:creationId xmlns:a16="http://schemas.microsoft.com/office/drawing/2014/main" id="{60915F7A-EA99-41B9-B181-8FF8E9579B0E}"/>
              </a:ext>
            </a:extLst>
          </p:cNvPr>
          <p:cNvSpPr/>
          <p:nvPr/>
        </p:nvSpPr>
        <p:spPr>
          <a:xfrm>
            <a:off x="8855391" y="205128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32" name="Gráfico 7" descr="Fechar com preenchimento sólido">
            <a:extLst>
              <a:ext uri="{FF2B5EF4-FFF2-40B4-BE49-F238E27FC236}">
                <a16:creationId xmlns:a16="http://schemas.microsoft.com/office/drawing/2014/main" id="{D5B37FEE-745D-4C4F-8503-0BEF4EDFFEF6}"/>
              </a:ext>
            </a:extLst>
          </p:cNvPr>
          <p:cNvSpPr/>
          <p:nvPr/>
        </p:nvSpPr>
        <p:spPr>
          <a:xfrm>
            <a:off x="8854974" y="2881146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3" name="Gráfico 7" descr="Fechar com preenchimento sólido">
            <a:extLst>
              <a:ext uri="{FF2B5EF4-FFF2-40B4-BE49-F238E27FC236}">
                <a16:creationId xmlns:a16="http://schemas.microsoft.com/office/drawing/2014/main" id="{AA36A769-6930-444C-9F49-79B5D78C87B0}"/>
              </a:ext>
            </a:extLst>
          </p:cNvPr>
          <p:cNvSpPr/>
          <p:nvPr/>
        </p:nvSpPr>
        <p:spPr>
          <a:xfrm>
            <a:off x="8878213" y="6255779"/>
            <a:ext cx="345600" cy="346337"/>
          </a:xfrm>
          <a:custGeom>
            <a:avLst/>
            <a:gdLst>
              <a:gd name="connsiteX0" fmla="*/ 674370 w 674370"/>
              <a:gd name="connsiteY0" fmla="*/ 80963 h 674370"/>
              <a:gd name="connsiteX1" fmla="*/ 593408 w 674370"/>
              <a:gd name="connsiteY1" fmla="*/ 0 h 674370"/>
              <a:gd name="connsiteX2" fmla="*/ 337185 w 674370"/>
              <a:gd name="connsiteY2" fmla="*/ 256223 h 674370"/>
              <a:gd name="connsiteX3" fmla="*/ 80963 w 674370"/>
              <a:gd name="connsiteY3" fmla="*/ 0 h 674370"/>
              <a:gd name="connsiteX4" fmla="*/ 0 w 674370"/>
              <a:gd name="connsiteY4" fmla="*/ 80963 h 674370"/>
              <a:gd name="connsiteX5" fmla="*/ 256223 w 674370"/>
              <a:gd name="connsiteY5" fmla="*/ 337185 h 674370"/>
              <a:gd name="connsiteX6" fmla="*/ 0 w 674370"/>
              <a:gd name="connsiteY6" fmla="*/ 593408 h 674370"/>
              <a:gd name="connsiteX7" fmla="*/ 80963 w 674370"/>
              <a:gd name="connsiteY7" fmla="*/ 674370 h 674370"/>
              <a:gd name="connsiteX8" fmla="*/ 337185 w 674370"/>
              <a:gd name="connsiteY8" fmla="*/ 418148 h 674370"/>
              <a:gd name="connsiteX9" fmla="*/ 593408 w 674370"/>
              <a:gd name="connsiteY9" fmla="*/ 674370 h 674370"/>
              <a:gd name="connsiteX10" fmla="*/ 674370 w 674370"/>
              <a:gd name="connsiteY10" fmla="*/ 593408 h 674370"/>
              <a:gd name="connsiteX11" fmla="*/ 418148 w 674370"/>
              <a:gd name="connsiteY11" fmla="*/ 337185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74370" h="674370">
                <a:moveTo>
                  <a:pt x="674370" y="80963"/>
                </a:moveTo>
                <a:lnTo>
                  <a:pt x="593408" y="0"/>
                </a:lnTo>
                <a:lnTo>
                  <a:pt x="337185" y="256223"/>
                </a:lnTo>
                <a:lnTo>
                  <a:pt x="80963" y="0"/>
                </a:lnTo>
                <a:lnTo>
                  <a:pt x="0" y="80963"/>
                </a:lnTo>
                <a:lnTo>
                  <a:pt x="256223" y="337185"/>
                </a:lnTo>
                <a:lnTo>
                  <a:pt x="0" y="593408"/>
                </a:lnTo>
                <a:lnTo>
                  <a:pt x="80963" y="674370"/>
                </a:lnTo>
                <a:lnTo>
                  <a:pt x="337185" y="418148"/>
                </a:lnTo>
                <a:lnTo>
                  <a:pt x="593408" y="674370"/>
                </a:lnTo>
                <a:lnTo>
                  <a:pt x="674370" y="593408"/>
                </a:lnTo>
                <a:lnTo>
                  <a:pt x="418148" y="337185"/>
                </a:lnTo>
                <a:close/>
              </a:path>
            </a:pathLst>
          </a:custGeom>
          <a:solidFill>
            <a:srgbClr val="C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4" name="Gráfico 5" descr="Marca de seleção com preenchimento sólido">
            <a:extLst>
              <a:ext uri="{FF2B5EF4-FFF2-40B4-BE49-F238E27FC236}">
                <a16:creationId xmlns:a16="http://schemas.microsoft.com/office/drawing/2014/main" id="{400DC568-A8E9-443B-9D6B-7F486E1C6AB7}"/>
              </a:ext>
            </a:extLst>
          </p:cNvPr>
          <p:cNvSpPr/>
          <p:nvPr/>
        </p:nvSpPr>
        <p:spPr>
          <a:xfrm>
            <a:off x="8854974" y="5412122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5" name="Gráfico 5" descr="Marca de seleção com preenchimento sólido">
            <a:extLst>
              <a:ext uri="{FF2B5EF4-FFF2-40B4-BE49-F238E27FC236}">
                <a16:creationId xmlns:a16="http://schemas.microsoft.com/office/drawing/2014/main" id="{97AFD697-5783-42D3-BBB4-62544C2CB70C}"/>
              </a:ext>
            </a:extLst>
          </p:cNvPr>
          <p:cNvSpPr/>
          <p:nvPr/>
        </p:nvSpPr>
        <p:spPr>
          <a:xfrm>
            <a:off x="8878213" y="4569201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6" name="Gráfico 5" descr="Marca de seleção com preenchimento sólido">
            <a:extLst>
              <a:ext uri="{FF2B5EF4-FFF2-40B4-BE49-F238E27FC236}">
                <a16:creationId xmlns:a16="http://schemas.microsoft.com/office/drawing/2014/main" id="{2B5EB10A-FC37-4F44-9275-5ED5D8C1331F}"/>
              </a:ext>
            </a:extLst>
          </p:cNvPr>
          <p:cNvSpPr/>
          <p:nvPr/>
        </p:nvSpPr>
        <p:spPr>
          <a:xfrm>
            <a:off x="8878213" y="3725543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/>
          </a:p>
        </p:txBody>
      </p:sp>
      <p:sp>
        <p:nvSpPr>
          <p:cNvPr id="37" name="Gráfico 5" descr="Marca de seleção com preenchimento sólido">
            <a:extLst>
              <a:ext uri="{FF2B5EF4-FFF2-40B4-BE49-F238E27FC236}">
                <a16:creationId xmlns:a16="http://schemas.microsoft.com/office/drawing/2014/main" id="{E5AAC0B5-BD1A-45B6-8A4E-51327FF8A053}"/>
              </a:ext>
            </a:extLst>
          </p:cNvPr>
          <p:cNvSpPr/>
          <p:nvPr/>
        </p:nvSpPr>
        <p:spPr>
          <a:xfrm>
            <a:off x="10952010" y="119309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38" name="Gráfico 5" descr="Marca de seleção com preenchimento sólido">
            <a:extLst>
              <a:ext uri="{FF2B5EF4-FFF2-40B4-BE49-F238E27FC236}">
                <a16:creationId xmlns:a16="http://schemas.microsoft.com/office/drawing/2014/main" id="{9B9A36AA-F6FE-4704-9A28-F7BC15F1A7A1}"/>
              </a:ext>
            </a:extLst>
          </p:cNvPr>
          <p:cNvSpPr/>
          <p:nvPr/>
        </p:nvSpPr>
        <p:spPr>
          <a:xfrm>
            <a:off x="10964304" y="2071656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39" name="Gráfico 5" descr="Marca de seleção com preenchimento sólido">
            <a:extLst>
              <a:ext uri="{FF2B5EF4-FFF2-40B4-BE49-F238E27FC236}">
                <a16:creationId xmlns:a16="http://schemas.microsoft.com/office/drawing/2014/main" id="{51CB4270-17F6-42BD-B482-9BC156117F1A}"/>
              </a:ext>
            </a:extLst>
          </p:cNvPr>
          <p:cNvSpPr/>
          <p:nvPr/>
        </p:nvSpPr>
        <p:spPr>
          <a:xfrm>
            <a:off x="10964304" y="2938820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0" name="Gráfico 5" descr="Marca de seleção com preenchimento sólido">
            <a:extLst>
              <a:ext uri="{FF2B5EF4-FFF2-40B4-BE49-F238E27FC236}">
                <a16:creationId xmlns:a16="http://schemas.microsoft.com/office/drawing/2014/main" id="{BB2E1404-ABDC-47FF-B00B-B9A6CE368E30}"/>
              </a:ext>
            </a:extLst>
          </p:cNvPr>
          <p:cNvSpPr/>
          <p:nvPr/>
        </p:nvSpPr>
        <p:spPr>
          <a:xfrm>
            <a:off x="10964304" y="3725174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1" name="Gráfico 5" descr="Marca de seleção com preenchimento sólido">
            <a:extLst>
              <a:ext uri="{FF2B5EF4-FFF2-40B4-BE49-F238E27FC236}">
                <a16:creationId xmlns:a16="http://schemas.microsoft.com/office/drawing/2014/main" id="{EB55AD8A-A919-48CC-92BE-914F485F1C52}"/>
              </a:ext>
            </a:extLst>
          </p:cNvPr>
          <p:cNvSpPr/>
          <p:nvPr/>
        </p:nvSpPr>
        <p:spPr>
          <a:xfrm>
            <a:off x="10964304" y="4598460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8" name="Gráfico 5" descr="Marca de seleção com preenchimento sólido">
            <a:extLst>
              <a:ext uri="{FF2B5EF4-FFF2-40B4-BE49-F238E27FC236}">
                <a16:creationId xmlns:a16="http://schemas.microsoft.com/office/drawing/2014/main" id="{A0201032-A895-4CF1-AACF-0118D7229157}"/>
              </a:ext>
            </a:extLst>
          </p:cNvPr>
          <p:cNvSpPr/>
          <p:nvPr/>
        </p:nvSpPr>
        <p:spPr>
          <a:xfrm>
            <a:off x="10961302" y="5471746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49" name="Gráfico 5" descr="Marca de seleção com preenchimento sólido">
            <a:extLst>
              <a:ext uri="{FF2B5EF4-FFF2-40B4-BE49-F238E27FC236}">
                <a16:creationId xmlns:a16="http://schemas.microsoft.com/office/drawing/2014/main" id="{7C518C1F-0063-4F9D-BAC2-4AD8B2CDCE60}"/>
              </a:ext>
            </a:extLst>
          </p:cNvPr>
          <p:cNvSpPr/>
          <p:nvPr/>
        </p:nvSpPr>
        <p:spPr>
          <a:xfrm>
            <a:off x="10961302" y="6190928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50" name="Gráfico 5" descr="Marca de seleção com preenchimento sólido">
            <a:extLst>
              <a:ext uri="{FF2B5EF4-FFF2-40B4-BE49-F238E27FC236}">
                <a16:creationId xmlns:a16="http://schemas.microsoft.com/office/drawing/2014/main" id="{E81342D3-F98B-47BE-9419-5586B9D64B14}"/>
              </a:ext>
            </a:extLst>
          </p:cNvPr>
          <p:cNvSpPr/>
          <p:nvPr/>
        </p:nvSpPr>
        <p:spPr>
          <a:xfrm>
            <a:off x="10964304" y="5461585"/>
            <a:ext cx="345600" cy="345600"/>
          </a:xfrm>
          <a:custGeom>
            <a:avLst/>
            <a:gdLst>
              <a:gd name="connsiteX0" fmla="*/ 802958 w 880109"/>
              <a:gd name="connsiteY0" fmla="*/ 0 h 618172"/>
              <a:gd name="connsiteX1" fmla="*/ 315278 w 880109"/>
              <a:gd name="connsiteY1" fmla="*/ 461010 h 618172"/>
              <a:gd name="connsiteX2" fmla="*/ 80963 w 880109"/>
              <a:gd name="connsiteY2" fmla="*/ 220980 h 618172"/>
              <a:gd name="connsiteX3" fmla="*/ 0 w 880109"/>
              <a:gd name="connsiteY3" fmla="*/ 298132 h 618172"/>
              <a:gd name="connsiteX4" fmla="*/ 311468 w 880109"/>
              <a:gd name="connsiteY4" fmla="*/ 618173 h 618172"/>
              <a:gd name="connsiteX5" fmla="*/ 393383 w 880109"/>
              <a:gd name="connsiteY5" fmla="*/ 541973 h 618172"/>
              <a:gd name="connsiteX6" fmla="*/ 880110 w 880109"/>
              <a:gd name="connsiteY6" fmla="*/ 80010 h 61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109" h="618172">
                <a:moveTo>
                  <a:pt x="802958" y="0"/>
                </a:moveTo>
                <a:lnTo>
                  <a:pt x="315278" y="461010"/>
                </a:lnTo>
                <a:lnTo>
                  <a:pt x="80963" y="220980"/>
                </a:lnTo>
                <a:lnTo>
                  <a:pt x="0" y="298132"/>
                </a:lnTo>
                <a:lnTo>
                  <a:pt x="311468" y="618173"/>
                </a:lnTo>
                <a:lnTo>
                  <a:pt x="393383" y="541973"/>
                </a:lnTo>
                <a:lnTo>
                  <a:pt x="880110" y="8001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5711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43691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TECNOLOGIAS E COMPONENTES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3BFB63-6ECC-4045-9626-4B0296E9D36B}"/>
              </a:ext>
            </a:extLst>
          </p:cNvPr>
          <p:cNvSpPr txBox="1"/>
          <p:nvPr/>
        </p:nvSpPr>
        <p:spPr>
          <a:xfrm>
            <a:off x="1363427" y="2100587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01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E791B3-D72E-4925-B0F1-71023D90A0EA}"/>
              </a:ext>
            </a:extLst>
          </p:cNvPr>
          <p:cNvSpPr txBox="1"/>
          <p:nvPr/>
        </p:nvSpPr>
        <p:spPr>
          <a:xfrm>
            <a:off x="1363428" y="332029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02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141054-B253-4637-ADF9-2969B523618F}"/>
              </a:ext>
            </a:extLst>
          </p:cNvPr>
          <p:cNvSpPr txBox="1"/>
          <p:nvPr/>
        </p:nvSpPr>
        <p:spPr>
          <a:xfrm>
            <a:off x="1391285" y="4424583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03</a:t>
            </a:r>
          </a:p>
        </p:txBody>
      </p:sp>
      <p:sp>
        <p:nvSpPr>
          <p:cNvPr id="7" name="Google Shape;101;p14">
            <a:extLst>
              <a:ext uri="{FF2B5EF4-FFF2-40B4-BE49-F238E27FC236}">
                <a16:creationId xmlns:a16="http://schemas.microsoft.com/office/drawing/2014/main" id="{30E57BDB-E8C3-4F11-AB09-CFC0EDC2DA16}"/>
              </a:ext>
            </a:extLst>
          </p:cNvPr>
          <p:cNvSpPr txBox="1"/>
          <p:nvPr/>
        </p:nvSpPr>
        <p:spPr>
          <a:xfrm>
            <a:off x="2505060" y="2292896"/>
            <a:ext cx="9364962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Fontes de Dados: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Núclea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pt-BR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Bureaus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Externos: Dados transacionais (boletos) e dados de enriquecimento (CNAE/</a:t>
            </a:r>
            <a:r>
              <a:rPr lang="pt-BR" sz="1500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Bureaus</a:t>
            </a:r>
            <a:r>
              <a:rPr lang="pt-BR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endParaRPr sz="1500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" name="Google Shape;102;p14">
            <a:extLst>
              <a:ext uri="{FF2B5EF4-FFF2-40B4-BE49-F238E27FC236}">
                <a16:creationId xmlns:a16="http://schemas.microsoft.com/office/drawing/2014/main" id="{1776E7A6-B81E-4269-923F-7C124206951A}"/>
              </a:ext>
            </a:extLst>
          </p:cNvPr>
          <p:cNvSpPr txBox="1"/>
          <p:nvPr/>
        </p:nvSpPr>
        <p:spPr>
          <a:xfrm>
            <a:off x="2455562" y="3512673"/>
            <a:ext cx="936496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5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Armazenamento (Data Lake Simulado):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Estruturado em diretórios locais (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Raw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Trusted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Zones) simulando um AWS S3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Bucket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ou Azure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Blob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pt-BR" sz="15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Storage</a:t>
            </a:r>
            <a:r>
              <a:rPr lang="pt-BR" sz="15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para a fase MVP.</a:t>
            </a:r>
            <a:endParaRPr lang="pt-BR" sz="1500" dirty="0">
              <a:effectLst/>
              <a:latin typeface="Lato" panose="020F0502020204030203" pitchFamily="34" charset="0"/>
            </a:endParaRPr>
          </a:p>
        </p:txBody>
      </p:sp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7DDBBA3D-4854-44EB-A287-A461D3D91ACB}"/>
              </a:ext>
            </a:extLst>
          </p:cNvPr>
          <p:cNvSpPr txBox="1"/>
          <p:nvPr/>
        </p:nvSpPr>
        <p:spPr>
          <a:xfrm>
            <a:off x="2455562" y="4561355"/>
            <a:ext cx="93433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Linguagem e Bibliotecas Base: 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Python (Linguagem Principal) , usado desde a ingestão até a construção da API. Pandas &amp;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NumPy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são essenciais para limpeza e manipulação dos dados.</a:t>
            </a:r>
            <a:endParaRPr lang="pt-B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2467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43691"/>
            <a:ext cx="1219200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TECNOLOGIAS E COMPONENTES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43BFB63-6ECC-4045-9626-4B0296E9D36B}"/>
              </a:ext>
            </a:extLst>
          </p:cNvPr>
          <p:cNvSpPr txBox="1"/>
          <p:nvPr/>
        </p:nvSpPr>
        <p:spPr>
          <a:xfrm>
            <a:off x="1363427" y="1576712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04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6E791B3-D72E-4925-B0F1-71023D90A0EA}"/>
              </a:ext>
            </a:extLst>
          </p:cNvPr>
          <p:cNvSpPr txBox="1"/>
          <p:nvPr/>
        </p:nvSpPr>
        <p:spPr>
          <a:xfrm>
            <a:off x="1363428" y="2796418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05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141054-B253-4637-ADF9-2969B523618F}"/>
              </a:ext>
            </a:extLst>
          </p:cNvPr>
          <p:cNvSpPr txBox="1"/>
          <p:nvPr/>
        </p:nvSpPr>
        <p:spPr>
          <a:xfrm>
            <a:off x="1391285" y="3900708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06</a:t>
            </a:r>
          </a:p>
        </p:txBody>
      </p:sp>
      <p:sp>
        <p:nvSpPr>
          <p:cNvPr id="7" name="Google Shape;101;p14">
            <a:extLst>
              <a:ext uri="{FF2B5EF4-FFF2-40B4-BE49-F238E27FC236}">
                <a16:creationId xmlns:a16="http://schemas.microsoft.com/office/drawing/2014/main" id="{30E57BDB-E8C3-4F11-AB09-CFC0EDC2DA16}"/>
              </a:ext>
            </a:extLst>
          </p:cNvPr>
          <p:cNvSpPr txBox="1"/>
          <p:nvPr/>
        </p:nvSpPr>
        <p:spPr>
          <a:xfrm>
            <a:off x="2477201" y="1721114"/>
            <a:ext cx="936496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Inteligência Artificial (ML): 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Uso de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Scikit-Learn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para o Módulo de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Imputation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(solucionando 40% de dados de liquidez faltantes) e para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Feature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Engineering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.</a:t>
            </a:r>
            <a:endParaRPr lang="pt-BR" sz="1600" dirty="0">
              <a:effectLst/>
            </a:endParaRPr>
          </a:p>
        </p:txBody>
      </p:sp>
      <p:sp>
        <p:nvSpPr>
          <p:cNvPr id="8" name="Google Shape;102;p14">
            <a:extLst>
              <a:ext uri="{FF2B5EF4-FFF2-40B4-BE49-F238E27FC236}">
                <a16:creationId xmlns:a16="http://schemas.microsoft.com/office/drawing/2014/main" id="{1776E7A6-B81E-4269-923F-7C124206951A}"/>
              </a:ext>
            </a:extLst>
          </p:cNvPr>
          <p:cNvSpPr txBox="1"/>
          <p:nvPr/>
        </p:nvSpPr>
        <p:spPr>
          <a:xfrm>
            <a:off x="2477201" y="2905125"/>
            <a:ext cx="936496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Modelo Preditivo: 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Algoritmo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Random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Forest escolhido pela sua robustez e aplicabilidade. Classifica o risco de inadimplência e identifica oportunidades</a:t>
            </a:r>
            <a:endParaRPr lang="pt-BR" sz="1600" dirty="0">
              <a:effectLst/>
            </a:endParaRPr>
          </a:p>
        </p:txBody>
      </p:sp>
      <p:sp>
        <p:nvSpPr>
          <p:cNvPr id="9" name="Google Shape;103;p14">
            <a:extLst>
              <a:ext uri="{FF2B5EF4-FFF2-40B4-BE49-F238E27FC236}">
                <a16:creationId xmlns:a16="http://schemas.microsoft.com/office/drawing/2014/main" id="{7DDBBA3D-4854-44EB-A287-A461D3D91ACB}"/>
              </a:ext>
            </a:extLst>
          </p:cNvPr>
          <p:cNvSpPr txBox="1"/>
          <p:nvPr/>
        </p:nvSpPr>
        <p:spPr>
          <a:xfrm>
            <a:off x="2477201" y="4016124"/>
            <a:ext cx="93433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Backend</a:t>
            </a: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 Interface de Consumo: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FastAPI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(Framework de alta performance) expõe o modelo de ML como um serviço. Retorna o Score PRISMA e a probabilidade de atraso via API (JSON).</a:t>
            </a:r>
            <a:endParaRPr lang="pt-BR" sz="1600" dirty="0">
              <a:effectLst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967BD9-6709-4F7B-A523-6A0EA393FA59}"/>
              </a:ext>
            </a:extLst>
          </p:cNvPr>
          <p:cNvSpPr txBox="1"/>
          <p:nvPr/>
        </p:nvSpPr>
        <p:spPr>
          <a:xfrm>
            <a:off x="1363427" y="5244414"/>
            <a:ext cx="11137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07</a:t>
            </a:r>
          </a:p>
        </p:txBody>
      </p:sp>
      <p:sp>
        <p:nvSpPr>
          <p:cNvPr id="13" name="Google Shape;103;p14">
            <a:extLst>
              <a:ext uri="{FF2B5EF4-FFF2-40B4-BE49-F238E27FC236}">
                <a16:creationId xmlns:a16="http://schemas.microsoft.com/office/drawing/2014/main" id="{C9FD2BB4-ED4D-4F18-B0AC-DC8350A2E227}"/>
              </a:ext>
            </a:extLst>
          </p:cNvPr>
          <p:cNvSpPr txBox="1"/>
          <p:nvPr/>
        </p:nvSpPr>
        <p:spPr>
          <a:xfrm>
            <a:off x="2449343" y="5359830"/>
            <a:ext cx="9343323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pt-BR" sz="16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Frontend</a:t>
            </a:r>
            <a:r>
              <a:rPr lang="pt-BR" sz="1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e Visualização (MVP): </a:t>
            </a:r>
            <a:r>
              <a:rPr lang="pt-BR" sz="160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Streamlit</a:t>
            </a:r>
            <a:r>
              <a:rPr lang="pt-BR" sz="160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(Protótipo) Interface visual para carregar carteiras e visualizar gráficos de risco e oportunidades. Power BI é opcional para dashboards gerenciais.</a:t>
            </a:r>
            <a:endParaRPr lang="pt-B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3232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ED750157-4669-4C74-9379-A8BFE1139C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369117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blipFill>
                  <a:blip r:embed="rId2"/>
                  <a:stretch>
                    <a:fillRect/>
                  </a:stretch>
                </a:blipFill>
                <a:tableStyleId>{93296810-A885-4BE3-A3E7-6D5BEEA58F35}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86341620"/>
                    </a:ext>
                  </a:extLst>
                </a:gridCol>
                <a:gridCol w="10744200">
                  <a:extLst>
                    <a:ext uri="{9D8B030D-6E8A-4147-A177-3AD203B41FA5}">
                      <a16:colId xmlns:a16="http://schemas.microsoft.com/office/drawing/2014/main" val="3252587164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r>
                        <a:rPr lang="pt-BR" sz="2000" dirty="0">
                          <a:latin typeface="Lato" panose="020F0502020204030203" pitchFamily="34" charset="0"/>
                        </a:rPr>
                        <a:t>Tecnologia Utilizada</a:t>
                      </a:r>
                    </a:p>
                  </a:txBody>
                  <a:tcPr>
                    <a:solidFill>
                      <a:srgbClr val="3CAA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dirty="0">
                          <a:latin typeface="Lato" panose="020F0502020204030203" pitchFamily="34" charset="0"/>
                        </a:rPr>
                        <a:t>Descrição do uso da tecnologia</a:t>
                      </a:r>
                    </a:p>
                  </a:txBody>
                  <a:tcPr>
                    <a:solidFill>
                      <a:srgbClr val="3CAA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51352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Linguagem principal do projeto, escolhida por sua predominância em Data Science e vasta gama de bibliotecas. É utilizada desde a ingestão de dados até a construção da API.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947827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Bibliotecas essenciais para a manipulação de dados tabulares. São utilizadas para a limpeza dos mais de 7.000 registros e o tratamento dos valores nulos identificados.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21583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Biblioteca usada para construir o modelo preditivo 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Random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Forest (classificação de risco) e para aplicar técnicas de 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Imputation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(preenchimento de dados de liquidez ausentes com IA).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448794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Framework de alta performance para expor o modelo de ML como serviço. Recebe dados de um boleto (JSON) e retorna o SCORE PRISMA e a probabilidade de atraso em tempo real.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397508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Framework para a criação rápida da interface visual do protótipo (MVP). Permite carregar carteiras de boletos e visualizar gráficos de risco e oportunidades ("</a:t>
                      </a:r>
                      <a:r>
                        <a:rPr lang="pt-BR" sz="1600" dirty="0" err="1">
                          <a:latin typeface="Lato" panose="020F0502020204030203" pitchFamily="34" charset="0"/>
                        </a:rPr>
                        <a:t>Jóias</a:t>
                      </a:r>
                      <a:r>
                        <a:rPr lang="pt-BR" sz="1600" dirty="0">
                          <a:latin typeface="Lato" panose="020F0502020204030203" pitchFamily="34" charset="0"/>
                        </a:rPr>
                        <a:t> Ocultas").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423245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latin typeface="Lato" panose="020F0502020204030203" pitchFamily="34" charset="0"/>
                        </a:rPr>
                        <a:t>Ambiente de desenvolvimento para prototipagem rápida, análise exploratória e validação de hipóteses antes da produção do código.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45353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No MVP, os dados são estruturados em diretórios locais simulando um "S3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Bucket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" (camadas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Raw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 e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Trusted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). Em produção, está prevista a migração para AWS S3 ou Azure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Blob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 </a:t>
                      </a:r>
                      <a:r>
                        <a:rPr lang="pt-BR" sz="1600" dirty="0" err="1">
                          <a:effectLst/>
                          <a:latin typeface="Lato" panose="020F0502020204030203" pitchFamily="34" charset="0"/>
                        </a:rPr>
                        <a:t>Storage</a:t>
                      </a:r>
                      <a:r>
                        <a:rPr lang="pt-BR" sz="1600" dirty="0">
                          <a:effectLst/>
                          <a:latin typeface="Lato" panose="020F0502020204030203" pitchFamily="34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90361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77DC3C34-2D70-450A-A712-5F26C83D1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37" y="918910"/>
            <a:ext cx="740889" cy="74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193DCD9B-AAA5-4590-A57A-7DF905DE80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86" y="1746478"/>
            <a:ext cx="1241508" cy="853122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C5086C88-0A72-4F2A-9B8B-68B15FCF9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86" y="2686278"/>
            <a:ext cx="1229360" cy="6631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Fastapi icon as SVG, PNG, JSX, and Base64">
            <a:extLst>
              <a:ext uri="{FF2B5EF4-FFF2-40B4-BE49-F238E27FC236}">
                <a16:creationId xmlns:a16="http://schemas.microsoft.com/office/drawing/2014/main" id="{20A7B87E-BA35-4534-9253-4B057B505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856" y="3349460"/>
            <a:ext cx="1150620" cy="1150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Brand • Streamlit">
            <a:extLst>
              <a:ext uri="{FF2B5EF4-FFF2-40B4-BE49-F238E27FC236}">
                <a16:creationId xmlns:a16="http://schemas.microsoft.com/office/drawing/2014/main" id="{E0A505D9-DC23-4AB7-B861-46198F8EA8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86" y="4346078"/>
            <a:ext cx="1241508" cy="72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0" name="Picture 22">
            <a:extLst>
              <a:ext uri="{FF2B5EF4-FFF2-40B4-BE49-F238E27FC236}">
                <a16:creationId xmlns:a16="http://schemas.microsoft.com/office/drawing/2014/main" id="{1529D6A8-F140-453B-B65E-52C27DAE4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164" y="5206765"/>
            <a:ext cx="626471" cy="72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4" name="Picture 26" descr="Analytics software natively connected to Amazon S3 | Toucan">
            <a:extLst>
              <a:ext uri="{FF2B5EF4-FFF2-40B4-BE49-F238E27FC236}">
                <a16:creationId xmlns:a16="http://schemas.microsoft.com/office/drawing/2014/main" id="{58D60C86-04A1-4B99-8915-0B91AF6C0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937" y="6092556"/>
            <a:ext cx="968457" cy="72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2544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0998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PRISMA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 dirty="0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93E924-F9F8-4EFF-8498-5596CF49B76E}"/>
              </a:ext>
            </a:extLst>
          </p:cNvPr>
          <p:cNvSpPr txBox="1"/>
          <p:nvPr/>
        </p:nvSpPr>
        <p:spPr>
          <a:xfrm>
            <a:off x="0" y="1215339"/>
            <a:ext cx="1219200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A arquitetura do PRISMA segue um padrão de pipeline horizontal dividido em quatro camadas lógicas. Foi desenhada para ser escalável, focada no processamento de dados (Data-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Centric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) e garantir rastreabilidade.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253AB8C-F915-48D0-A1D6-2AE8AB3B38BB}"/>
              </a:ext>
            </a:extLst>
          </p:cNvPr>
          <p:cNvSpPr txBox="1"/>
          <p:nvPr/>
        </p:nvSpPr>
        <p:spPr>
          <a:xfrm>
            <a:off x="134681" y="2615702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1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4804811-5E55-449C-AD8B-4C8CFE35CDEC}"/>
              </a:ext>
            </a:extLst>
          </p:cNvPr>
          <p:cNvSpPr txBox="1"/>
          <p:nvPr/>
        </p:nvSpPr>
        <p:spPr>
          <a:xfrm>
            <a:off x="1976237" y="2536510"/>
            <a:ext cx="1038569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Fontes de Dados: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Dados transacionais de boletos da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Núclea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e enriquecimento com dados externos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Bureaus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/CNAE) para compor o perfil de risco.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99FB96-2B77-4FDE-BEC3-FE7CEB061FB1}"/>
              </a:ext>
            </a:extLst>
          </p:cNvPr>
          <p:cNvSpPr txBox="1"/>
          <p:nvPr/>
        </p:nvSpPr>
        <p:spPr>
          <a:xfrm>
            <a:off x="134681" y="3528722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07C78C5-BB59-4121-9634-195D36F50E58}"/>
              </a:ext>
            </a:extLst>
          </p:cNvPr>
          <p:cNvSpPr txBox="1"/>
          <p:nvPr/>
        </p:nvSpPr>
        <p:spPr>
          <a:xfrm>
            <a:off x="1976237" y="3453448"/>
            <a:ext cx="10385690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Diferencial Crítico: 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Inclui o Módulo de Imputação (IA) desenvolvido para resolver a ausência de 40% dos indicadores de liquidez. Armazena dados brutos na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Raw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Zone para auditoria.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A940D36-0082-487D-806C-12227A2BB791}"/>
              </a:ext>
            </a:extLst>
          </p:cNvPr>
          <p:cNvSpPr txBox="1"/>
          <p:nvPr/>
        </p:nvSpPr>
        <p:spPr>
          <a:xfrm>
            <a:off x="134681" y="4445660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3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010C294-E9C7-463E-B257-632738BA208B}"/>
              </a:ext>
            </a:extLst>
          </p:cNvPr>
          <p:cNvSpPr txBox="1"/>
          <p:nvPr/>
        </p:nvSpPr>
        <p:spPr>
          <a:xfrm>
            <a:off x="1976236" y="4300881"/>
            <a:ext cx="10385690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Processamento e Modelagem: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Armazena os dados tratados na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Trusted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Zone. Executa a Engenharia de Atributos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Feature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Engineering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) e alimenta o Modelo Preditivo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Random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Forest) para classificar o risco e identificar as "Joias Ocultas"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A589E74-F23E-4DCF-AD40-665AB09DA1AF}"/>
              </a:ext>
            </a:extLst>
          </p:cNvPr>
          <p:cNvSpPr txBox="1"/>
          <p:nvPr/>
        </p:nvSpPr>
        <p:spPr>
          <a:xfrm>
            <a:off x="134681" y="5404134"/>
            <a:ext cx="190366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4CBF88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CAMADA 4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3318A6E-DB34-4107-ACA6-A159D2EEB47B}"/>
              </a:ext>
            </a:extLst>
          </p:cNvPr>
          <p:cNvSpPr txBox="1"/>
          <p:nvPr/>
        </p:nvSpPr>
        <p:spPr>
          <a:xfrm>
            <a:off x="1976236" y="5315364"/>
            <a:ext cx="10215764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spcAft>
                <a:spcPts val="1600"/>
              </a:spcAft>
            </a:pPr>
            <a:r>
              <a:rPr lang="pt-BR" sz="1600" b="1" dirty="0">
                <a:solidFill>
                  <a:schemeClr val="bg1"/>
                </a:solidFill>
                <a:latin typeface="Lato" panose="020F0502020204030203" pitchFamily="34" charset="0"/>
              </a:rPr>
              <a:t>Entrega de Valor: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 Desacoplada através de uma API (</a:t>
            </a:r>
            <a:r>
              <a:rPr lang="pt-BR" sz="1600" dirty="0" err="1">
                <a:solidFill>
                  <a:schemeClr val="bg1"/>
                </a:solidFill>
                <a:latin typeface="Lato" panose="020F0502020204030203" pitchFamily="34" charset="0"/>
              </a:rPr>
              <a:t>FastAPI</a:t>
            </a:r>
            <a:r>
              <a:rPr lang="pt-BR" sz="1600" dirty="0">
                <a:solidFill>
                  <a:schemeClr val="bg1"/>
                </a:solidFill>
                <a:latin typeface="Lato" panose="020F0502020204030203" pitchFamily="34" charset="0"/>
              </a:rPr>
              <a:t>) que serve o score e a probabilidade de atraso em tempo real e alimenta o Dashboard do Gestor.</a:t>
            </a:r>
          </a:p>
        </p:txBody>
      </p:sp>
    </p:spTree>
    <p:extLst>
      <p:ext uri="{BB962C8B-B14F-4D97-AF65-F5344CB8AC3E}">
        <p14:creationId xmlns:p14="http://schemas.microsoft.com/office/powerpoint/2010/main" val="3155115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27B6F97-F5EA-435F-854D-F2FFD2908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36866"/>
            <a:ext cx="12192000" cy="16256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8255917-1FCF-476F-B8FA-1F81F0FC7C48}"/>
              </a:ext>
            </a:extLst>
          </p:cNvPr>
          <p:cNvSpPr txBox="1"/>
          <p:nvPr/>
        </p:nvSpPr>
        <p:spPr>
          <a:xfrm>
            <a:off x="2124053" y="20998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ARQUITETURA DA PRISMA</a:t>
            </a:r>
          </a:p>
        </p:txBody>
      </p:sp>
    </p:spTree>
    <p:extLst>
      <p:ext uri="{BB962C8B-B14F-4D97-AF65-F5344CB8AC3E}">
        <p14:creationId xmlns:p14="http://schemas.microsoft.com/office/powerpoint/2010/main" val="24703318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0" y="229038"/>
            <a:ext cx="1219199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PLANEJAMENTO E GESTÃO DO PROJETO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6BC93E9-718A-4092-9B4B-6C7DFB2B992C}"/>
              </a:ext>
            </a:extLst>
          </p:cNvPr>
          <p:cNvSpPr txBox="1"/>
          <p:nvPr/>
        </p:nvSpPr>
        <p:spPr>
          <a:xfrm>
            <a:off x="357188" y="1040002"/>
            <a:ext cx="1164245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Implementamos uma Metodologia Ágil baseada em </a:t>
            </a:r>
            <a:r>
              <a:rPr lang="pt-BR" sz="16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Kanban</a:t>
            </a:r>
            <a:r>
              <a:rPr lang="pt-BR" sz="16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, utilizando o </a:t>
            </a:r>
            <a:r>
              <a:rPr lang="pt-BR" sz="1600" b="0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Notion</a:t>
            </a:r>
            <a:r>
              <a:rPr lang="pt-BR" sz="16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 para organizar visualmente todas as tarefas e registrar as decisões de cada reunião. Esse modelo garante transparência no andamento, clareza na definição de responsáveis, priorização contínua e acompanhamento estruturado das sprints, permitindo que o time desenvolva o MVP de forma rápida, organizada e colaborativa.</a:t>
            </a:r>
            <a:endParaRPr lang="pt-BR"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09C8A30-EF1F-4A72-8660-F7251681D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805" y="2875279"/>
            <a:ext cx="6673496" cy="268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F34BB7C-033D-4060-8B07-4F5FDC5A1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8" y="2143354"/>
            <a:ext cx="5125975" cy="4488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035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6" name="Google Shape;283;p31">
            <a:extLst>
              <a:ext uri="{FF2B5EF4-FFF2-40B4-BE49-F238E27FC236}">
                <a16:creationId xmlns:a16="http://schemas.microsoft.com/office/drawing/2014/main" id="{E73B0C89-FB60-4EA2-8091-BC4AAD51F2AF}"/>
              </a:ext>
            </a:extLst>
          </p:cNvPr>
          <p:cNvSpPr txBox="1"/>
          <p:nvPr/>
        </p:nvSpPr>
        <p:spPr>
          <a:xfrm>
            <a:off x="764241" y="2127123"/>
            <a:ext cx="10663500" cy="3851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Sabemos que o mercado de crédito opera hoje em duas velocidades: a velocidade da originação, que é instantânea, e a velocidade da análise de risco, que muitas vezes é manual, lenta e reativa. Essa defasagem cria o que chamamos de 'ponto cego' — o momento exato onde a fraude e a inadimplência entram na carteira.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Diferente dos relatórios estáticos tradicionais, que mostram uma foto do passado (o que já aconteceu), a PRISMA oferece uma </a:t>
            </a:r>
            <a:r>
              <a:rPr lang="pt-BR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visão dinâmica e preditiva</a:t>
            </a: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baseada em </a:t>
            </a:r>
            <a:r>
              <a:rPr lang="pt-BR" i="1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Ground</a:t>
            </a:r>
            <a:r>
              <a:rPr lang="pt-BR" i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i="1" dirty="0" err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Truth</a:t>
            </a: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 Ou seja, utilizamos dados reais processados em tempo real para antecipar o comportamento futuro da carteira.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tornar essa inteligência acionável, estruturamos a experiência do usuário em dois níveis de profundidade distintos, mas complementares:</a:t>
            </a: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457200" algn="just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278267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06;p33">
            <a:extLst>
              <a:ext uri="{FF2B5EF4-FFF2-40B4-BE49-F238E27FC236}">
                <a16:creationId xmlns:a16="http://schemas.microsoft.com/office/drawing/2014/main" id="{F53072F0-669C-4A6E-96FE-B6ACF6A2CD77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pic>
        <p:nvPicPr>
          <p:cNvPr id="4" name="Google Shape;292;p32">
            <a:extLst>
              <a:ext uri="{FF2B5EF4-FFF2-40B4-BE49-F238E27FC236}">
                <a16:creationId xmlns:a16="http://schemas.microsoft.com/office/drawing/2014/main" id="{9728516B-D0EB-4A97-8B41-3BE975B04DF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450300" y="1811579"/>
            <a:ext cx="6549502" cy="2873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95;p32" title="github-icon-1-logo-png-transparent.png">
            <a:hlinkClick r:id="rId3"/>
            <a:extLst>
              <a:ext uri="{FF2B5EF4-FFF2-40B4-BE49-F238E27FC236}">
                <a16:creationId xmlns:a16="http://schemas.microsoft.com/office/drawing/2014/main" id="{169DC885-DD75-4835-999C-E8A865B0436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91;p32">
            <a:extLst>
              <a:ext uri="{FF2B5EF4-FFF2-40B4-BE49-F238E27FC236}">
                <a16:creationId xmlns:a16="http://schemas.microsoft.com/office/drawing/2014/main" id="{876D4724-5F36-46CB-84C2-668CA19DD1E4}"/>
              </a:ext>
            </a:extLst>
          </p:cNvPr>
          <p:cNvSpPr txBox="1"/>
          <p:nvPr/>
        </p:nvSpPr>
        <p:spPr>
          <a:xfrm>
            <a:off x="1614452" y="1811588"/>
            <a:ext cx="3752400" cy="40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1. Visão Estratégica (Para Decisores):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no resultado financeiro. Ele mostra quanto dinheiro o fundo economizou ao evitar ativos ruins (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Prejuízo Evitado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 e como isso aumentou a rentabilidade geral (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Otimização de Retorno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).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Além disso, valida a tese de investimento através da "Bola de Cristal", um gráfico que correlaciona diretamente a queda de liquidez com o aumento do risco de calote, provando a eficácia do modelo preditivo.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" name="Google Shape;290;p32">
            <a:extLst>
              <a:ext uri="{FF2B5EF4-FFF2-40B4-BE49-F238E27FC236}">
                <a16:creationId xmlns:a16="http://schemas.microsoft.com/office/drawing/2014/main" id="{C2D366A5-D7DE-45C6-A67F-B4A201DCAC0D}"/>
              </a:ext>
            </a:extLst>
          </p:cNvPr>
          <p:cNvSpPr txBox="1"/>
          <p:nvPr/>
        </p:nvSpPr>
        <p:spPr>
          <a:xfrm>
            <a:off x="387952" y="1694469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01</a:t>
            </a:r>
            <a:endParaRPr/>
          </a:p>
        </p:txBody>
      </p:sp>
      <p:sp>
        <p:nvSpPr>
          <p:cNvPr id="9" name="Google Shape;305;p33">
            <a:extLst>
              <a:ext uri="{FF2B5EF4-FFF2-40B4-BE49-F238E27FC236}">
                <a16:creationId xmlns:a16="http://schemas.microsoft.com/office/drawing/2014/main" id="{4B37C943-42DE-4F31-8BAB-0D25ECEBF034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470253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6;p33">
            <a:extLst>
              <a:ext uri="{FF2B5EF4-FFF2-40B4-BE49-F238E27FC236}">
                <a16:creationId xmlns:a16="http://schemas.microsoft.com/office/drawing/2014/main" id="{7B16B49D-84D1-4D31-BE4D-525F181580C5}"/>
              </a:ext>
            </a:extLst>
          </p:cNvPr>
          <p:cNvSpPr/>
          <p:nvPr/>
        </p:nvSpPr>
        <p:spPr>
          <a:xfrm>
            <a:off x="10675628" y="1089300"/>
            <a:ext cx="731400" cy="661800"/>
          </a:xfrm>
          <a:prstGeom prst="roundRect">
            <a:avLst>
              <a:gd name="adj" fmla="val 16667"/>
            </a:avLst>
          </a:prstGeom>
          <a:solidFill>
            <a:srgbClr val="4CBF88"/>
          </a:solidFill>
          <a:ln w="8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7075" tIns="77075" rIns="77075" bIns="77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8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PROTOTIPO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4" name="Google Shape;302;p33">
            <a:extLst>
              <a:ext uri="{FF2B5EF4-FFF2-40B4-BE49-F238E27FC236}">
                <a16:creationId xmlns:a16="http://schemas.microsoft.com/office/drawing/2014/main" id="{082A812E-3F0F-48AF-A5B6-F584A6331660}"/>
              </a:ext>
            </a:extLst>
          </p:cNvPr>
          <p:cNvSpPr txBox="1"/>
          <p:nvPr/>
        </p:nvSpPr>
        <p:spPr>
          <a:xfrm>
            <a:off x="387952" y="1656175"/>
            <a:ext cx="11139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500" b="1">
                <a:solidFill>
                  <a:srgbClr val="4CBF88"/>
                </a:solidFill>
                <a:latin typeface="Lato"/>
                <a:ea typeface="Lato"/>
                <a:cs typeface="Lato"/>
                <a:sym typeface="Lato"/>
              </a:rPr>
              <a:t>02</a:t>
            </a:r>
            <a:endParaRPr/>
          </a:p>
        </p:txBody>
      </p:sp>
      <p:sp>
        <p:nvSpPr>
          <p:cNvPr id="5" name="Google Shape;303;p33">
            <a:extLst>
              <a:ext uri="{FF2B5EF4-FFF2-40B4-BE49-F238E27FC236}">
                <a16:creationId xmlns:a16="http://schemas.microsoft.com/office/drawing/2014/main" id="{2D4EFE70-029C-4E81-A90C-9C7FBDC7040A}"/>
              </a:ext>
            </a:extLst>
          </p:cNvPr>
          <p:cNvSpPr txBox="1"/>
          <p:nvPr/>
        </p:nvSpPr>
        <p:spPr>
          <a:xfrm>
            <a:off x="1585300" y="1811588"/>
            <a:ext cx="37524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2. Visão Tática (Para Operação):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Este painel foca na ação preventiva diária. Identifica parceiros comerciais problemáticos através do 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Radar de Seleção Adversa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(quem opera muito volume com alta inadimplência) e fornece uma lista de </a:t>
            </a: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Alertas Antecipados</a:t>
            </a: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, permitindo que a equipe de crédito atue imediatamente sobre empresas que apresentaram deterioração súbita nos seus indicadores, antes mesmo do vencimento dos títulos.</a:t>
            </a:r>
            <a:b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Para checar o Protótipo completo, clique no botão acima da imagem.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" name="Google Shape;304;p33">
            <a:extLst>
              <a:ext uri="{FF2B5EF4-FFF2-40B4-BE49-F238E27FC236}">
                <a16:creationId xmlns:a16="http://schemas.microsoft.com/office/drawing/2014/main" id="{FCDB60C7-04D1-4BD5-B80E-6E027A43625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37700" y="1811591"/>
            <a:ext cx="6732375" cy="32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05;p33">
            <a:extLst>
              <a:ext uri="{FF2B5EF4-FFF2-40B4-BE49-F238E27FC236}">
                <a16:creationId xmlns:a16="http://schemas.microsoft.com/office/drawing/2014/main" id="{DE0B8A23-A942-4E84-86F1-6E5D7ED675E6}"/>
              </a:ext>
            </a:extLst>
          </p:cNvPr>
          <p:cNvSpPr txBox="1"/>
          <p:nvPr/>
        </p:nvSpPr>
        <p:spPr>
          <a:xfrm>
            <a:off x="8755375" y="1198150"/>
            <a:ext cx="2080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Lato"/>
              <a:buNone/>
            </a:pPr>
            <a:r>
              <a:rPr lang="pt-BR" sz="15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Clique aqui para acessar o Protótipo:</a:t>
            </a:r>
            <a:endParaRPr sz="1500" dirty="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" name="Google Shape;307;p33" title="github-icon-1-logo-png-transparent.png">
            <a:hlinkClick r:id="rId3"/>
            <a:extLst>
              <a:ext uri="{FF2B5EF4-FFF2-40B4-BE49-F238E27FC236}">
                <a16:creationId xmlns:a16="http://schemas.microsoft.com/office/drawing/2014/main" id="{A84A1D74-B6E9-4C3E-9D92-1168D20A2FD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29" b="19"/>
          <a:stretch/>
        </p:blipFill>
        <p:spPr>
          <a:xfrm>
            <a:off x="10729788" y="1117149"/>
            <a:ext cx="623150" cy="606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73154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CAF1EC-549F-480F-A16B-6B48BBDEA8FA}"/>
              </a:ext>
            </a:extLst>
          </p:cNvPr>
          <p:cNvSpPr txBox="1"/>
          <p:nvPr/>
        </p:nvSpPr>
        <p:spPr>
          <a:xfrm>
            <a:off x="2124053" y="229038"/>
            <a:ext cx="79438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 algn="ctr">
              <a:defRPr sz="4500" b="1">
                <a:ln w="12700">
                  <a:solidFill>
                    <a:srgbClr val="4CBF88"/>
                  </a:solidFill>
                </a:ln>
                <a:noFill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 dirty="0">
                <a:ln w="12700">
                  <a:noFill/>
                </a:ln>
                <a:solidFill>
                  <a:srgbClr val="4CBF88"/>
                </a:solidFill>
                <a:latin typeface="Lato" panose="020F0502020204030203" pitchFamily="34" charset="0"/>
              </a:rPr>
              <a:t>CONCLUSÃO E AGRADECIMENTOS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D4FAB7-80E0-4CFF-A2CE-9F1F695E755F}"/>
              </a:ext>
            </a:extLst>
          </p:cNvPr>
          <p:cNvSpPr txBox="1"/>
          <p:nvPr/>
        </p:nvSpPr>
        <p:spPr>
          <a:xfrm>
            <a:off x="10950388" y="6225552"/>
            <a:ext cx="1049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500" b="1">
                <a:solidFill>
                  <a:schemeClr val="bg1"/>
                </a:solidFill>
                <a:latin typeface="Lato" panose="020F0502020204030203" pitchFamily="34" charset="0"/>
                <a:cs typeface="Segoe UI" panose="020B0502040204020203" pitchFamily="34" charset="0"/>
              </a:rPr>
              <a:t>PRISMA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B4CF9E6-ADAF-4729-8F7E-5981EDCA5098}"/>
              </a:ext>
            </a:extLst>
          </p:cNvPr>
          <p:cNvSpPr txBox="1"/>
          <p:nvPr/>
        </p:nvSpPr>
        <p:spPr>
          <a:xfrm>
            <a:off x="981075" y="2921168"/>
            <a:ext cx="102298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A </a:t>
            </a:r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</a:rPr>
              <a:t>PRISMA 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se apresenta como uma solução moderna e estratégica para elevar o nível da gestão de risco nos </a:t>
            </a:r>
            <a:r>
              <a:rPr lang="pt-BR" dirty="0" err="1">
                <a:solidFill>
                  <a:schemeClr val="bg1"/>
                </a:solidFill>
                <a:latin typeface="Lato" panose="020F0502020204030203" pitchFamily="34" charset="0"/>
              </a:rPr>
              <a:t>FIDCs</a:t>
            </a:r>
            <a:r>
              <a:rPr lang="pt-BR" dirty="0">
                <a:solidFill>
                  <a:schemeClr val="bg1"/>
                </a:solidFill>
                <a:latin typeface="Lato" panose="020F0502020204030203" pitchFamily="34" charset="0"/>
              </a:rPr>
              <a:t>, unindo IA, modelagem preditiva e análise estrutural para reduzir assimetrias, antecipar inadimplência e revelar oportunidades ocultas. Ao oferecer uma visão integrada e precisa da carteira, a plataforma contribui para decisões mais seguras, operações mais eficientes e um ecossistema de crédito mais transparente e sustentável.</a:t>
            </a:r>
          </a:p>
        </p:txBody>
      </p:sp>
    </p:spTree>
    <p:extLst>
      <p:ext uri="{BB962C8B-B14F-4D97-AF65-F5344CB8AC3E}">
        <p14:creationId xmlns:p14="http://schemas.microsoft.com/office/powerpoint/2010/main" val="32983879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2404</TotalTime>
  <Words>2496</Words>
  <Application>Microsoft Office PowerPoint</Application>
  <PresentationFormat>Widescreen</PresentationFormat>
  <Paragraphs>156</Paragraphs>
  <Slides>22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7" baseType="lpstr">
      <vt:lpstr>Calibri</vt:lpstr>
      <vt:lpstr>Calibri Light</vt:lpstr>
      <vt:lpstr>Lato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Italo Bangarcl Silva</dc:creator>
  <cp:lastModifiedBy>Italo Bangarcl Silva</cp:lastModifiedBy>
  <cp:revision>41</cp:revision>
  <cp:lastPrinted>2025-11-26T20:33:10Z</cp:lastPrinted>
  <dcterms:created xsi:type="dcterms:W3CDTF">2025-10-18T14:10:50Z</dcterms:created>
  <dcterms:modified xsi:type="dcterms:W3CDTF">2025-11-29T14:49:43Z</dcterms:modified>
</cp:coreProperties>
</file>