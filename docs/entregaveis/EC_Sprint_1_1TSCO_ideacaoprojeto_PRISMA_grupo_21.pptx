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63" r:id="rId2"/>
    <p:sldId id="296" r:id="rId3"/>
    <p:sldId id="294" r:id="rId4"/>
    <p:sldId id="295" r:id="rId5"/>
    <p:sldId id="290" r:id="rId6"/>
    <p:sldId id="288" r:id="rId7"/>
    <p:sldId id="277" r:id="rId8"/>
    <p:sldId id="278" r:id="rId9"/>
    <p:sldId id="281" r:id="rId10"/>
    <p:sldId id="280" r:id="rId11"/>
    <p:sldId id="282" r:id="rId12"/>
    <p:sldId id="298" r:id="rId13"/>
  </p:sldIdLst>
  <p:sldSz cx="12192000" cy="6858000"/>
  <p:notesSz cx="6858000" cy="9144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Calibri Light" panose="020F0302020204030204" pitchFamily="34" charset="0"/>
      <p:regular r:id="rId18"/>
      <p:italic r:id="rId19"/>
    </p:embeddedFont>
    <p:embeddedFont>
      <p:font typeface="Lato" panose="020F0502020204030203" pitchFamily="34" charset="0"/>
      <p:regular r:id="rId20"/>
      <p:bold r:id="rId21"/>
      <p:italic r:id="rId22"/>
      <p:boldItalic r:id="rId23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CBF88"/>
    <a:srgbClr val="33C2FF"/>
    <a:srgbClr val="131313"/>
    <a:srgbClr val="282828"/>
    <a:srgbClr val="474747"/>
    <a:srgbClr val="F4F4F4"/>
    <a:srgbClr val="ECECEC"/>
    <a:srgbClr val="E8E8E8"/>
    <a:srgbClr val="F4B400"/>
    <a:srgbClr val="1A2E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1E7D52-9FCF-47DD-B64E-C009A944E5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1964129-6898-4408-95FF-1EEAD8369E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5B7DB23-C448-48FE-B705-1F1A8B514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1A783-1A18-420E-A1CE-166C89CD8D65}" type="datetimeFigureOut">
              <a:rPr lang="pt-BR" smtClean="0"/>
              <a:t>06/11/2025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80D0364-CC44-421E-8C72-B6DA8872B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33B4F00-30AE-4BDF-B182-E3642A12B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5957A-007E-46CC-AC46-E6D2407504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6006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70B206-D710-4EDF-8E61-D35695686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B7D2B73-0BAC-468C-9684-D90BD2BFB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FC129DB-8E78-4605-954B-AFA6D95DA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1A783-1A18-420E-A1CE-166C89CD8D65}" type="datetimeFigureOut">
              <a:rPr lang="pt-BR" smtClean="0"/>
              <a:t>06/11/2025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E805BD2-85CB-4F5C-A0C4-70B71D5F9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85BC014-155B-476D-8CAA-00F8A4A3B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5957A-007E-46CC-AC46-E6D2407504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071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8DBA32-1C7A-430B-8772-9E371FBBB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4449BD2-9B84-4C94-9F39-AF714BAB3D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7B0981F-C486-48A6-ABA8-9652B3E51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1A783-1A18-420E-A1CE-166C89CD8D65}" type="datetimeFigureOut">
              <a:rPr lang="pt-BR" smtClean="0"/>
              <a:t>06/11/2025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3DFB472-302D-403A-8F86-315E2B448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11EB804-1AD2-4D63-9B6E-1EF8FC21B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5957A-007E-46CC-AC46-E6D2407504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2500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BFB278-25D7-4082-92FA-FF65FF0A5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9E87F7C-38CA-468D-978A-A4D7B70BEA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1EEE420-DC0F-4A11-BB19-12EA9FF1F3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007BFA5-7E2E-4ECC-B871-87F3479F9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1A783-1A18-420E-A1CE-166C89CD8D65}" type="datetimeFigureOut">
              <a:rPr lang="pt-BR" smtClean="0"/>
              <a:t>06/11/2025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181807B-4BCF-4287-92D3-4C824B8B9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089FD86-89C5-4FE8-BDD3-64D5B05E8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5957A-007E-46CC-AC46-E6D2407504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4217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AD604C-A865-427E-80D0-3B7FD2EFF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25B5B2A-221F-4DB7-B75B-7E23D0A798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EB5B39F-6913-49FB-AADC-80DB02E610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A8FBF4D-B984-4583-9A24-CC75AFE7C1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A5A4D18-5BEA-4B24-8335-CA8802C3DB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09B9E2B-307F-404B-BF87-A9586C88B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1A783-1A18-420E-A1CE-166C89CD8D65}" type="datetimeFigureOut">
              <a:rPr lang="pt-BR" smtClean="0"/>
              <a:t>06/11/2025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33DBAEC-4A34-4E8D-BB39-F9307EF09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B8C1BB6-1C0F-4AE4-B7F9-7D887EFCF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5957A-007E-46CC-AC46-E6D2407504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8180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8D1C6A-C8D7-4E13-8F8B-405C60A89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63EE442-54A3-466F-AADD-99DA01634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1A783-1A18-420E-A1CE-166C89CD8D65}" type="datetimeFigureOut">
              <a:rPr lang="pt-BR" smtClean="0"/>
              <a:t>06/11/2025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2F0341B-CEFE-46B9-B34E-B6E3EF27F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CE1FBAD-393B-4906-8EC9-9F28F9EFF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5957A-007E-46CC-AC46-E6D2407504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5156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3897B14-5DC3-4E56-9F8F-5B23FE7BE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1A783-1A18-420E-A1CE-166C89CD8D65}" type="datetimeFigureOut">
              <a:rPr lang="pt-BR" smtClean="0"/>
              <a:t>06/11/2025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0DA9F87-5DBC-41EE-ACF6-B3FAE34D4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0F2E076-DE43-42EC-8066-B436E63E2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5957A-007E-46CC-AC46-E6D2407504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7909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2126C2-6C75-4D60-9FC6-709866397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DEB5812-6635-4EA5-A786-B05DE5CF49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7C5603E-F8A3-450D-A31C-88C916CA86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016A27E-1B5F-49B6-BE41-7B02F4BF0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1A783-1A18-420E-A1CE-166C89CD8D65}" type="datetimeFigureOut">
              <a:rPr lang="pt-BR" smtClean="0"/>
              <a:t>06/11/2025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AE71424-EE11-4F6A-BE29-1DF2F3DB9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3AA1004-657B-49EE-867B-FDABE3523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5957A-007E-46CC-AC46-E6D2407504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3509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0BB996-CC15-418F-954E-1AE2DEB93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DDC1496-21E5-4663-8D94-723B264267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225FA0A-C00F-4F4A-84BC-4D6C86E766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D554003-0C8F-4570-99A4-126E68D60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1A783-1A18-420E-A1CE-166C89CD8D65}" type="datetimeFigureOut">
              <a:rPr lang="pt-BR" smtClean="0"/>
              <a:t>06/11/2025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7A7BDC5-ACA5-4D33-9992-37C0132D8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0C617AD-5E80-4F10-B665-C6A59205E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5957A-007E-46CC-AC46-E6D2407504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5397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99886E-5236-43D9-87BC-87BB876F5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862D8CA-52ED-4599-9D86-50FFB8946F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D6B8EF-1081-486A-9D0F-062C97278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1A783-1A18-420E-A1CE-166C89CD8D65}" type="datetimeFigureOut">
              <a:rPr lang="pt-BR" smtClean="0"/>
              <a:t>06/11/2025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E84D7E2-BE8B-4FF3-A0F6-78ACFE6AD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775270F-79E2-467F-847D-6660872F7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5957A-007E-46CC-AC46-E6D2407504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3799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35DE8B2-9F6F-483B-8592-A592B996CB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991F940-29B4-43CE-9C30-8B0D5046C9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A68E25F-5FC0-43C3-BE9C-FCC9DAA78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1A783-1A18-420E-A1CE-166C89CD8D65}" type="datetimeFigureOut">
              <a:rPr lang="pt-BR" smtClean="0"/>
              <a:t>06/11/2025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6A2AB1A-07A2-4F78-8726-8D7EC2B53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6D6ACC7-9663-43C6-9794-01D0D88F1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5957A-007E-46CC-AC46-E6D2407504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7574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13000" r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4F3DD90-9DC3-4705-8C49-1F92650CA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71EC279-9772-4100-9D35-3832F91F2A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D4B1702-381C-4118-B586-B72D969C19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E1A783-1A18-420E-A1CE-166C89CD8D65}" type="datetimeFigureOut">
              <a:rPr lang="pt-BR" smtClean="0"/>
              <a:t>06/11/2025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4FA2F55-6463-4E14-BAB5-96AA15902A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C10437-B659-4D5B-9517-D5C6A521ED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15957A-007E-46CC-AC46-E6D2407504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8081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>
            <a:extLst>
              <a:ext uri="{FF2B5EF4-FFF2-40B4-BE49-F238E27FC236}">
                <a16:creationId xmlns:a16="http://schemas.microsoft.com/office/drawing/2014/main" id="{A031B047-6BFC-4F8A-9E86-BC16658D35C3}"/>
              </a:ext>
            </a:extLst>
          </p:cNvPr>
          <p:cNvSpPr txBox="1"/>
          <p:nvPr/>
        </p:nvSpPr>
        <p:spPr>
          <a:xfrm>
            <a:off x="4871357" y="3502511"/>
            <a:ext cx="244928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PRISMA</a:t>
            </a:r>
          </a:p>
        </p:txBody>
      </p: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FBE5B9B9-31A8-4388-A219-7F767F006069}"/>
              </a:ext>
            </a:extLst>
          </p:cNvPr>
          <p:cNvCxnSpPr>
            <a:cxnSpLocks/>
          </p:cNvCxnSpPr>
          <p:nvPr/>
        </p:nvCxnSpPr>
        <p:spPr>
          <a:xfrm>
            <a:off x="4053068" y="4391045"/>
            <a:ext cx="4085864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438DC687-655E-4F16-A22E-503E58FBA635}"/>
              </a:ext>
            </a:extLst>
          </p:cNvPr>
          <p:cNvSpPr txBox="1"/>
          <p:nvPr/>
        </p:nvSpPr>
        <p:spPr>
          <a:xfrm>
            <a:off x="4053066" y="4494750"/>
            <a:ext cx="40858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Plataforma de Risco e Inteligência para Securitização e Modelagem Avançada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52FB905-058D-48EB-B1B7-72EF94430BB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48" t="10820" r="16971" b="25266"/>
          <a:stretch/>
        </p:blipFill>
        <p:spPr>
          <a:xfrm>
            <a:off x="5089602" y="1472799"/>
            <a:ext cx="2012793" cy="2029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1077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>
            <a:extLst>
              <a:ext uri="{FF2B5EF4-FFF2-40B4-BE49-F238E27FC236}">
                <a16:creationId xmlns:a16="http://schemas.microsoft.com/office/drawing/2014/main" id="{F46A6D33-068D-4326-80B3-DC443BFDF1E3}"/>
              </a:ext>
            </a:extLst>
          </p:cNvPr>
          <p:cNvSpPr txBox="1"/>
          <p:nvPr/>
        </p:nvSpPr>
        <p:spPr>
          <a:xfrm>
            <a:off x="10950388" y="6225552"/>
            <a:ext cx="104925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500" b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PRISMA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DCF5048E-6F02-422D-B870-0CBE2F64EEC4}"/>
              </a:ext>
            </a:extLst>
          </p:cNvPr>
          <p:cNvSpPr txBox="1"/>
          <p:nvPr/>
        </p:nvSpPr>
        <p:spPr>
          <a:xfrm>
            <a:off x="141514" y="4439633"/>
            <a:ext cx="23585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kern="1200">
                <a:solidFill>
                  <a:schemeClr val="bg1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Ana Carolina Andrade </a:t>
            </a:r>
            <a:r>
              <a:rPr lang="pt-BR" sz="1200" b="1" kern="1200" err="1">
                <a:solidFill>
                  <a:schemeClr val="bg1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Guanae</a:t>
            </a:r>
            <a:endParaRPr lang="pt-BR" sz="1200" b="1" kern="1200">
              <a:solidFill>
                <a:schemeClr val="bg1"/>
              </a:solidFill>
              <a:effectLst/>
              <a:latin typeface="Lato" panose="020F0502020204030203" pitchFamily="34" charset="0"/>
              <a:cs typeface="Segoe UI" panose="020B0502040204020203" pitchFamily="34" charset="0"/>
            </a:endParaRPr>
          </a:p>
          <a:p>
            <a:pPr algn="ctr"/>
            <a:r>
              <a:rPr lang="sv-SE" sz="1200" b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RM566748</a:t>
            </a:r>
            <a:r>
              <a:rPr lang="pt-BR" sz="1200" b="1" kern="1200">
                <a:solidFill>
                  <a:schemeClr val="bg1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 </a:t>
            </a:r>
            <a:endParaRPr lang="sv-SE" sz="1200" b="1">
              <a:solidFill>
                <a:schemeClr val="bg1"/>
              </a:solidFill>
              <a:latin typeface="Lato" panose="020F050202020403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0E061A7D-CDE8-424F-B2E3-A825D115D8F5}"/>
              </a:ext>
            </a:extLst>
          </p:cNvPr>
          <p:cNvSpPr txBox="1"/>
          <p:nvPr/>
        </p:nvSpPr>
        <p:spPr>
          <a:xfrm>
            <a:off x="2892548" y="4456739"/>
            <a:ext cx="15736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kern="1200">
                <a:solidFill>
                  <a:schemeClr val="bg1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Italo Bangarcl Silva</a:t>
            </a:r>
          </a:p>
          <a:p>
            <a:pPr algn="ctr"/>
            <a:r>
              <a:rPr lang="pt-BR" sz="1200" b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RM567637</a:t>
            </a:r>
            <a:endParaRPr lang="pt-BR" sz="1200" b="1" kern="1200">
              <a:solidFill>
                <a:schemeClr val="bg1"/>
              </a:solidFill>
              <a:effectLst/>
              <a:latin typeface="Lato" panose="020F050202020403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DC5ED58B-B041-442B-9107-2E669B3F6146}"/>
              </a:ext>
            </a:extLst>
          </p:cNvPr>
          <p:cNvSpPr txBox="1"/>
          <p:nvPr/>
        </p:nvSpPr>
        <p:spPr>
          <a:xfrm>
            <a:off x="4802219" y="4444039"/>
            <a:ext cx="25875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Matheus Augusto Pombo Mendes</a:t>
            </a:r>
          </a:p>
          <a:p>
            <a:pPr algn="ctr"/>
            <a:r>
              <a:rPr lang="pt-BR" sz="1200" b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RM567936</a:t>
            </a:r>
            <a:endParaRPr lang="sv-SE" sz="1200" b="1">
              <a:solidFill>
                <a:schemeClr val="bg1"/>
              </a:solidFill>
              <a:latin typeface="Lato" panose="020F050202020403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B020E157-E80B-4F24-AA21-3BDC98EC478A}"/>
              </a:ext>
            </a:extLst>
          </p:cNvPr>
          <p:cNvSpPr txBox="1"/>
          <p:nvPr/>
        </p:nvSpPr>
        <p:spPr>
          <a:xfrm>
            <a:off x="7462609" y="4460243"/>
            <a:ext cx="20564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Santiago </a:t>
            </a:r>
            <a:r>
              <a:rPr lang="pt-BR" sz="1200" b="1" err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Agustin</a:t>
            </a:r>
            <a:r>
              <a:rPr lang="pt-BR" sz="1200" b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 </a:t>
            </a:r>
            <a:r>
              <a:rPr lang="pt-BR" sz="1200" b="1" err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Medardi</a:t>
            </a:r>
            <a:r>
              <a:rPr lang="pt-BR" sz="1200" b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 </a:t>
            </a:r>
          </a:p>
          <a:p>
            <a:pPr algn="ctr"/>
            <a:r>
              <a:rPr lang="pt-BR" sz="1200" b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RM566832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961E5815-0D0F-4F67-B024-582BEC601470}"/>
              </a:ext>
            </a:extLst>
          </p:cNvPr>
          <p:cNvSpPr txBox="1"/>
          <p:nvPr/>
        </p:nvSpPr>
        <p:spPr>
          <a:xfrm>
            <a:off x="10052784" y="4456739"/>
            <a:ext cx="15049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Vitor Targa Vieira</a:t>
            </a:r>
          </a:p>
          <a:p>
            <a:pPr algn="ctr"/>
            <a:r>
              <a:rPr lang="pt-BR" sz="1200" b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RM566952</a:t>
            </a: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BA3792AB-C7FD-419A-8786-BBEA6C1C82D9}"/>
              </a:ext>
            </a:extLst>
          </p:cNvPr>
          <p:cNvSpPr/>
          <p:nvPr/>
        </p:nvSpPr>
        <p:spPr>
          <a:xfrm>
            <a:off x="327088" y="2237529"/>
            <a:ext cx="1987421" cy="2006081"/>
          </a:xfrm>
          <a:prstGeom prst="ellipse">
            <a:avLst/>
          </a:prstGeom>
          <a:blipFill>
            <a:blip r:embed="rId2"/>
            <a:stretch>
              <a:fillRect/>
            </a:stretch>
          </a:blipFill>
          <a:ln w="38100">
            <a:solidFill>
              <a:srgbClr val="4CBF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Lato" panose="020F0502020204030203" pitchFamily="34" charset="0"/>
            </a:endParaRP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FD9E3C57-5259-48EE-9D09-F74D76A8BD2E}"/>
              </a:ext>
            </a:extLst>
          </p:cNvPr>
          <p:cNvSpPr/>
          <p:nvPr/>
        </p:nvSpPr>
        <p:spPr>
          <a:xfrm>
            <a:off x="2679558" y="2237531"/>
            <a:ext cx="1987421" cy="2006081"/>
          </a:xfrm>
          <a:prstGeom prst="ellipse">
            <a:avLst/>
          </a:prstGeom>
          <a:blipFill>
            <a:blip r:embed="rId3"/>
            <a:stretch>
              <a:fillRect/>
            </a:stretch>
          </a:blipFill>
          <a:ln w="38100">
            <a:solidFill>
              <a:srgbClr val="4CBF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Lato" panose="020F0502020204030203" pitchFamily="34" charset="0"/>
            </a:endParaRPr>
          </a:p>
        </p:txBody>
      </p:sp>
      <p:sp>
        <p:nvSpPr>
          <p:cNvPr id="30" name="Elipse 29">
            <a:extLst>
              <a:ext uri="{FF2B5EF4-FFF2-40B4-BE49-F238E27FC236}">
                <a16:creationId xmlns:a16="http://schemas.microsoft.com/office/drawing/2014/main" id="{FB942AC1-210A-476D-8ED8-055FF7647DCC}"/>
              </a:ext>
            </a:extLst>
          </p:cNvPr>
          <p:cNvSpPr/>
          <p:nvPr/>
        </p:nvSpPr>
        <p:spPr>
          <a:xfrm>
            <a:off x="7618960" y="2237531"/>
            <a:ext cx="1987421" cy="2006081"/>
          </a:xfrm>
          <a:prstGeom prst="ellipse">
            <a:avLst/>
          </a:prstGeom>
          <a:blipFill>
            <a:blip r:embed="rId4"/>
            <a:stretch>
              <a:fillRect/>
            </a:stretch>
          </a:blipFill>
          <a:ln w="38100">
            <a:solidFill>
              <a:srgbClr val="4CBF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Lato" panose="020F0502020204030203" pitchFamily="34" charset="0"/>
            </a:endParaRPr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41818F35-8CD1-4DD8-A9A2-CDB7CFE9A461}"/>
              </a:ext>
            </a:extLst>
          </p:cNvPr>
          <p:cNvSpPr/>
          <p:nvPr/>
        </p:nvSpPr>
        <p:spPr>
          <a:xfrm>
            <a:off x="9811533" y="2237530"/>
            <a:ext cx="1987421" cy="2006081"/>
          </a:xfrm>
          <a:prstGeom prst="ellipse">
            <a:avLst/>
          </a:prstGeom>
          <a:blipFill>
            <a:blip r:embed="rId5"/>
            <a:stretch>
              <a:fillRect/>
            </a:stretch>
          </a:blipFill>
          <a:ln w="38100">
            <a:solidFill>
              <a:srgbClr val="4CBF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Lato" panose="020F0502020204030203" pitchFamily="34" charset="0"/>
            </a:endParaRP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CC250B06-CB38-4E48-BCB0-FEF73728722A}"/>
              </a:ext>
            </a:extLst>
          </p:cNvPr>
          <p:cNvSpPr txBox="1"/>
          <p:nvPr/>
        </p:nvSpPr>
        <p:spPr>
          <a:xfrm>
            <a:off x="2250349" y="558954"/>
            <a:ext cx="736110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500" b="1">
                <a:ln w="12700">
                  <a:noFill/>
                </a:ln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INTEGRANTES</a:t>
            </a:r>
          </a:p>
        </p:txBody>
      </p:sp>
      <p:pic>
        <p:nvPicPr>
          <p:cNvPr id="2" name="Imagem 1" descr="Rosto de homem visto de perto&#10;&#10;O conteúdo gerado por IA pode estar incorreto.">
            <a:extLst>
              <a:ext uri="{FF2B5EF4-FFF2-40B4-BE49-F238E27FC236}">
                <a16:creationId xmlns:a16="http://schemas.microsoft.com/office/drawing/2014/main" id="{45C37F00-1271-B05F-3448-41DBA9F2E718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95362" y="2238004"/>
            <a:ext cx="1979191" cy="1999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930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Avaliar Vetor De ícone De Linha PNG , Avaliar ícone, Avaliar, Contexto  Imagem PNG e Vetor Para Download Gratuito">
            <a:extLst>
              <a:ext uri="{FF2B5EF4-FFF2-40B4-BE49-F238E27FC236}">
                <a16:creationId xmlns:a16="http://schemas.microsoft.com/office/drawing/2014/main" id="{C68B7B69-C306-4A29-8D18-3A68289A658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26100" y="3973783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>
              <a:latin typeface="Lato" panose="020F0502020204030203" pitchFamily="34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CD93505-4BBE-4094-A42B-D5D235C6E670}"/>
              </a:ext>
            </a:extLst>
          </p:cNvPr>
          <p:cNvSpPr txBox="1"/>
          <p:nvPr/>
        </p:nvSpPr>
        <p:spPr>
          <a:xfrm>
            <a:off x="2250349" y="558954"/>
            <a:ext cx="736110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500" b="1">
                <a:ln w="12700">
                  <a:noFill/>
                </a:ln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CONTEXTUALIZAÇÃO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6910A69-3E5A-4003-9340-006080B8D8BA}"/>
              </a:ext>
            </a:extLst>
          </p:cNvPr>
          <p:cNvSpPr txBox="1"/>
          <p:nvPr/>
        </p:nvSpPr>
        <p:spPr>
          <a:xfrm>
            <a:off x="10950388" y="6225552"/>
            <a:ext cx="104925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500" b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PRISMA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3A052F8-E029-45EC-893E-8D3C524924B3}"/>
              </a:ext>
            </a:extLst>
          </p:cNvPr>
          <p:cNvSpPr txBox="1"/>
          <p:nvPr/>
        </p:nvSpPr>
        <p:spPr>
          <a:xfrm>
            <a:off x="764241" y="2127123"/>
            <a:ext cx="10663518" cy="36933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indent="457200" algn="just">
              <a:spcAft>
                <a:spcPts val="1600"/>
              </a:spcAft>
            </a:pPr>
            <a:r>
              <a:rPr lang="pt-BR" b="0" i="0" u="none" strike="noStrike">
                <a:solidFill>
                  <a:srgbClr val="FFFFFF"/>
                </a:solidFill>
                <a:effectLst/>
                <a:latin typeface="Lato"/>
                <a:ea typeface="Lato"/>
                <a:cs typeface="Lato"/>
              </a:rPr>
              <a:t>O cenário empresarial brasileiro é de </a:t>
            </a:r>
            <a:r>
              <a:rPr lang="pt-BR" i="0" u="none" strike="noStrike">
                <a:solidFill>
                  <a:srgbClr val="FFFFFF"/>
                </a:solidFill>
                <a:effectLst/>
                <a:latin typeface="Lato"/>
                <a:ea typeface="Lato"/>
                <a:cs typeface="Lato"/>
              </a:rPr>
              <a:t>forte expansão</a:t>
            </a:r>
            <a:r>
              <a:rPr lang="pt-BR" b="0" i="0" u="none" strike="noStrike">
                <a:solidFill>
                  <a:srgbClr val="FFFFFF"/>
                </a:solidFill>
                <a:effectLst/>
                <a:latin typeface="Lato"/>
                <a:ea typeface="Lato"/>
                <a:cs typeface="Lato"/>
              </a:rPr>
              <a:t>, impulsionado por uma onda de empreendedorismo que gerou mais de </a:t>
            </a:r>
            <a:r>
              <a:rPr lang="pt-BR" i="0" u="none" strike="noStrike">
                <a:solidFill>
                  <a:srgbClr val="FFFFFF"/>
                </a:solidFill>
                <a:effectLst/>
                <a:latin typeface="Lato"/>
                <a:ea typeface="Lato"/>
                <a:cs typeface="Lato"/>
              </a:rPr>
              <a:t>3,9 milhões de novas empresas </a:t>
            </a:r>
            <a:r>
              <a:rPr lang="pt-BR" b="0" i="0" u="none" strike="noStrike">
                <a:solidFill>
                  <a:srgbClr val="FFFFFF"/>
                </a:solidFill>
                <a:effectLst/>
                <a:latin typeface="Lato"/>
                <a:ea typeface="Lato"/>
                <a:cs typeface="Lato"/>
              </a:rPr>
              <a:t>em 2021 e mantém um crescimento notável, com </a:t>
            </a:r>
            <a:r>
              <a:rPr lang="pt-BR" i="0" u="none" strike="noStrike">
                <a:solidFill>
                  <a:srgbClr val="FFFFFF"/>
                </a:solidFill>
                <a:effectLst/>
                <a:latin typeface="Lato"/>
                <a:ea typeface="Lato"/>
                <a:cs typeface="Lato"/>
              </a:rPr>
              <a:t>1,4 milhão de pequenos negócios abertos </a:t>
            </a:r>
            <a:r>
              <a:rPr lang="pt-BR" b="0" i="0" u="none" strike="noStrike">
                <a:solidFill>
                  <a:srgbClr val="FFFFFF"/>
                </a:solidFill>
                <a:effectLst/>
                <a:latin typeface="Lato"/>
                <a:ea typeface="Lato"/>
                <a:cs typeface="Lato"/>
              </a:rPr>
              <a:t>apenas no primeiro trimestre de 2025. Esse dinamismo, que elevou a Taxa de Empreendedorismo para 33,4%, exige um fluxo de capital contínuo, evidenciado pelo fato de que 40% do crédito concedido no país é direcionado para empresas. </a:t>
            </a:r>
            <a:br>
              <a:rPr lang="pt-BR" b="0" i="0" u="none" strike="noStrike">
                <a:effectLst/>
                <a:latin typeface="Lato" panose="020F0502020204030203" pitchFamily="34" charset="0"/>
              </a:rPr>
            </a:br>
            <a:r>
              <a:rPr lang="pt-BR" b="0" i="0" u="none" strike="noStrike">
                <a:solidFill>
                  <a:srgbClr val="FFFFFF"/>
                </a:solidFill>
                <a:effectLst/>
                <a:latin typeface="Lato"/>
                <a:ea typeface="Lato"/>
                <a:cs typeface="Lato"/>
              </a:rPr>
              <a:t>Contudo, essa demanda por crédito opera sob a sombra da inadimplência, que atinge mais de 73 milhões de brasileiros, tornando a gestão de risco uma prioridade crítica. É neste contexto que os Fundos de Investimento em Direitos Creditórios (FIDCs) se estabelecem como um pilar estratégico, injetando liquidez imediata nas empresas ao comprar seus recebíveis, sendo 70% desses ativos de </a:t>
            </a:r>
            <a:r>
              <a:rPr lang="pt-BR">
                <a:solidFill>
                  <a:srgbClr val="FFFFFF"/>
                </a:solidFill>
                <a:latin typeface="Lato"/>
                <a:ea typeface="Lato"/>
                <a:cs typeface="Lato"/>
              </a:rPr>
              <a:t>natureza comercial (B2B).                                                                                                                                                                                                       </a:t>
            </a:r>
            <a:br>
              <a:rPr lang="pt-BR" b="0" i="0" u="none" strike="noStrike">
                <a:effectLst/>
                <a:latin typeface="Lato" panose="020F0502020204030203" pitchFamily="34" charset="0"/>
              </a:rPr>
            </a:br>
            <a:r>
              <a:rPr lang="pt-BR" b="0" i="0" u="none" strike="noStrike">
                <a:solidFill>
                  <a:srgbClr val="FFFFFF"/>
                </a:solidFill>
                <a:effectLst/>
                <a:latin typeface="Lato"/>
                <a:ea typeface="Lato"/>
                <a:cs typeface="Lato"/>
              </a:rPr>
              <a:t>Para que os FIDCs operem com segurança e garantam a rentabilidade diante do risco latente, o mercado exige ferramentas de análise sofisticada baseadas em IA/ML que vão além do score básico, realizando a validação estrutural, simulações de estresse e a previsão de rating das cotas do fundo.</a:t>
            </a:r>
            <a:endParaRPr lang="pt-BR" b="0">
              <a:effectLst/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01910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Avaliar Vetor De ícone De Linha PNG , Avaliar ícone, Avaliar, Contexto  Imagem PNG e Vetor Para Download Gratuito">
            <a:extLst>
              <a:ext uri="{FF2B5EF4-FFF2-40B4-BE49-F238E27FC236}">
                <a16:creationId xmlns:a16="http://schemas.microsoft.com/office/drawing/2014/main" id="{C68B7B69-C306-4A29-8D18-3A68289A658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26100" y="3973783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>
              <a:latin typeface="Lato" panose="020F0502020204030203" pitchFamily="34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CD93505-4BBE-4094-A42B-D5D235C6E670}"/>
              </a:ext>
            </a:extLst>
          </p:cNvPr>
          <p:cNvSpPr txBox="1"/>
          <p:nvPr/>
        </p:nvSpPr>
        <p:spPr>
          <a:xfrm>
            <a:off x="2250349" y="558954"/>
            <a:ext cx="736110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500" b="1">
                <a:ln w="12700">
                  <a:noFill/>
                </a:ln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CONHEÇA A PRISMA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6910A69-3E5A-4003-9340-006080B8D8BA}"/>
              </a:ext>
            </a:extLst>
          </p:cNvPr>
          <p:cNvSpPr txBox="1"/>
          <p:nvPr/>
        </p:nvSpPr>
        <p:spPr>
          <a:xfrm>
            <a:off x="10950388" y="6225552"/>
            <a:ext cx="104925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500" b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PRISMA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3A052F8-E029-45EC-893E-8D3C524924B3}"/>
              </a:ext>
            </a:extLst>
          </p:cNvPr>
          <p:cNvSpPr txBox="1"/>
          <p:nvPr/>
        </p:nvSpPr>
        <p:spPr>
          <a:xfrm>
            <a:off x="764241" y="2127123"/>
            <a:ext cx="10663518" cy="34163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indent="457200" algn="just">
              <a:spcAft>
                <a:spcPts val="1600"/>
              </a:spcAft>
            </a:pPr>
            <a:r>
              <a:rPr lang="pt-BR" sz="1800" b="0" i="0" u="none" strike="noStrike">
                <a:solidFill>
                  <a:srgbClr val="FFFFFF"/>
                </a:solidFill>
                <a:effectLst/>
                <a:latin typeface="Lato"/>
                <a:ea typeface="Lato"/>
                <a:cs typeface="Lato"/>
              </a:rPr>
              <a:t>Pensando na complexidade do investimento FIDC e na gestão de ativos complexos, o projeto </a:t>
            </a:r>
            <a:r>
              <a:rPr lang="pt-BR" sz="1800" b="1" i="0" u="none" strike="noStrike">
                <a:solidFill>
                  <a:srgbClr val="FFFFFF"/>
                </a:solidFill>
                <a:effectLst/>
                <a:latin typeface="Lato"/>
                <a:ea typeface="Lato"/>
                <a:cs typeface="Lato"/>
              </a:rPr>
              <a:t>PRISMA </a:t>
            </a:r>
            <a:r>
              <a:rPr lang="pt-BR" sz="1800" b="0" i="0" u="none" strike="noStrike">
                <a:solidFill>
                  <a:srgbClr val="FFFFFF"/>
                </a:solidFill>
                <a:effectLst/>
                <a:latin typeface="Lato"/>
                <a:ea typeface="Lato"/>
                <a:cs typeface="Lato"/>
              </a:rPr>
              <a:t>(Plataforma de Risco e Inteligência para Securitização e Modelagem Avançada) foi desenvolvido. Como um módulo especializado de risco estrutural com IA/ML, foi projetado para analisar rapidamente milhares de operações, indo além dos scores genéricos ao identificar padrões e </a:t>
            </a:r>
            <a:r>
              <a:rPr lang="pt-BR">
                <a:solidFill>
                  <a:srgbClr val="FFFFFF"/>
                </a:solidFill>
                <a:latin typeface="Lato"/>
                <a:ea typeface="Lato"/>
                <a:cs typeface="Lato"/>
              </a:rPr>
              <a:t>correlações                                                                                                              para</a:t>
            </a:r>
            <a:r>
              <a:rPr lang="pt-BR" sz="1800" b="0" i="0" u="none" strike="noStrike">
                <a:solidFill>
                  <a:srgbClr val="FFFFFF"/>
                </a:solidFill>
                <a:effectLst/>
                <a:latin typeface="Lato"/>
                <a:ea typeface="Lato"/>
                <a:cs typeface="Lato"/>
              </a:rPr>
              <a:t> mitigar a seleção adversa e assimetria de informação.</a:t>
            </a:r>
            <a:r>
              <a:rPr lang="pt-BR">
                <a:solidFill>
                  <a:srgbClr val="FFFFFF"/>
                </a:solidFill>
                <a:latin typeface="Lato"/>
                <a:ea typeface="Lato"/>
                <a:cs typeface="Lato"/>
              </a:rPr>
              <a:t>                                                                                                         </a:t>
            </a:r>
            <a:br>
              <a:rPr lang="pt-BR" sz="1800" b="0" i="0" u="none" strike="noStrike">
                <a:effectLst/>
                <a:latin typeface="Lato" panose="020F0502020204030203" pitchFamily="34" charset="0"/>
              </a:rPr>
            </a:br>
            <a:r>
              <a:rPr lang="pt-BR">
                <a:solidFill>
                  <a:srgbClr val="FFFFFF"/>
                </a:solidFill>
                <a:latin typeface="Lato"/>
                <a:ea typeface="Lato"/>
                <a:cs typeface="Lato"/>
              </a:rPr>
              <a:t> </a:t>
            </a:r>
            <a:r>
              <a:rPr lang="pt-BR" sz="1800" b="0" i="0" u="none" strike="noStrike">
                <a:solidFill>
                  <a:srgbClr val="FFFFFF"/>
                </a:solidFill>
                <a:effectLst/>
                <a:latin typeface="Lato"/>
                <a:ea typeface="Lato"/>
                <a:cs typeface="Lato"/>
              </a:rPr>
              <a:t>O </a:t>
            </a:r>
            <a:r>
              <a:rPr lang="pt-BR" sz="1800" b="1" i="0" u="none" strike="noStrike">
                <a:solidFill>
                  <a:srgbClr val="FFFFFF"/>
                </a:solidFill>
                <a:effectLst/>
                <a:latin typeface="Lato"/>
                <a:ea typeface="Lato"/>
                <a:cs typeface="Lato"/>
              </a:rPr>
              <a:t>PRISMA </a:t>
            </a:r>
            <a:r>
              <a:rPr lang="pt-BR" sz="1800" b="0" i="0" u="none" strike="noStrike">
                <a:solidFill>
                  <a:srgbClr val="FFFFFF"/>
                </a:solidFill>
                <a:effectLst/>
                <a:latin typeface="Lato"/>
                <a:ea typeface="Lato"/>
                <a:cs typeface="Lato"/>
              </a:rPr>
              <a:t>opera como o módulo de inteligência estrutural da </a:t>
            </a:r>
            <a:r>
              <a:rPr lang="pt-BR" sz="1800" b="0" i="0" u="none" strike="noStrike" err="1">
                <a:solidFill>
                  <a:srgbClr val="FFFFFF"/>
                </a:solidFill>
                <a:effectLst/>
                <a:latin typeface="Lato"/>
                <a:ea typeface="Lato"/>
                <a:cs typeface="Lato"/>
              </a:rPr>
              <a:t>Núclea</a:t>
            </a:r>
            <a:r>
              <a:rPr lang="pt-BR" sz="1800" b="0" i="0" u="none" strike="noStrike">
                <a:solidFill>
                  <a:srgbClr val="FFFFFF"/>
                </a:solidFill>
                <a:effectLst/>
                <a:latin typeface="Lato"/>
                <a:ea typeface="Lato"/>
                <a:cs typeface="Lato"/>
              </a:rPr>
              <a:t>, iniciando com a Análise e Seleção de Ativos , onde utiliza scores bancários e dados transacionais para validar a elegibilidade do recebível e mitigar a seleção adversa. Em seguida, aplica a Modelagem Preditiva para ir além dos modelos tradicionais, identificando padrões complexos e simulando o risco nas diferentes tranches do FIDC. Por fim, realiza o Monitoramento em Tempo Real da carteira, alertando o gestor sobre mudanças no risco de devedores antes da inadimplência, garantindo assim uma precificação mais acurada e segurança contínua ao patrimônio do Fundo.</a:t>
            </a:r>
            <a:endParaRPr lang="pt-BR" b="0">
              <a:effectLst/>
              <a:latin typeface="Lato"/>
              <a:ea typeface="Lato"/>
              <a:cs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4126969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363426B4-61E1-457E-A551-D6271DEDFEED}"/>
              </a:ext>
            </a:extLst>
          </p:cNvPr>
          <p:cNvSpPr txBox="1"/>
          <p:nvPr/>
        </p:nvSpPr>
        <p:spPr>
          <a:xfrm>
            <a:off x="1646778" y="463930"/>
            <a:ext cx="931433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4500" b="1">
                <a:ln w="12700">
                  <a:solidFill>
                    <a:srgbClr val="4CBF88"/>
                  </a:solidFill>
                </a:ln>
                <a:noFill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>
                <a:ln w="12700">
                  <a:noFill/>
                </a:ln>
                <a:solidFill>
                  <a:srgbClr val="4CBF88"/>
                </a:solidFill>
                <a:latin typeface="Lato" panose="020F0502020204030203" pitchFamily="34" charset="0"/>
              </a:rPr>
              <a:t>PROBLEMAS A SER RESOLVIDOS: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2CD42B6B-97B0-4A32-B891-79ED89B21EDC}"/>
              </a:ext>
            </a:extLst>
          </p:cNvPr>
          <p:cNvSpPr txBox="1"/>
          <p:nvPr/>
        </p:nvSpPr>
        <p:spPr>
          <a:xfrm>
            <a:off x="1362023" y="1995804"/>
            <a:ext cx="1133460" cy="9387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pt-BR" sz="5500" b="1"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01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2C620ED9-6212-49FC-9DCC-68708BB8E72E}"/>
              </a:ext>
            </a:extLst>
          </p:cNvPr>
          <p:cNvSpPr txBox="1"/>
          <p:nvPr/>
        </p:nvSpPr>
        <p:spPr>
          <a:xfrm>
            <a:off x="2532640" y="1995804"/>
            <a:ext cx="8049687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 rtl="0">
              <a:spcBef>
                <a:spcPts val="0"/>
              </a:spcBef>
              <a:spcAft>
                <a:spcPts val="1600"/>
              </a:spcAft>
            </a:pPr>
            <a:r>
              <a:rPr lang="pt-BR" sz="1500" b="1" i="0" u="none" strike="noStrike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Assimetria de Informação:</a:t>
            </a:r>
            <a:r>
              <a:rPr lang="pt-BR" sz="1500" b="0" i="0" u="none" strike="noStrike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 No mercado de </a:t>
            </a:r>
            <a:r>
              <a:rPr lang="pt-BR" sz="1500" b="0" i="0" u="none" strike="noStrike" err="1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FIDCs</a:t>
            </a:r>
            <a:r>
              <a:rPr lang="pt-BR" sz="1500" b="0" i="0" u="none" strike="noStrike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, o cedente (quem vende a dívida) conhece mais sobre o risco do devedor do que o gestor do fundo, criando desequilíbrio de informação.</a:t>
            </a:r>
            <a:endParaRPr lang="pt-BR" sz="1500" b="0">
              <a:effectLst/>
              <a:latin typeface="Lato" panose="020F050202020403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F3894806-5A09-407E-9398-25E7DBDEF543}"/>
              </a:ext>
            </a:extLst>
          </p:cNvPr>
          <p:cNvSpPr txBox="1"/>
          <p:nvPr/>
        </p:nvSpPr>
        <p:spPr>
          <a:xfrm>
            <a:off x="2495535" y="3572836"/>
            <a:ext cx="8049687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 rtl="0">
              <a:spcBef>
                <a:spcPts val="0"/>
              </a:spcBef>
              <a:spcAft>
                <a:spcPts val="1600"/>
              </a:spcAft>
            </a:pPr>
            <a:r>
              <a:rPr lang="pt-BR" sz="1500" b="1" i="0" u="none" strike="noStrike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Risco de Seleção Adversa:</a:t>
            </a:r>
            <a:r>
              <a:rPr lang="pt-BR" sz="1500" b="0" i="0" u="none" strike="noStrike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 Devido à essa assimetria, o cedente pode ter o incentivo de vender ao FIDC apenas as dívidas mais arriscadas, retendo as seguras para si.</a:t>
            </a:r>
            <a:endParaRPr lang="pt-BR" sz="1500" b="0">
              <a:effectLst/>
              <a:latin typeface="Lato" panose="020F050202020403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9C0C0D3B-3721-4E0F-94F2-1557D1936D4D}"/>
              </a:ext>
            </a:extLst>
          </p:cNvPr>
          <p:cNvSpPr txBox="1"/>
          <p:nvPr/>
        </p:nvSpPr>
        <p:spPr>
          <a:xfrm>
            <a:off x="2551194" y="5025361"/>
            <a:ext cx="8031133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 rtl="0">
              <a:spcBef>
                <a:spcPts val="0"/>
              </a:spcBef>
              <a:spcAft>
                <a:spcPts val="1600"/>
              </a:spcAft>
            </a:pPr>
            <a:r>
              <a:rPr lang="pt-BR" sz="1500" b="1" i="0" u="none" strike="noStrike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Inadimplência:</a:t>
            </a:r>
            <a:r>
              <a:rPr lang="pt-BR" sz="1500" b="0" i="0" u="none" strike="noStrike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 Se o FIDC compra os ativos arriscados e o cliente não paga, o fundo arca com esses ativos, o que gera perda para o fundo e seus investidores.</a:t>
            </a:r>
            <a:endParaRPr lang="pt-BR" sz="1500" b="0">
              <a:effectLst/>
              <a:latin typeface="Lato" panose="020F050202020403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93353CC-5B2A-458E-AF0E-5080252A2966}"/>
              </a:ext>
            </a:extLst>
          </p:cNvPr>
          <p:cNvSpPr txBox="1"/>
          <p:nvPr/>
        </p:nvSpPr>
        <p:spPr>
          <a:xfrm>
            <a:off x="1380628" y="3454118"/>
            <a:ext cx="1133460" cy="9387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pt-BR" sz="5500" b="1"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02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0AB0AD9-6F16-481C-BD2F-62CCE2F67440}"/>
              </a:ext>
            </a:extLst>
          </p:cNvPr>
          <p:cNvSpPr txBox="1"/>
          <p:nvPr/>
        </p:nvSpPr>
        <p:spPr>
          <a:xfrm>
            <a:off x="1380628" y="4809303"/>
            <a:ext cx="1133460" cy="9387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pt-BR" sz="5500" b="1"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03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92DBCD53-A7CE-4C72-ABE7-A990BE2B6FAA}"/>
              </a:ext>
            </a:extLst>
          </p:cNvPr>
          <p:cNvSpPr txBox="1"/>
          <p:nvPr/>
        </p:nvSpPr>
        <p:spPr>
          <a:xfrm>
            <a:off x="10950388" y="6225552"/>
            <a:ext cx="104925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500" b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PRISMA</a:t>
            </a:r>
          </a:p>
        </p:txBody>
      </p:sp>
    </p:spTree>
    <p:extLst>
      <p:ext uri="{BB962C8B-B14F-4D97-AF65-F5344CB8AC3E}">
        <p14:creationId xmlns:p14="http://schemas.microsoft.com/office/powerpoint/2010/main" val="1710474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363426B4-61E1-457E-A551-D6271DEDFEED}"/>
              </a:ext>
            </a:extLst>
          </p:cNvPr>
          <p:cNvSpPr txBox="1"/>
          <p:nvPr/>
        </p:nvSpPr>
        <p:spPr>
          <a:xfrm>
            <a:off x="1646778" y="463930"/>
            <a:ext cx="931433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4500" b="1">
                <a:ln w="12700">
                  <a:solidFill>
                    <a:srgbClr val="4CBF88"/>
                  </a:solidFill>
                </a:ln>
                <a:noFill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>
                <a:ln w="12700">
                  <a:noFill/>
                </a:ln>
                <a:solidFill>
                  <a:srgbClr val="4CBF88"/>
                </a:solidFill>
                <a:latin typeface="Lato" panose="020F0502020204030203" pitchFamily="34" charset="0"/>
              </a:rPr>
              <a:t>PROBLEMAS A SER RESOLVIDOS: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2CD42B6B-97B0-4A32-B891-79ED89B21EDC}"/>
              </a:ext>
            </a:extLst>
          </p:cNvPr>
          <p:cNvSpPr txBox="1"/>
          <p:nvPr/>
        </p:nvSpPr>
        <p:spPr>
          <a:xfrm>
            <a:off x="1381759" y="1988204"/>
            <a:ext cx="111377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500" b="1"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04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2C620ED9-6212-49FC-9DCC-68708BB8E72E}"/>
              </a:ext>
            </a:extLst>
          </p:cNvPr>
          <p:cNvSpPr txBox="1"/>
          <p:nvPr/>
        </p:nvSpPr>
        <p:spPr>
          <a:xfrm>
            <a:off x="2495534" y="1988204"/>
            <a:ext cx="8223264" cy="7848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 rtl="0">
              <a:spcBef>
                <a:spcPts val="0"/>
              </a:spcBef>
              <a:spcAft>
                <a:spcPts val="1600"/>
              </a:spcAft>
            </a:pPr>
            <a:r>
              <a:rPr lang="pt-BR" sz="1500" b="1" i="0" u="none" strike="noStrike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Dependência Excessiva de Consultorias/Agências de Rating:</a:t>
            </a:r>
            <a:r>
              <a:rPr lang="pt-BR" sz="1500" b="0" i="0" u="none" strike="noStrike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 A necessidade de contratar consultorias para modelagem ou depender exclusivamente das agências de rating para validar a estrutura do FIDC encarece o processo e reduz a agilidade na tomada de decisão do Gestor.</a:t>
            </a:r>
            <a:endParaRPr lang="pt-BR" sz="1500" b="0">
              <a:effectLst/>
              <a:latin typeface="Lato" panose="020F050202020403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F3894806-5A09-407E-9398-25E7DBDEF543}"/>
              </a:ext>
            </a:extLst>
          </p:cNvPr>
          <p:cNvSpPr txBox="1"/>
          <p:nvPr/>
        </p:nvSpPr>
        <p:spPr>
          <a:xfrm>
            <a:off x="2495534" y="3316581"/>
            <a:ext cx="8223265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 rtl="0">
              <a:spcBef>
                <a:spcPts val="0"/>
              </a:spcBef>
              <a:spcAft>
                <a:spcPts val="1600"/>
              </a:spcAft>
            </a:pPr>
            <a:r>
              <a:rPr lang="pt-BR" sz="1500" b="1" i="0" u="none" strike="noStrike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Dispersão e Subutilização de Dados:</a:t>
            </a:r>
            <a:r>
              <a:rPr lang="pt-BR" sz="1500" b="0" i="0" u="none" strike="noStrike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 Embora haja uma riqueza de dados disponíveis (</a:t>
            </a:r>
            <a:r>
              <a:rPr lang="pt-BR" sz="1500" b="0" i="0" u="none" strike="noStrike" err="1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bureaus</a:t>
            </a:r>
            <a:r>
              <a:rPr lang="pt-BR" sz="1500" b="0" i="0" u="none" strike="noStrike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 de crédito, B3/</a:t>
            </a:r>
            <a:r>
              <a:rPr lang="pt-BR" sz="1500" b="0" i="0" u="none" strike="noStrike" err="1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Neoway</a:t>
            </a:r>
            <a:r>
              <a:rPr lang="pt-BR" sz="1500" b="0" i="0" u="none" strike="noStrike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, </a:t>
            </a:r>
            <a:r>
              <a:rPr lang="pt-BR" sz="1500" b="0" i="0" u="none" strike="noStrike" err="1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Núclea</a:t>
            </a:r>
            <a:r>
              <a:rPr lang="pt-BR" sz="1500" b="0" i="0" u="none" strike="noStrike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, Serasa, etc.), a dificuldade em integrar, processar e aplicar esses dados de forma inteligente para análise de risco estrutural (específico para FIDC) leva a decisões </a:t>
            </a:r>
            <a:r>
              <a:rPr lang="pt-BR" sz="1500" b="0" i="0" u="none" strike="noStrike" err="1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subótimas</a:t>
            </a:r>
            <a:r>
              <a:rPr lang="pt-BR" sz="1500" b="0" i="0" u="none" strike="noStrike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 e perda de oportunidades.</a:t>
            </a:r>
            <a:endParaRPr lang="pt-BR" sz="1500" b="0">
              <a:effectLst/>
              <a:latin typeface="Lato" panose="020F050202020403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9C0C0D3B-3721-4E0F-94F2-1557D1936D4D}"/>
              </a:ext>
            </a:extLst>
          </p:cNvPr>
          <p:cNvSpPr txBox="1"/>
          <p:nvPr/>
        </p:nvSpPr>
        <p:spPr>
          <a:xfrm>
            <a:off x="2514087" y="4930993"/>
            <a:ext cx="8204711" cy="7848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 rtl="0">
              <a:spcBef>
                <a:spcPts val="0"/>
              </a:spcBef>
              <a:spcAft>
                <a:spcPts val="1600"/>
              </a:spcAft>
            </a:pPr>
            <a:r>
              <a:rPr lang="pt-BR" sz="1500" b="1" i="0" u="none" strike="noStrike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Modelos de Risco Genéricos:</a:t>
            </a:r>
            <a:r>
              <a:rPr lang="pt-BR" sz="1500" b="0" i="0" u="none" strike="noStrike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 Os scores de crédito tradicionais não são totalmente adequados para modelar a complexa dinâmica de um portfólio de direitos creditórios com diferentes prazos, setores e garantias, nem para simular a migração de rating das cotas do FIDC.</a:t>
            </a:r>
            <a:endParaRPr lang="pt-BR" sz="1500" b="0">
              <a:effectLst/>
              <a:latin typeface="Lato" panose="020F050202020403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6B4FB76-92E2-427D-B11A-5B36D39DF643}"/>
              </a:ext>
            </a:extLst>
          </p:cNvPr>
          <p:cNvSpPr txBox="1"/>
          <p:nvPr/>
        </p:nvSpPr>
        <p:spPr>
          <a:xfrm>
            <a:off x="1400312" y="3316581"/>
            <a:ext cx="111377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500" b="1"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05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13EFB7B-4ECE-424F-AD7F-97327429A592}"/>
              </a:ext>
            </a:extLst>
          </p:cNvPr>
          <p:cNvSpPr txBox="1"/>
          <p:nvPr/>
        </p:nvSpPr>
        <p:spPr>
          <a:xfrm>
            <a:off x="1400312" y="4875791"/>
            <a:ext cx="111377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500" b="1"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06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90CCF3F-FD1D-4E72-ADF2-DDED85D9F346}"/>
              </a:ext>
            </a:extLst>
          </p:cNvPr>
          <p:cNvSpPr txBox="1"/>
          <p:nvPr/>
        </p:nvSpPr>
        <p:spPr>
          <a:xfrm>
            <a:off x="10950388" y="6225552"/>
            <a:ext cx="104925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500" b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PRISMA</a:t>
            </a:r>
          </a:p>
        </p:txBody>
      </p:sp>
    </p:spTree>
    <p:extLst>
      <p:ext uri="{BB962C8B-B14F-4D97-AF65-F5344CB8AC3E}">
        <p14:creationId xmlns:p14="http://schemas.microsoft.com/office/powerpoint/2010/main" val="1582176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363426B4-61E1-457E-A551-D6271DEDFEED}"/>
              </a:ext>
            </a:extLst>
          </p:cNvPr>
          <p:cNvSpPr txBox="1"/>
          <p:nvPr/>
        </p:nvSpPr>
        <p:spPr>
          <a:xfrm>
            <a:off x="3611698" y="415437"/>
            <a:ext cx="496860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4500" b="1">
                <a:ln w="12700">
                  <a:solidFill>
                    <a:srgbClr val="4CBF88"/>
                  </a:solidFill>
                </a:ln>
                <a:noFill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>
                <a:ln w="12700">
                  <a:noFill/>
                </a:ln>
                <a:solidFill>
                  <a:srgbClr val="4CBF88"/>
                </a:solidFill>
                <a:latin typeface="Lato" panose="020F0502020204030203" pitchFamily="34" charset="0"/>
              </a:rPr>
              <a:t>PÚBLICO ALVO: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1AE5BB21-8815-4F43-942E-7B373749BB4B}"/>
              </a:ext>
            </a:extLst>
          </p:cNvPr>
          <p:cNvSpPr txBox="1"/>
          <p:nvPr/>
        </p:nvSpPr>
        <p:spPr>
          <a:xfrm>
            <a:off x="2514087" y="1946465"/>
            <a:ext cx="8502665" cy="7848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pt-BR" sz="1500" b="1" i="0" u="none" strike="noStrike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Administradores de </a:t>
            </a:r>
            <a:r>
              <a:rPr lang="pt-BR" sz="1500" b="1" i="0" u="none" strike="noStrike" err="1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FIDCs</a:t>
            </a:r>
            <a:r>
              <a:rPr lang="pt-BR" sz="1500" b="1" i="0" u="none" strike="noStrike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:</a:t>
            </a:r>
            <a:r>
              <a:rPr lang="pt-BR" sz="1500" b="0" i="0" u="none" strike="noStrike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 </a:t>
            </a:r>
            <a:r>
              <a:rPr lang="pt-BR" sz="1500" b="1" i="0" u="none" strike="noStrike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Validação e </a:t>
            </a:r>
            <a:r>
              <a:rPr lang="pt-BR" sz="1500" b="1" i="0" u="none" strike="noStrike" err="1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Compliance</a:t>
            </a:r>
            <a:r>
              <a:rPr lang="pt-BR" sz="1500" b="1" i="0" u="none" strike="noStrike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.</a:t>
            </a:r>
            <a:r>
              <a:rPr lang="pt-BR" sz="1500" b="0" i="0" u="none" strike="noStrike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 Garantir que os recebíveis comprados se enquadram nas regras do Fundo (elegibilidade) e que o risco está monitorado conforme a CVM (Comissão de Valores Mobiliários, entidade que regula os </a:t>
            </a:r>
            <a:r>
              <a:rPr lang="pt-BR" sz="1500" b="0" i="0" u="none" strike="noStrike" err="1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FIDCs</a:t>
            </a:r>
            <a:r>
              <a:rPr lang="pt-BR" sz="1500" b="0" i="0" u="none" strike="noStrike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).</a:t>
            </a:r>
            <a:endParaRPr lang="pt-BR" sz="1500" b="1">
              <a:solidFill>
                <a:srgbClr val="4CBF88"/>
              </a:solidFill>
              <a:latin typeface="Lato" panose="020F050202020403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B7D9A8D2-561A-4859-857E-55BD0100D96F}"/>
              </a:ext>
            </a:extLst>
          </p:cNvPr>
          <p:cNvSpPr txBox="1"/>
          <p:nvPr/>
        </p:nvSpPr>
        <p:spPr>
          <a:xfrm>
            <a:off x="2514087" y="3114830"/>
            <a:ext cx="8502665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 rtl="0">
              <a:spcBef>
                <a:spcPts val="0"/>
              </a:spcBef>
              <a:spcAft>
                <a:spcPts val="1600"/>
              </a:spcAft>
            </a:pPr>
            <a:r>
              <a:rPr lang="pt-BR" sz="1500" b="1" i="0" u="none" strike="noStrike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Gestores de Carteira de </a:t>
            </a:r>
            <a:r>
              <a:rPr lang="pt-BR" sz="1500" b="1" i="0" u="none" strike="noStrike" err="1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FIDCs</a:t>
            </a:r>
            <a:r>
              <a:rPr lang="pt-BR" sz="1500" b="1" i="0" u="none" strike="noStrike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:</a:t>
            </a:r>
            <a:r>
              <a:rPr lang="pt-BR" sz="1500" b="0" i="0" u="none" strike="noStrike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 </a:t>
            </a:r>
            <a:r>
              <a:rPr lang="pt-BR" sz="1500" b="1" i="0" u="none" strike="noStrike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Otimização de Retorno.</a:t>
            </a:r>
            <a:r>
              <a:rPr lang="pt-BR" sz="1500" b="0" i="0" u="none" strike="noStrike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 Precificar o risco com precisão para maximizar a margem de lucro e garantir que o Fundo não tome calotes inesperados</a:t>
            </a:r>
            <a:endParaRPr lang="pt-BR" sz="1500" b="0">
              <a:effectLst/>
              <a:latin typeface="Lato" panose="020F050202020403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F49EB5BF-75A2-406B-BE7E-AC3444779C74}"/>
              </a:ext>
            </a:extLst>
          </p:cNvPr>
          <p:cNvSpPr txBox="1"/>
          <p:nvPr/>
        </p:nvSpPr>
        <p:spPr>
          <a:xfrm>
            <a:off x="2495535" y="4126705"/>
            <a:ext cx="8502665" cy="7848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 rtl="0">
              <a:spcBef>
                <a:spcPts val="0"/>
              </a:spcBef>
              <a:spcAft>
                <a:spcPts val="1600"/>
              </a:spcAft>
            </a:pPr>
            <a:r>
              <a:rPr lang="pt-BR" sz="1500" b="1" i="0" u="none" strike="noStrike" err="1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Securitizadoras</a:t>
            </a:r>
            <a:r>
              <a:rPr lang="pt-BR" sz="1500" b="1" i="0" u="none" strike="noStrike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: Previsibilidade de Rating.</a:t>
            </a:r>
            <a:r>
              <a:rPr lang="pt-BR" sz="1500" b="0" i="0" u="none" strike="noStrike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 Estruturar a emissão de cotas (Sênior, Mezanino, Subordinada) com segurança, sabendo antecipadamente qual será o rating da agência, garantindo a liquidez da cota sênior.</a:t>
            </a:r>
            <a:endParaRPr lang="pt-BR" sz="1500" b="0">
              <a:effectLst/>
              <a:latin typeface="Lato" panose="020F050202020403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C571E80-09CA-44D2-9264-51A39B0BEA7E}"/>
              </a:ext>
            </a:extLst>
          </p:cNvPr>
          <p:cNvSpPr txBox="1"/>
          <p:nvPr/>
        </p:nvSpPr>
        <p:spPr>
          <a:xfrm>
            <a:off x="1381758" y="1904203"/>
            <a:ext cx="111377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500" b="1"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01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1279208-A3AA-4F8C-83E5-AFD6C3B4141A}"/>
              </a:ext>
            </a:extLst>
          </p:cNvPr>
          <p:cNvSpPr txBox="1"/>
          <p:nvPr/>
        </p:nvSpPr>
        <p:spPr>
          <a:xfrm>
            <a:off x="1381758" y="2959641"/>
            <a:ext cx="111377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500" b="1"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02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CEF60DD3-DD93-4FA7-BEC3-AF4DD93E2E26}"/>
              </a:ext>
            </a:extLst>
          </p:cNvPr>
          <p:cNvSpPr txBox="1"/>
          <p:nvPr/>
        </p:nvSpPr>
        <p:spPr>
          <a:xfrm>
            <a:off x="1400312" y="4087376"/>
            <a:ext cx="111377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500" b="1"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03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ACA7D7A-EE91-42B6-A4AB-A69C584569FC}"/>
              </a:ext>
            </a:extLst>
          </p:cNvPr>
          <p:cNvSpPr txBox="1"/>
          <p:nvPr/>
        </p:nvSpPr>
        <p:spPr>
          <a:xfrm>
            <a:off x="10950388" y="6225552"/>
            <a:ext cx="104925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500" b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PRISMA</a:t>
            </a:r>
          </a:p>
        </p:txBody>
      </p:sp>
    </p:spTree>
    <p:extLst>
      <p:ext uri="{BB962C8B-B14F-4D97-AF65-F5344CB8AC3E}">
        <p14:creationId xmlns:p14="http://schemas.microsoft.com/office/powerpoint/2010/main" val="31829662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363426B4-61E1-457E-A551-D6271DEDFEED}"/>
              </a:ext>
            </a:extLst>
          </p:cNvPr>
          <p:cNvSpPr txBox="1"/>
          <p:nvPr/>
        </p:nvSpPr>
        <p:spPr>
          <a:xfrm>
            <a:off x="2415449" y="332921"/>
            <a:ext cx="736110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4500" b="1">
                <a:ln w="12700">
                  <a:solidFill>
                    <a:srgbClr val="4CBF88"/>
                  </a:solidFill>
                </a:ln>
                <a:noFill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>
                <a:ln w="12700">
                  <a:noFill/>
                </a:ln>
                <a:solidFill>
                  <a:srgbClr val="4CBF88"/>
                </a:solidFill>
                <a:latin typeface="Lato" panose="020F0502020204030203" pitchFamily="34" charset="0"/>
              </a:rPr>
              <a:t>PROPOSTA DE SOLUÇÃO: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5424B22-AF26-49C1-9905-E7FC28736182}"/>
              </a:ext>
            </a:extLst>
          </p:cNvPr>
          <p:cNvSpPr txBox="1"/>
          <p:nvPr/>
        </p:nvSpPr>
        <p:spPr>
          <a:xfrm>
            <a:off x="2514088" y="2306280"/>
            <a:ext cx="8149430" cy="7848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 rtl="0">
              <a:spcBef>
                <a:spcPts val="0"/>
              </a:spcBef>
              <a:spcAft>
                <a:spcPts val="1600"/>
              </a:spcAft>
            </a:pPr>
            <a:r>
              <a:rPr lang="pt-BR" sz="1500" b="1" i="0" u="none" strike="noStrike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Análise e Seleção de Ativos:</a:t>
            </a:r>
            <a:r>
              <a:rPr lang="pt-BR" sz="1500" b="0" i="0" u="none" strike="noStrike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 Analisar rapidamente milhares de operações de crédito dos devedores através de scores bancários e dados transacionais, permitindo que o Fundo compre ativos de forma mais segura e mitigando a seleção adversa.</a:t>
            </a:r>
            <a:endParaRPr lang="pt-BR" sz="1500" b="0">
              <a:effectLst/>
              <a:latin typeface="Lato" panose="020F0502020204030203" pitchFamily="34" charset="0"/>
              <a:ea typeface="Lato" panose="020F050202020403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5C38A4A8-42D7-4FEB-A608-C03A7CACFD8E}"/>
              </a:ext>
            </a:extLst>
          </p:cNvPr>
          <p:cNvSpPr txBox="1"/>
          <p:nvPr/>
        </p:nvSpPr>
        <p:spPr>
          <a:xfrm>
            <a:off x="2495535" y="3512237"/>
            <a:ext cx="8149430" cy="7848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 rtl="0">
              <a:spcBef>
                <a:spcPts val="0"/>
              </a:spcBef>
              <a:spcAft>
                <a:spcPts val="1600"/>
              </a:spcAft>
            </a:pPr>
            <a:r>
              <a:rPr lang="pt-BR" sz="1500" b="1" i="0" u="none" strike="noStrike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Modelagem Preditiva:</a:t>
            </a:r>
            <a:r>
              <a:rPr lang="pt-BR" sz="1500" b="0" i="0" u="none" strike="noStrike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 Identificar padrões e correlações de forma mais eficiente do que os modelos tradicionais, resultando em previsões de risco mais precisas e permitindo simular a alocação de risco nas diferentes tranches do FIDC.</a:t>
            </a:r>
            <a:endParaRPr lang="pt-BR" sz="1500" b="0">
              <a:effectLst/>
              <a:latin typeface="Lato" panose="020F0502020204030203" pitchFamily="34" charset="0"/>
              <a:ea typeface="Lato" panose="020F050202020403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C6451B0A-684C-48B3-B0F8-8DC6DAEB0487}"/>
              </a:ext>
            </a:extLst>
          </p:cNvPr>
          <p:cNvSpPr txBox="1"/>
          <p:nvPr/>
        </p:nvSpPr>
        <p:spPr>
          <a:xfrm>
            <a:off x="2514088" y="4636430"/>
            <a:ext cx="8149430" cy="7848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 rtl="0">
              <a:spcBef>
                <a:spcPts val="0"/>
              </a:spcBef>
              <a:spcAft>
                <a:spcPts val="1600"/>
              </a:spcAft>
            </a:pPr>
            <a:r>
              <a:rPr lang="pt-BR" sz="1500" b="1" i="0" u="none" strike="noStrike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Monitoramento em Tempo Real:</a:t>
            </a:r>
            <a:r>
              <a:rPr lang="pt-BR" sz="1500" b="0" i="0" u="none" strike="noStrike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 Monitorar a saúde da carteira em tempo real, alertando o gestor sobre mudanças no risco de um devedor (cedente ou sacado) antes que a inadimplência ocorra.</a:t>
            </a:r>
            <a:endParaRPr lang="pt-BR" sz="1500" b="0">
              <a:effectLst/>
              <a:latin typeface="Lato" panose="020F0502020204030203" pitchFamily="34" charset="0"/>
              <a:ea typeface="Lato" panose="020F050202020403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49F66DB-720D-41E4-B6CB-A0974BCD8163}"/>
              </a:ext>
            </a:extLst>
          </p:cNvPr>
          <p:cNvSpPr txBox="1"/>
          <p:nvPr/>
        </p:nvSpPr>
        <p:spPr>
          <a:xfrm>
            <a:off x="1381758" y="3435292"/>
            <a:ext cx="111377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500" b="1"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02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E2CB7E20-43A8-4697-9142-39032F8B1E0E}"/>
              </a:ext>
            </a:extLst>
          </p:cNvPr>
          <p:cNvSpPr txBox="1"/>
          <p:nvPr/>
        </p:nvSpPr>
        <p:spPr>
          <a:xfrm>
            <a:off x="1381758" y="2222623"/>
            <a:ext cx="111377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500" b="1"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01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C3D00F0-4617-4107-AE9F-6BB58965836A}"/>
              </a:ext>
            </a:extLst>
          </p:cNvPr>
          <p:cNvSpPr txBox="1"/>
          <p:nvPr/>
        </p:nvSpPr>
        <p:spPr>
          <a:xfrm>
            <a:off x="1381757" y="4559485"/>
            <a:ext cx="111377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500" b="1"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03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D931177D-E8B9-4099-A590-F456D678B4CF}"/>
              </a:ext>
            </a:extLst>
          </p:cNvPr>
          <p:cNvSpPr txBox="1"/>
          <p:nvPr/>
        </p:nvSpPr>
        <p:spPr>
          <a:xfrm>
            <a:off x="10950388" y="6225552"/>
            <a:ext cx="1049254" cy="3231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pt-BR" sz="1500" b="1">
                <a:solidFill>
                  <a:schemeClr val="bg1"/>
                </a:solidFill>
                <a:latin typeface="Lato"/>
                <a:ea typeface="Lato"/>
                <a:cs typeface="Segoe UI"/>
              </a:rPr>
              <a:t>PRISMA</a:t>
            </a:r>
          </a:p>
        </p:txBody>
      </p:sp>
    </p:spTree>
    <p:extLst>
      <p:ext uri="{BB962C8B-B14F-4D97-AF65-F5344CB8AC3E}">
        <p14:creationId xmlns:p14="http://schemas.microsoft.com/office/powerpoint/2010/main" val="31366464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363426B4-61E1-457E-A551-D6271DEDFEED}"/>
              </a:ext>
            </a:extLst>
          </p:cNvPr>
          <p:cNvSpPr txBox="1"/>
          <p:nvPr/>
        </p:nvSpPr>
        <p:spPr>
          <a:xfrm>
            <a:off x="2415449" y="332921"/>
            <a:ext cx="736110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4500" b="1">
                <a:ln w="12700">
                  <a:solidFill>
                    <a:srgbClr val="4CBF88"/>
                  </a:solidFill>
                </a:ln>
                <a:noFill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>
                <a:ln w="12700">
                  <a:noFill/>
                </a:ln>
                <a:solidFill>
                  <a:srgbClr val="4CBF88"/>
                </a:solidFill>
                <a:latin typeface="Lato" panose="020F0502020204030203" pitchFamily="34" charset="0"/>
              </a:rPr>
              <a:t>IMPACTOS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2ECCFB53-D531-4DA1-BE8D-1BC21DB22B1F}"/>
              </a:ext>
            </a:extLst>
          </p:cNvPr>
          <p:cNvSpPr txBox="1"/>
          <p:nvPr/>
        </p:nvSpPr>
        <p:spPr>
          <a:xfrm>
            <a:off x="2415449" y="2280358"/>
            <a:ext cx="8049687" cy="7848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 rtl="0">
              <a:spcBef>
                <a:spcPts val="0"/>
              </a:spcBef>
              <a:spcAft>
                <a:spcPts val="1600"/>
              </a:spcAft>
            </a:pPr>
            <a:r>
              <a:rPr lang="pt-BR" sz="1500" b="1" i="0" u="none" strike="noStrike">
                <a:solidFill>
                  <a:srgbClr val="FFFFFF"/>
                </a:solidFill>
                <a:effectLst/>
                <a:latin typeface="Lato"/>
                <a:ea typeface="Lato"/>
                <a:cs typeface="Segoe UI"/>
              </a:rPr>
              <a:t>Inteligência Estrutural para a </a:t>
            </a:r>
            <a:r>
              <a:rPr lang="pt-BR" sz="1500" b="1" i="0" u="none" strike="noStrike" err="1">
                <a:solidFill>
                  <a:srgbClr val="FFFFFF"/>
                </a:solidFill>
                <a:effectLst/>
                <a:latin typeface="Lato"/>
                <a:ea typeface="Lato"/>
                <a:cs typeface="Segoe UI"/>
              </a:rPr>
              <a:t>Núclea</a:t>
            </a:r>
            <a:r>
              <a:rPr lang="pt-BR" sz="1500" b="1" i="0" u="none" strike="noStrike">
                <a:solidFill>
                  <a:srgbClr val="FFFFFF"/>
                </a:solidFill>
                <a:effectLst/>
                <a:latin typeface="Lato"/>
                <a:ea typeface="Lato"/>
                <a:cs typeface="Segoe UI"/>
              </a:rPr>
              <a:t>:</a:t>
            </a:r>
            <a:r>
              <a:rPr lang="pt-BR" sz="1500" b="0" i="0" u="none" strike="noStrike">
                <a:solidFill>
                  <a:srgbClr val="FFFFFF"/>
                </a:solidFill>
                <a:effectLst/>
                <a:latin typeface="Lato"/>
                <a:ea typeface="Lato"/>
                <a:cs typeface="Segoe UI"/>
              </a:rPr>
              <a:t> Posiciona a </a:t>
            </a:r>
            <a:r>
              <a:rPr lang="pt-BR" sz="1500" b="0" i="0" u="none" strike="noStrike" err="1">
                <a:solidFill>
                  <a:srgbClr val="FFFFFF"/>
                </a:solidFill>
                <a:effectLst/>
                <a:latin typeface="Lato"/>
                <a:ea typeface="Lato"/>
                <a:cs typeface="Segoe UI"/>
              </a:rPr>
              <a:t>Núclea</a:t>
            </a:r>
            <a:r>
              <a:rPr lang="pt-BR" sz="1500" b="0" i="0" u="none" strike="noStrike">
                <a:solidFill>
                  <a:srgbClr val="FFFFFF"/>
                </a:solidFill>
                <a:effectLst/>
                <a:latin typeface="Lato"/>
                <a:ea typeface="Lato"/>
                <a:cs typeface="Segoe UI"/>
              </a:rPr>
              <a:t> como um provedor </a:t>
            </a:r>
            <a:r>
              <a:rPr lang="pt-BR" sz="1500" b="0" i="1" u="none" strike="noStrike">
                <a:solidFill>
                  <a:srgbClr val="FFFFFF"/>
                </a:solidFill>
                <a:effectLst/>
                <a:latin typeface="Lato"/>
                <a:ea typeface="Lato"/>
                <a:cs typeface="Segoe UI"/>
              </a:rPr>
              <a:t>premium</a:t>
            </a:r>
            <a:r>
              <a:rPr lang="pt-BR" sz="1500" b="0" i="0" u="none" strike="noStrike">
                <a:solidFill>
                  <a:srgbClr val="FFFFFF"/>
                </a:solidFill>
                <a:effectLst/>
                <a:latin typeface="Lato"/>
                <a:ea typeface="Lato"/>
                <a:cs typeface="Segoe UI"/>
              </a:rPr>
              <a:t> de inteligência para o mercado de FIDCs, convertendo seu vasto volume de dados transacionais em análises de risco estrutural (rating e stress </a:t>
            </a:r>
            <a:r>
              <a:rPr lang="pt-BR" sz="1500" b="0" i="0" u="none" strike="noStrike" err="1">
                <a:solidFill>
                  <a:srgbClr val="FFFFFF"/>
                </a:solidFill>
                <a:effectLst/>
                <a:latin typeface="Lato"/>
                <a:ea typeface="Lato"/>
                <a:cs typeface="Segoe UI"/>
              </a:rPr>
              <a:t>testing</a:t>
            </a:r>
            <a:r>
              <a:rPr lang="pt-BR" sz="1500" b="0" i="0" u="none" strike="noStrike">
                <a:solidFill>
                  <a:srgbClr val="FFFFFF"/>
                </a:solidFill>
                <a:effectLst/>
                <a:latin typeface="Lato"/>
                <a:ea typeface="Lato"/>
                <a:cs typeface="Segoe UI"/>
              </a:rPr>
              <a:t>) que faltam no mercado.</a:t>
            </a:r>
            <a:endParaRPr lang="pt-BR" sz="1500" b="0">
              <a:effectLst/>
              <a:latin typeface="Lato" panose="020F0502020204030203" pitchFamily="34" charset="0"/>
              <a:ea typeface="Lato" panose="020F0502020204030203" pitchFamily="34" charset="0"/>
              <a:cs typeface="Segoe UI" panose="020B0502040204020203" pitchFamily="34" charset="0"/>
            </a:endParaRP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504455AE-607E-4265-8D3E-89D54FE8B3F3}"/>
              </a:ext>
            </a:extLst>
          </p:cNvPr>
          <p:cNvSpPr txBox="1"/>
          <p:nvPr/>
        </p:nvSpPr>
        <p:spPr>
          <a:xfrm>
            <a:off x="2415449" y="4048460"/>
            <a:ext cx="8928612" cy="7848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 rtl="0">
              <a:spcBef>
                <a:spcPts val="0"/>
              </a:spcBef>
              <a:spcAft>
                <a:spcPts val="1600"/>
              </a:spcAft>
            </a:pPr>
            <a:r>
              <a:rPr lang="pt-BR" sz="1500" b="1" i="0" u="none" strike="noStrike">
                <a:solidFill>
                  <a:srgbClr val="FFFFFF"/>
                </a:solidFill>
                <a:effectLst/>
                <a:latin typeface="Lato"/>
                <a:ea typeface="Lato"/>
                <a:cs typeface="Segoe UI"/>
              </a:rPr>
              <a:t>Melhoria no </a:t>
            </a:r>
            <a:r>
              <a:rPr lang="pt-BR" sz="1500" b="1" i="1" u="none" strike="noStrike" err="1">
                <a:solidFill>
                  <a:srgbClr val="FFFFFF"/>
                </a:solidFill>
                <a:effectLst/>
                <a:latin typeface="Lato"/>
                <a:ea typeface="Lato"/>
                <a:cs typeface="Segoe UI"/>
              </a:rPr>
              <a:t>Underwriting</a:t>
            </a:r>
            <a:r>
              <a:rPr lang="pt-BR" sz="1500" b="1" i="0" u="none" strike="noStrike">
                <a:solidFill>
                  <a:srgbClr val="FFFFFF"/>
                </a:solidFill>
                <a:effectLst/>
                <a:latin typeface="Lato"/>
                <a:ea typeface="Lato"/>
                <a:cs typeface="Segoe UI"/>
              </a:rPr>
              <a:t> de FIDCs:</a:t>
            </a:r>
            <a:r>
              <a:rPr lang="pt-BR" sz="1500" b="0" i="0" u="none" strike="noStrike">
                <a:solidFill>
                  <a:srgbClr val="FFFFFF"/>
                </a:solidFill>
                <a:effectLst/>
                <a:latin typeface="Lato"/>
                <a:ea typeface="Lato"/>
                <a:cs typeface="Segoe UI"/>
              </a:rPr>
              <a:t> Reduz drasticamente o tempo de </a:t>
            </a:r>
            <a:r>
              <a:rPr lang="pt-BR" sz="1500" b="0" i="1" u="none" strike="noStrike" err="1">
                <a:solidFill>
                  <a:srgbClr val="FFFFFF"/>
                </a:solidFill>
                <a:effectLst/>
                <a:latin typeface="Lato"/>
                <a:ea typeface="Lato"/>
                <a:cs typeface="Segoe UI"/>
              </a:rPr>
              <a:t>due</a:t>
            </a:r>
            <a:r>
              <a:rPr lang="pt-BR" sz="1500" b="0" i="1" u="none" strike="noStrike">
                <a:solidFill>
                  <a:srgbClr val="FFFFFF"/>
                </a:solidFill>
                <a:effectLst/>
                <a:latin typeface="Lato"/>
                <a:ea typeface="Lato"/>
                <a:cs typeface="Segoe UI"/>
              </a:rPr>
              <a:t> </a:t>
            </a:r>
            <a:r>
              <a:rPr lang="pt-BR" sz="1500" b="0" i="1" u="none" strike="noStrike" err="1">
                <a:solidFill>
                  <a:srgbClr val="FFFFFF"/>
                </a:solidFill>
                <a:effectLst/>
                <a:latin typeface="Lato"/>
                <a:ea typeface="Lato"/>
                <a:cs typeface="Segoe UI"/>
              </a:rPr>
              <a:t>diligence</a:t>
            </a:r>
            <a:r>
              <a:rPr lang="pt-BR" sz="1500" b="0" i="0" u="none" strike="noStrike">
                <a:solidFill>
                  <a:srgbClr val="FFFFFF"/>
                </a:solidFill>
                <a:effectLst/>
                <a:latin typeface="Lato"/>
                <a:ea typeface="Lato"/>
                <a:cs typeface="Segoe UI"/>
              </a:rPr>
              <a:t> e o risco operacional associado à análise manual de elegibilidade e risco do lastro, tornando o processo de originação de ativos mais ágil e seguro para gestores e administradores.</a:t>
            </a:r>
            <a:endParaRPr lang="pt-BR" sz="1500" b="0">
              <a:effectLst/>
              <a:latin typeface="Lato"/>
              <a:ea typeface="Lato"/>
              <a:cs typeface="Segoe UI"/>
            </a:endParaRPr>
          </a:p>
        </p:txBody>
      </p:sp>
      <p:sp>
        <p:nvSpPr>
          <p:cNvPr id="25" name="AutoShape 2" descr="Avaliar Vetor De ícone De Linha PNG , Avaliar ícone, Avaliar, Contexto  Imagem PNG e Vetor Para Download Gratuito">
            <a:extLst>
              <a:ext uri="{FF2B5EF4-FFF2-40B4-BE49-F238E27FC236}">
                <a16:creationId xmlns:a16="http://schemas.microsoft.com/office/drawing/2014/main" id="{0814D594-65FB-4B7F-B099-987F07BFB8C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44961" y="421293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endParaRPr lang="pt-BR">
              <a:latin typeface="Lato" panose="020F0502020204030203" pitchFamily="34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37887AB-06FE-4386-8F79-B9264157D3BC}"/>
              </a:ext>
            </a:extLst>
          </p:cNvPr>
          <p:cNvSpPr txBox="1"/>
          <p:nvPr/>
        </p:nvSpPr>
        <p:spPr>
          <a:xfrm>
            <a:off x="1341978" y="3971515"/>
            <a:ext cx="111377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500" b="1"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02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3E6CB5BE-FAD9-4409-9CA0-E59AE2BDF26D}"/>
              </a:ext>
            </a:extLst>
          </p:cNvPr>
          <p:cNvSpPr txBox="1"/>
          <p:nvPr/>
        </p:nvSpPr>
        <p:spPr>
          <a:xfrm>
            <a:off x="1341978" y="2203413"/>
            <a:ext cx="111377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500" b="1"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01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515B322-FE5A-4BF8-9A25-901020C2E95A}"/>
              </a:ext>
            </a:extLst>
          </p:cNvPr>
          <p:cNvSpPr txBox="1"/>
          <p:nvPr/>
        </p:nvSpPr>
        <p:spPr>
          <a:xfrm>
            <a:off x="10950388" y="6225552"/>
            <a:ext cx="104925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500" b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PRISMA</a:t>
            </a:r>
          </a:p>
        </p:txBody>
      </p:sp>
    </p:spTree>
    <p:extLst>
      <p:ext uri="{BB962C8B-B14F-4D97-AF65-F5344CB8AC3E}">
        <p14:creationId xmlns:p14="http://schemas.microsoft.com/office/powerpoint/2010/main" val="10568568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363426B4-61E1-457E-A551-D6271DEDFEED}"/>
              </a:ext>
            </a:extLst>
          </p:cNvPr>
          <p:cNvSpPr txBox="1"/>
          <p:nvPr/>
        </p:nvSpPr>
        <p:spPr>
          <a:xfrm>
            <a:off x="2415449" y="332921"/>
            <a:ext cx="736110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4500" b="1">
                <a:ln w="12700">
                  <a:solidFill>
                    <a:srgbClr val="4CBF88"/>
                  </a:solidFill>
                </a:ln>
                <a:noFill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>
                <a:ln w="12700">
                  <a:noFill/>
                </a:ln>
                <a:solidFill>
                  <a:srgbClr val="4CBF88"/>
                </a:solidFill>
                <a:latin typeface="Lato" panose="020F0502020204030203" pitchFamily="34" charset="0"/>
              </a:rPr>
              <a:t>BENEFÍCIOS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3A78CFF5-A941-411D-B544-6D66176FC6A8}"/>
              </a:ext>
            </a:extLst>
          </p:cNvPr>
          <p:cNvSpPr txBox="1"/>
          <p:nvPr/>
        </p:nvSpPr>
        <p:spPr>
          <a:xfrm>
            <a:off x="2554429" y="1959362"/>
            <a:ext cx="7575687" cy="7848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spcAft>
                <a:spcPts val="1600"/>
              </a:spcAft>
            </a:pPr>
            <a:r>
              <a:rPr lang="pt-BR" sz="1500" b="1">
                <a:solidFill>
                  <a:srgbClr val="FFFFFF"/>
                </a:solidFill>
                <a:latin typeface="Lato"/>
                <a:ea typeface="+mn-lt"/>
                <a:cs typeface="+mn-lt"/>
              </a:rPr>
              <a:t>Potencial de Otimização do Retorno em até 1,5% a.a.</a:t>
            </a:r>
            <a:r>
              <a:rPr lang="pt-BR" sz="1500">
                <a:solidFill>
                  <a:srgbClr val="FFFFFF"/>
                </a:solidFill>
                <a:latin typeface="Lato"/>
                <a:ea typeface="+mn-lt"/>
                <a:cs typeface="+mn-lt"/>
              </a:rPr>
              <a:t>: Precificação mais acurada do risco permite que o Fundo obtenha melhor retorno sem aumentar indevidamente a exposição, otimizando a margem de lucro em até 1,5% a.a..</a:t>
            </a:r>
            <a:endParaRPr lang="pt-BR" sz="1500">
              <a:latin typeface="Lato"/>
              <a:ea typeface="+mn-lt"/>
              <a:cs typeface="+mn-lt"/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CCA8D025-F101-4BF7-B714-AFBCDA31AA2B}"/>
              </a:ext>
            </a:extLst>
          </p:cNvPr>
          <p:cNvSpPr txBox="1"/>
          <p:nvPr/>
        </p:nvSpPr>
        <p:spPr>
          <a:xfrm>
            <a:off x="2554429" y="3085768"/>
            <a:ext cx="7575687" cy="7848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spcAft>
                <a:spcPts val="1600"/>
              </a:spcAft>
            </a:pPr>
            <a:r>
              <a:rPr lang="pt-BR" sz="1500" b="1">
                <a:solidFill>
                  <a:srgbClr val="FFFFFF"/>
                </a:solidFill>
                <a:latin typeface="Lato"/>
                <a:ea typeface="+mn-lt"/>
                <a:cs typeface="+mn-lt"/>
              </a:rPr>
              <a:t>Meta de Redução do Risco de Crédito em 30%</a:t>
            </a:r>
            <a:r>
              <a:rPr lang="pt-BR" sz="1500">
                <a:solidFill>
                  <a:srgbClr val="FFFFFF"/>
                </a:solidFill>
                <a:latin typeface="Lato"/>
                <a:ea typeface="+mn-lt"/>
                <a:cs typeface="+mn-lt"/>
              </a:rPr>
              <a:t>: Monitoramento em tempo real permite a ação preventiva antes do </a:t>
            </a:r>
            <a:r>
              <a:rPr lang="pt-BR" sz="1500" i="1">
                <a:solidFill>
                  <a:srgbClr val="FFFFFF"/>
                </a:solidFill>
                <a:latin typeface="Lato"/>
                <a:ea typeface="+mn-lt"/>
                <a:cs typeface="+mn-lt"/>
              </a:rPr>
              <a:t>default</a:t>
            </a:r>
            <a:r>
              <a:rPr lang="pt-BR" sz="1500">
                <a:solidFill>
                  <a:srgbClr val="FFFFFF"/>
                </a:solidFill>
                <a:latin typeface="Lato"/>
                <a:ea typeface="+mn-lt"/>
                <a:cs typeface="+mn-lt"/>
              </a:rPr>
              <a:t> do devedor, protegendo a cota sênior e buscando a redução do risco inesperado em 30%.</a:t>
            </a:r>
            <a:endParaRPr lang="pt-BR">
              <a:latin typeface="Lato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EDD246C1-C352-427A-8CA2-0905939AE563}"/>
              </a:ext>
            </a:extLst>
          </p:cNvPr>
          <p:cNvSpPr txBox="1"/>
          <p:nvPr/>
        </p:nvSpPr>
        <p:spPr>
          <a:xfrm>
            <a:off x="2572982" y="4047997"/>
            <a:ext cx="7575687" cy="7848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spcAft>
                <a:spcPts val="1600"/>
              </a:spcAft>
            </a:pPr>
            <a:r>
              <a:rPr lang="pt-BR" sz="1500" b="1">
                <a:solidFill>
                  <a:srgbClr val="FFFFFF"/>
                </a:solidFill>
                <a:latin typeface="Lato"/>
                <a:ea typeface="+mn-lt"/>
                <a:cs typeface="+mn-lt"/>
              </a:rPr>
              <a:t>Aceleração da Análise de Ativos em até 95%</a:t>
            </a:r>
            <a:r>
              <a:rPr lang="pt-BR" sz="1500">
                <a:solidFill>
                  <a:srgbClr val="FFFFFF"/>
                </a:solidFill>
                <a:latin typeface="Lato"/>
                <a:ea typeface="+mn-lt"/>
                <a:cs typeface="+mn-lt"/>
              </a:rPr>
              <a:t>: </a:t>
            </a:r>
            <a:r>
              <a:rPr lang="pt-BR" sz="1500" b="0" i="0" u="none" strike="noStrike">
                <a:solidFill>
                  <a:srgbClr val="FFFFFF"/>
                </a:solidFill>
                <a:effectLst/>
                <a:latin typeface="Lato"/>
                <a:ea typeface="+mn-lt"/>
                <a:cs typeface="+mn-lt"/>
              </a:rPr>
              <a:t>Analisar milhares de operações em segundos, eliminando erros de modelos legados (Excel) e </a:t>
            </a:r>
            <a:r>
              <a:rPr lang="pt-BR" sz="1500" i="0" u="none" strike="noStrike">
                <a:solidFill>
                  <a:srgbClr val="FFFFFF"/>
                </a:solidFill>
                <a:effectLst/>
                <a:latin typeface="Lato"/>
                <a:ea typeface="+mn-lt"/>
                <a:cs typeface="+mn-lt"/>
              </a:rPr>
              <a:t>acelerando a captação de novos ativos</a:t>
            </a:r>
            <a:r>
              <a:rPr lang="pt-BR" sz="1500">
                <a:solidFill>
                  <a:srgbClr val="FFFFFF"/>
                </a:solidFill>
                <a:latin typeface="Lato"/>
                <a:ea typeface="+mn-lt"/>
                <a:cs typeface="+mn-lt"/>
              </a:rPr>
              <a:t> em até 95%</a:t>
            </a:r>
            <a:r>
              <a:rPr lang="pt-BR" sz="1500" b="0" i="0" u="none" strike="noStrike">
                <a:solidFill>
                  <a:srgbClr val="FFFFFF"/>
                </a:solidFill>
                <a:effectLst/>
                <a:latin typeface="Lato"/>
                <a:ea typeface="+mn-lt"/>
                <a:cs typeface="+mn-lt"/>
              </a:rPr>
              <a:t> através de automação de processos.</a:t>
            </a:r>
            <a:endParaRPr lang="pt-BR">
              <a:latin typeface="Lato"/>
              <a:ea typeface="+mn-lt"/>
              <a:cs typeface="+mn-lt"/>
            </a:endParaRP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8DE8D62A-2777-408A-9183-E406DFBBA18D}"/>
              </a:ext>
            </a:extLst>
          </p:cNvPr>
          <p:cNvSpPr txBox="1"/>
          <p:nvPr/>
        </p:nvSpPr>
        <p:spPr>
          <a:xfrm>
            <a:off x="2572982" y="5114075"/>
            <a:ext cx="7575687" cy="7848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spcAft>
                <a:spcPts val="1600"/>
              </a:spcAft>
            </a:pPr>
            <a:r>
              <a:rPr lang="pt-BR" sz="1500" b="1">
                <a:solidFill>
                  <a:srgbClr val="FFFFFF"/>
                </a:solidFill>
                <a:latin typeface="Lato"/>
                <a:ea typeface="+mn-lt"/>
                <a:cs typeface="+mn-lt"/>
              </a:rPr>
              <a:t>Redução de Custos Operacionais em até 20%</a:t>
            </a:r>
            <a:r>
              <a:rPr lang="pt-BR" sz="1500">
                <a:solidFill>
                  <a:srgbClr val="FFFFFF"/>
                </a:solidFill>
                <a:latin typeface="Lato"/>
                <a:ea typeface="+mn-lt"/>
                <a:cs typeface="+mn-lt"/>
              </a:rPr>
              <a:t>: </a:t>
            </a:r>
            <a:r>
              <a:rPr lang="pt-BR" sz="1500" b="0" i="0" u="none" strike="noStrike">
                <a:solidFill>
                  <a:srgbClr val="FFFFFF"/>
                </a:solidFill>
                <a:effectLst/>
                <a:latin typeface="Lato"/>
                <a:ea typeface="+mn-lt"/>
                <a:cs typeface="+mn-lt"/>
              </a:rPr>
              <a:t>Maior rastreabilidade e validação automatizada da elegibilidade dos recebíveis, </a:t>
            </a:r>
            <a:r>
              <a:rPr lang="pt-BR" sz="1500" i="0" u="none" strike="noStrike">
                <a:solidFill>
                  <a:srgbClr val="FFFFFF"/>
                </a:solidFill>
                <a:effectLst/>
                <a:latin typeface="Lato"/>
                <a:ea typeface="+mn-lt"/>
                <a:cs typeface="+mn-lt"/>
              </a:rPr>
              <a:t>facilitando a auditoria e o relacionamento com a CVM com suporte ao </a:t>
            </a:r>
            <a:r>
              <a:rPr lang="pt-BR" sz="1500" i="1" u="none" strike="noStrike">
                <a:solidFill>
                  <a:srgbClr val="FFFFFF"/>
                </a:solidFill>
                <a:effectLst/>
                <a:latin typeface="Lato"/>
                <a:ea typeface="+mn-lt"/>
                <a:cs typeface="+mn-lt"/>
              </a:rPr>
              <a:t>compliance</a:t>
            </a:r>
            <a:r>
              <a:rPr lang="pt-BR" sz="1500">
                <a:solidFill>
                  <a:srgbClr val="FFFFFF"/>
                </a:solidFill>
                <a:latin typeface="Lato"/>
                <a:ea typeface="+mn-lt"/>
                <a:cs typeface="+mn-lt"/>
              </a:rPr>
              <a:t> e reduzindo custos operacionais em até 20%.</a:t>
            </a:r>
            <a:endParaRPr lang="pt-BR">
              <a:latin typeface="Lato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6A6B8E7E-E2EB-478E-B291-F8128B1582AA}"/>
              </a:ext>
            </a:extLst>
          </p:cNvPr>
          <p:cNvSpPr txBox="1"/>
          <p:nvPr/>
        </p:nvSpPr>
        <p:spPr>
          <a:xfrm>
            <a:off x="1545332" y="1855141"/>
            <a:ext cx="111377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500" b="1"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01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D5718A4-500F-4D05-AA1F-ADCC04811A1A}"/>
              </a:ext>
            </a:extLst>
          </p:cNvPr>
          <p:cNvSpPr txBox="1"/>
          <p:nvPr/>
        </p:nvSpPr>
        <p:spPr>
          <a:xfrm>
            <a:off x="1545332" y="2883325"/>
            <a:ext cx="111377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500" b="1"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02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93639F91-8E83-403A-882A-62DD21A18ACB}"/>
              </a:ext>
            </a:extLst>
          </p:cNvPr>
          <p:cNvSpPr txBox="1"/>
          <p:nvPr/>
        </p:nvSpPr>
        <p:spPr>
          <a:xfrm>
            <a:off x="1545331" y="3971052"/>
            <a:ext cx="111377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500" b="1"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03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AA1E2FF9-56CA-4083-9653-2AF192D531FB}"/>
              </a:ext>
            </a:extLst>
          </p:cNvPr>
          <p:cNvSpPr txBox="1"/>
          <p:nvPr/>
        </p:nvSpPr>
        <p:spPr>
          <a:xfrm>
            <a:off x="1545334" y="4960186"/>
            <a:ext cx="111377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500" b="1"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04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0D8608EA-F51E-4BA3-BBFF-BB59DC6F55D5}"/>
              </a:ext>
            </a:extLst>
          </p:cNvPr>
          <p:cNvSpPr txBox="1"/>
          <p:nvPr/>
        </p:nvSpPr>
        <p:spPr>
          <a:xfrm>
            <a:off x="10950388" y="6225552"/>
            <a:ext cx="104925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500" b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PRISMA</a:t>
            </a:r>
          </a:p>
        </p:txBody>
      </p:sp>
    </p:spTree>
    <p:extLst>
      <p:ext uri="{BB962C8B-B14F-4D97-AF65-F5344CB8AC3E}">
        <p14:creationId xmlns:p14="http://schemas.microsoft.com/office/powerpoint/2010/main" val="15292812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363426B4-61E1-457E-A551-D6271DEDFEED}"/>
              </a:ext>
            </a:extLst>
          </p:cNvPr>
          <p:cNvSpPr txBox="1"/>
          <p:nvPr/>
        </p:nvSpPr>
        <p:spPr>
          <a:xfrm>
            <a:off x="2124053" y="463930"/>
            <a:ext cx="7943893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4500" b="1">
                <a:ln w="12700">
                  <a:solidFill>
                    <a:srgbClr val="4CBF88"/>
                  </a:solidFill>
                </a:ln>
                <a:noFill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>
                <a:ln w="12700">
                  <a:noFill/>
                </a:ln>
                <a:solidFill>
                  <a:srgbClr val="4CBF88"/>
                </a:solidFill>
                <a:latin typeface="Lato" panose="020F0502020204030203" pitchFamily="34" charset="0"/>
              </a:rPr>
              <a:t>POSSÍVEIS CONCORRENTES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F4B5CADA-D93B-4199-8C1A-C193E01C9219}"/>
              </a:ext>
            </a:extLst>
          </p:cNvPr>
          <p:cNvSpPr txBox="1"/>
          <p:nvPr/>
        </p:nvSpPr>
        <p:spPr>
          <a:xfrm>
            <a:off x="2495535" y="2007198"/>
            <a:ext cx="8552841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 rtl="0">
              <a:spcBef>
                <a:spcPts val="0"/>
              </a:spcBef>
              <a:spcAft>
                <a:spcPts val="1600"/>
              </a:spcAft>
            </a:pPr>
            <a:r>
              <a:rPr lang="pt-BR" sz="1500" b="0" i="0" u="none" strike="noStrike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Em um ambiente competitivo e de riscos, o uso de IA e análise de dados é necessário para garantir a saúde e a longevidade dos fundos, protegendo o capital e assegurando retornos consistentes.</a:t>
            </a:r>
            <a:endParaRPr lang="pt-BR" sz="1500" b="0">
              <a:effectLst/>
              <a:latin typeface="Lato" panose="020F050202020403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15B792A0-39E1-4F72-B261-5525997597D7}"/>
              </a:ext>
            </a:extLst>
          </p:cNvPr>
          <p:cNvSpPr txBox="1"/>
          <p:nvPr/>
        </p:nvSpPr>
        <p:spPr>
          <a:xfrm>
            <a:off x="2495535" y="3111488"/>
            <a:ext cx="8475263" cy="7848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 rtl="0">
              <a:spcBef>
                <a:spcPts val="0"/>
              </a:spcBef>
              <a:spcAft>
                <a:spcPts val="1600"/>
              </a:spcAft>
            </a:pPr>
            <a:r>
              <a:rPr lang="pt-BR" sz="1500" b="0" i="0" u="none" strike="noStrike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Para o modelo dos FIDCs, análise de IA e dados bancários resulta em um ecossistema mais transparente, permitindo uma visão completa do perfil de risco dos devedores, reduzindo assimetria de informação e gerando uma gestão de carteira mais proativa.</a:t>
            </a:r>
            <a:endParaRPr lang="pt-BR" sz="1500" b="0">
              <a:effectLst/>
              <a:latin typeface="Lato" panose="020F050202020403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A38BB659-38D4-4C15-A27C-9E6085426EFD}"/>
              </a:ext>
            </a:extLst>
          </p:cNvPr>
          <p:cNvSpPr txBox="1"/>
          <p:nvPr/>
        </p:nvSpPr>
        <p:spPr>
          <a:xfrm>
            <a:off x="2514088" y="4215778"/>
            <a:ext cx="8475263" cy="7848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 rtl="0">
              <a:spcBef>
                <a:spcPts val="0"/>
              </a:spcBef>
              <a:spcAft>
                <a:spcPts val="1600"/>
              </a:spcAft>
            </a:pPr>
            <a:r>
              <a:rPr lang="pt-BR" sz="1500" b="0" i="0" u="none" strike="noStrike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Com análises mais precisas é possível aprimorar a precificação dos ativos, maximizando a rentabilidade. O Fundo possui maior liberdade para negociar descontos na compra de direito creditório, alinhado à risco real.</a:t>
            </a:r>
            <a:endParaRPr lang="pt-BR" sz="1500" b="0">
              <a:effectLst/>
              <a:latin typeface="Lato" panose="020F050202020403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F734DF7-DB4D-4213-96B7-8D4C75D1AADE}"/>
              </a:ext>
            </a:extLst>
          </p:cNvPr>
          <p:cNvSpPr txBox="1"/>
          <p:nvPr/>
        </p:nvSpPr>
        <p:spPr>
          <a:xfrm>
            <a:off x="1353902" y="1814837"/>
            <a:ext cx="111377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500" b="1"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01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F78E9C4-AB2E-4AE8-9D75-6458CEF03B0C}"/>
              </a:ext>
            </a:extLst>
          </p:cNvPr>
          <p:cNvSpPr txBox="1"/>
          <p:nvPr/>
        </p:nvSpPr>
        <p:spPr>
          <a:xfrm>
            <a:off x="1353903" y="3034543"/>
            <a:ext cx="111377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500" b="1"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02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6DE2EAF1-5CF7-44FB-A590-73937CD0D5CD}"/>
              </a:ext>
            </a:extLst>
          </p:cNvPr>
          <p:cNvSpPr txBox="1"/>
          <p:nvPr/>
        </p:nvSpPr>
        <p:spPr>
          <a:xfrm>
            <a:off x="1381760" y="4138833"/>
            <a:ext cx="111377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500" b="1"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03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A64DAABD-7385-4E61-B7BB-F2EDAEA7D218}"/>
              </a:ext>
            </a:extLst>
          </p:cNvPr>
          <p:cNvSpPr txBox="1"/>
          <p:nvPr/>
        </p:nvSpPr>
        <p:spPr>
          <a:xfrm>
            <a:off x="10950388" y="6225552"/>
            <a:ext cx="104925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500" b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PRISMA</a:t>
            </a:r>
          </a:p>
        </p:txBody>
      </p:sp>
    </p:spTree>
    <p:extLst>
      <p:ext uri="{BB962C8B-B14F-4D97-AF65-F5344CB8AC3E}">
        <p14:creationId xmlns:p14="http://schemas.microsoft.com/office/powerpoint/2010/main" val="36357059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419524E-2B7C-4297-8506-03E531ABCC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6233" y="1706366"/>
            <a:ext cx="9159532" cy="4884358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49CAF1EC-549F-480F-A16B-6B48BBDEA8FA}"/>
              </a:ext>
            </a:extLst>
          </p:cNvPr>
          <p:cNvSpPr txBox="1"/>
          <p:nvPr/>
        </p:nvSpPr>
        <p:spPr>
          <a:xfrm>
            <a:off x="2124053" y="229038"/>
            <a:ext cx="794389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4500" b="1">
                <a:ln w="12700">
                  <a:solidFill>
                    <a:srgbClr val="4CBF88"/>
                  </a:solidFill>
                </a:ln>
                <a:noFill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>
                <a:ln w="12700">
                  <a:noFill/>
                </a:ln>
                <a:solidFill>
                  <a:srgbClr val="4CBF88"/>
                </a:solidFill>
                <a:latin typeface="Lato" panose="020F0502020204030203" pitchFamily="34" charset="0"/>
              </a:rPr>
              <a:t>COMPARAÇÃO COM OS CONCORRENTES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9D4FAB7-80E0-4CFF-A2CE-9F1F695E755F}"/>
              </a:ext>
            </a:extLst>
          </p:cNvPr>
          <p:cNvSpPr txBox="1"/>
          <p:nvPr/>
        </p:nvSpPr>
        <p:spPr>
          <a:xfrm>
            <a:off x="10950388" y="6225552"/>
            <a:ext cx="104925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500" b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PRISMA</a:t>
            </a:r>
          </a:p>
        </p:txBody>
      </p:sp>
    </p:spTree>
    <p:extLst>
      <p:ext uri="{BB962C8B-B14F-4D97-AF65-F5344CB8AC3E}">
        <p14:creationId xmlns:p14="http://schemas.microsoft.com/office/powerpoint/2010/main" val="266202729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1319</Words>
  <Application>Microsoft Office PowerPoint</Application>
  <PresentationFormat>Widescreen</PresentationFormat>
  <Paragraphs>78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Lato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Italo Bangarcl Silva</dc:creator>
  <cp:lastModifiedBy>Italo Bangarcl Silva</cp:lastModifiedBy>
  <cp:revision>2</cp:revision>
  <cp:lastPrinted>2025-10-25T18:04:49Z</cp:lastPrinted>
  <dcterms:created xsi:type="dcterms:W3CDTF">2025-10-18T14:10:50Z</dcterms:created>
  <dcterms:modified xsi:type="dcterms:W3CDTF">2025-11-06T23:09:43Z</dcterms:modified>
</cp:coreProperties>
</file>