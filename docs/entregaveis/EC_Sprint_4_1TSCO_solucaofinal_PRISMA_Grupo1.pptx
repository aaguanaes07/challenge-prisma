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2D_C49967F9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1"/>
  </p:notesMasterIdLst>
  <p:sldIdLst>
    <p:sldId id="263" r:id="rId2"/>
    <p:sldId id="296" r:id="rId3"/>
    <p:sldId id="294" r:id="rId4"/>
    <p:sldId id="295" r:id="rId5"/>
    <p:sldId id="290" r:id="rId6"/>
    <p:sldId id="314" r:id="rId7"/>
    <p:sldId id="316" r:id="rId8"/>
    <p:sldId id="305" r:id="rId9"/>
    <p:sldId id="307" r:id="rId10"/>
    <p:sldId id="302" r:id="rId11"/>
    <p:sldId id="317" r:id="rId12"/>
    <p:sldId id="312" r:id="rId13"/>
    <p:sldId id="311" r:id="rId14"/>
    <p:sldId id="318" r:id="rId15"/>
    <p:sldId id="301" r:id="rId16"/>
    <p:sldId id="319" r:id="rId17"/>
    <p:sldId id="320" r:id="rId18"/>
    <p:sldId id="321" r:id="rId19"/>
    <p:sldId id="322" r:id="rId20"/>
  </p:sldIdLst>
  <p:sldSz cx="12192000" cy="6858000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0F1EE42-8788-F80D-EBE8-48A081A2D497}" name="Ana Carolina Guanaes" initials="AG" userId="2d44ae86895b4381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AA76"/>
    <a:srgbClr val="4CBF88"/>
    <a:srgbClr val="33C2FF"/>
    <a:srgbClr val="131313"/>
    <a:srgbClr val="282828"/>
    <a:srgbClr val="474747"/>
    <a:srgbClr val="F4F4F4"/>
    <a:srgbClr val="ECECEC"/>
    <a:srgbClr val="E8E8E8"/>
    <a:srgbClr val="F4B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comments/modernComment_12D_C49967F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ADB8A44-D2E5-4A0C-AB47-6F203CEE9A12}" authorId="{D0F1EE42-8788-F80D-EBE8-48A081A2D497}" created="2026-05-03T03:19:05.85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98387961" sldId="301"/>
      <ac:picMk id="28" creationId="{90E1809F-B733-25D6-F319-F619FA61197D}"/>
    </ac:deMkLst>
    <p188:txBody>
      <a:bodyPr/>
      <a:lstStyle/>
      <a:p>
        <a:r>
          <a:rPr lang="pt-BR"/>
          <a:t>@'
from src.prisma_core import load_or_train_model, BASE_DIR
bundle = load_or_train_model(BASE_DIR)
base = bundle["model_evolution"]["baseline_interno"]["metrics"]
enr = bundle["model_evolution"]["modelo_enriquecido"]["metrics"]
rows = [
    ("Accuracy", f"{base['accuracy']*100:.2f}%", f"{enr['accuracy']*100:.2f}%"),
    ("ROC AUC", f"{base['roc_auc']:.4f}", f"{enr['roc_auc']:.4f}"),
    ("PR AUC", f"{base['pr_auc']:.4f}", f"{enr['pr_auc']:.4f}"),
    ("Brier Score", f"{base['brier']:.4f}", f"{enr['brier']:.4f}"),
    ("Precision", f"{base['precision']*100:.2f}%", f"{enr['precision']*100:.2f}%"),
    ("Recall", f"{base['recall']*100:.2f}%", f"{enr['recall']*100:.2f}%"),
    ("F1-Score", f"{base['f1']*100:.2f}%", f"{enr['f1']*100:.2f}%"),
    ("Default Rate da base", f"{base['default_rate']*100:.2f}%", f"{enr['default_rate']*100:.2f}%"),
]
print("| Métrica | Modelo Interno | Modelo Enriquecido |")
print("|---|---:|---:|")
for metric, v1, v2 in rows:
    print(f"| {metric} | {v1} | {v2} |")
'@ | python -</a:t>
        </a:r>
      </a:p>
    </p188:txBody>
  </p188:cm>
  <p188:cm id="{5A751DA0-102E-4FC9-958C-79E30E542EED}" authorId="{D0F1EE42-8788-F80D-EBE8-48A081A2D497}" created="2026-05-03T03:19:29.333">
    <pc:sldMkLst xmlns:pc="http://schemas.microsoft.com/office/powerpoint/2013/main/command">
      <pc:docMk/>
      <pc:sldMk cId="3298387961" sldId="301"/>
    </pc:sldMkLst>
    <p188:txBody>
      <a:bodyPr/>
      <a:lstStyle/>
      <a:p>
        <a:r>
          <a:rPr lang="pt-BR"/>
          <a:t>@'
from src.prisma_core import load_or_train_model, BASE_DIR
bundle = load_or_train_model(BASE_DIR)
base = bundle["model_evolution"]["baseline_interno"]["metrics"]
enr = bundle["model_evolution"]["modelo_enriquecido"]["metrics"]
rows = [
    ("Accuracy", f"{base['accuracy']*100:.2f}%", f"{enr['accuracy']*100:.2f}%"),
    ("ROC AUC", f"{base['roc_auc']:.4f}", f"{enr['roc_auc']:.4f}"),
    ("PR AUC", f"{base['pr_auc']:.4f}", f"{enr['pr_auc']:.4f}"),
    ("Brier Score", f"{base['brier']:.4f}", f"{enr['brier']:.4f}"),
    ("Precision", f"{base['precision']*100:.2f}%", f"{enr['precision']*100:.2f}%"),
    ("Recall", f"{base['recall']*100:.2f}%", f"{enr['recall']*100:.2f}%"),
    ("F1-Score", f"{base['f1']*100:.2f}%", f"{enr['f1']*100:.2f}%"),
    ("Default Rate da base", f"{base['default_rate']*100:.2f}%", f"{enr['default_rate']*100:.2f}%"),
]
print("| Métrica | Modelo Interno | Modelo Enriquecido |")
print("|---|---:|---:|")
for metric, v1, v2 in rows:
    print(f"| {metric} | {v1} | {v2} |")
'@ | python -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BCC9B0-4D54-4557-9850-8DE3C60461C0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AF1CA-A862-4C60-A888-B4C8D949F3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2053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AF1CA-A862-4C60-A888-B4C8D949F3F3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6816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AF1CA-A862-4C60-A888-B4C8D949F3F3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5171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AF1CA-A862-4C60-A888-B4C8D949F3F3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1535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AF1CA-A862-4C60-A888-B4C8D949F3F3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3528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1E7D52-9FCF-47DD-B64E-C009A944E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964129-6898-4408-95FF-1EEAD8369E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B7DB23-C448-48FE-B705-1F1A8B514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0D0364-CC44-421E-8C72-B6DA8872B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3B4F00-30AE-4BDF-B182-E3642A12B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6006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0B206-D710-4EDF-8E61-D3569568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7D2B73-0BAC-468C-9684-D90BD2BFB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C129DB-8E78-4605-954B-AFA6D95DA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805BD2-85CB-4F5C-A0C4-70B71D5F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5BC014-155B-476D-8CAA-00F8A4A3B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071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DBA32-1C7A-430B-8772-9E371FBBB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4449BD2-9B84-4C94-9F39-AF714BAB3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B0981F-C486-48A6-ABA8-9652B3E51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DFB472-302D-403A-8F86-315E2B448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1EB804-1AD2-4D63-9B6E-1EF8FC21B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2500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BFB278-25D7-4082-92FA-FF65FF0A5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E87F7C-38CA-468D-978A-A4D7B70BEA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1EEE420-DC0F-4A11-BB19-12EA9FF1F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07BFA5-7E2E-4ECC-B871-87F3479F9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81807B-4BCF-4287-92D3-4C824B8B9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089FD86-89C5-4FE8-BDD3-64D5B05E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4217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AD604C-A865-427E-80D0-3B7FD2EFF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5B5B2A-221F-4DB7-B75B-7E23D0A7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EB5B39F-6913-49FB-AADC-80DB02E61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A8FBF4D-B984-4583-9A24-CC75AFE7C1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A5A4D18-5BEA-4B24-8335-CA8802C3D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09B9E2B-307F-404B-BF87-A9586C88B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33DBAEC-4A34-4E8D-BB39-F9307EF09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B8C1BB6-1C0F-4AE4-B7F9-7D887EFCF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8180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8D1C6A-C8D7-4E13-8F8B-405C60A8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3EE442-54A3-466F-AADD-99DA01634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2F0341B-CEFE-46B9-B34E-B6E3EF27F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CE1FBAD-393B-4906-8EC9-9F28F9EFF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156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3897B14-5DC3-4E56-9F8F-5B23FE7BE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0DA9F87-5DBC-41EE-ACF6-B3FAE34D4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0F2E076-DE43-42EC-8066-B436E63E2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7909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2126C2-6C75-4D60-9FC6-709866397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EB5812-6635-4EA5-A786-B05DE5CF4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7C5603E-F8A3-450D-A31C-88C916CA8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16A27E-1B5F-49B6-BE41-7B02F4BF0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E71424-EE11-4F6A-BE29-1DF2F3DB9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AA1004-657B-49EE-867B-FDABE3523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3509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BB996-CC15-418F-954E-1AE2DEB93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DDC1496-21E5-4663-8D94-723B264267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25FA0A-C00F-4F4A-84BC-4D6C86E76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D554003-0C8F-4570-99A4-126E68D6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7A7BDC5-ACA5-4D33-9992-37C0132D8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C617AD-5E80-4F10-B665-C6A59205E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539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99886E-5236-43D9-87BC-87BB876F5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862D8CA-52ED-4599-9D86-50FFB8946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D6B8EF-1081-486A-9D0F-062C97278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84D7E2-BE8B-4FF3-A0F6-78ACFE6AD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75270F-79E2-467F-847D-6660872F7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3799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35DE8B2-9F6F-483B-8592-A592B996CB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991F940-29B4-43CE-9C30-8B0D5046C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68E25F-5FC0-43C3-BE9C-FCC9DAA78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A2AB1A-07A2-4F78-8726-8D7EC2B53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D6ACC7-9663-43C6-9794-01D0D88F1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7574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4F3DD90-9DC3-4705-8C49-1F92650CA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1EC279-9772-4100-9D35-3832F91F2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4B1702-381C-4118-B586-B72D969C19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1A783-1A18-420E-A1CE-166C89CD8D65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FA2F55-6463-4E14-BAB5-96AA15902A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C10437-B659-4D5B-9517-D5C6A521E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8081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aguanaes07-challenge-prisma-srcapp-niz5xn.streamlit.app/" TargetMode="Externa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YS9aOFibi3k" TargetMode="External"/><Relationship Id="rId5" Type="http://schemas.openxmlformats.org/officeDocument/2006/relationships/hyperlink" Target="https://github.com/aaguanaes07/Challenge-Prisma" TargetMode="Externa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aaguanaes07-challenge-prisma-srcapp-niz5xn.streamlit.app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aguanaes07-challenge-prisma-srcapp-niz5xn.streamlit.app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aguanaes07-challenge-prisma-srcapp-niz5xn.streamlit.app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aaguanaes07-challenge-prisma-srcapp-niz5xn.streamlit.app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D_C49967F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aaguanaes07-challenge-prisma-srcapp-niz5xn.streamlit.app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hyperlink" Target="https://youtu.be/YS9aOFibi3k" TargetMode="External"/><Relationship Id="rId4" Type="http://schemas.openxmlformats.org/officeDocument/2006/relationships/hyperlink" Target="https://github.com/aaguanaes07/Challenge-Prism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A031B047-6BFC-4F8A-9E86-BC16658D35C3}"/>
              </a:ext>
            </a:extLst>
          </p:cNvPr>
          <p:cNvSpPr txBox="1"/>
          <p:nvPr/>
        </p:nvSpPr>
        <p:spPr>
          <a:xfrm>
            <a:off x="4871357" y="3502511"/>
            <a:ext cx="244928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FBE5B9B9-31A8-4388-A219-7F767F006069}"/>
              </a:ext>
            </a:extLst>
          </p:cNvPr>
          <p:cNvCxnSpPr>
            <a:cxnSpLocks/>
          </p:cNvCxnSpPr>
          <p:nvPr/>
        </p:nvCxnSpPr>
        <p:spPr>
          <a:xfrm>
            <a:off x="4053068" y="4391045"/>
            <a:ext cx="408586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38DC687-655E-4F16-A22E-503E58FBA635}"/>
              </a:ext>
            </a:extLst>
          </p:cNvPr>
          <p:cNvSpPr txBox="1"/>
          <p:nvPr/>
        </p:nvSpPr>
        <p:spPr>
          <a:xfrm>
            <a:off x="3903457" y="4494750"/>
            <a:ext cx="43850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IA aplicada à mitigação de seleção adversa, fraude e inadimplência no mercado de crédito estruturado.</a:t>
            </a:r>
          </a:p>
          <a:p>
            <a:pPr algn="ctr"/>
            <a:endParaRPr lang="pt-BR" sz="1400" b="1" dirty="0">
              <a:solidFill>
                <a:schemeClr val="bg1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52FB905-058D-48EB-B1B7-72EF94430B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48" t="10820" r="16971" b="25266"/>
          <a:stretch/>
        </p:blipFill>
        <p:spPr>
          <a:xfrm>
            <a:off x="5089602" y="1472799"/>
            <a:ext cx="2012793" cy="202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107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F46A6D33-068D-4326-80B3-DC443BFDF1E3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CF5048E-6F02-422D-B870-0CBE2F64EEC4}"/>
              </a:ext>
            </a:extLst>
          </p:cNvPr>
          <p:cNvSpPr txBox="1"/>
          <p:nvPr/>
        </p:nvSpPr>
        <p:spPr>
          <a:xfrm>
            <a:off x="1485521" y="4402688"/>
            <a:ext cx="2358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kern="1200" dirty="0">
                <a:solidFill>
                  <a:schemeClr val="bg1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Ana Carolina Andrade Guanaes</a:t>
            </a:r>
          </a:p>
          <a:p>
            <a:pPr algn="ctr"/>
            <a:r>
              <a:rPr lang="sv-SE" sz="1200" b="1" dirty="0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RM566748</a:t>
            </a:r>
            <a:r>
              <a:rPr lang="pt-BR" sz="1200" b="1" kern="1200" dirty="0">
                <a:solidFill>
                  <a:schemeClr val="bg1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</a:t>
            </a:r>
            <a:endParaRPr lang="sv-SE" sz="1200" b="1" dirty="0">
              <a:solidFill>
                <a:schemeClr val="bg1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E061A7D-CDE8-424F-B2E3-A825D115D8F5}"/>
              </a:ext>
            </a:extLst>
          </p:cNvPr>
          <p:cNvSpPr txBox="1"/>
          <p:nvPr/>
        </p:nvSpPr>
        <p:spPr>
          <a:xfrm>
            <a:off x="4236555" y="4419794"/>
            <a:ext cx="1573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kern="1200">
                <a:solidFill>
                  <a:schemeClr val="bg1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Italo Bangarcl Silva</a:t>
            </a:r>
          </a:p>
          <a:p>
            <a:pPr algn="ctr"/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RM567637</a:t>
            </a:r>
            <a:endParaRPr lang="pt-BR" sz="1200" b="1" kern="1200">
              <a:solidFill>
                <a:schemeClr val="bg1"/>
              </a:solidFill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C5ED58B-B041-442B-9107-2E669B3F6146}"/>
              </a:ext>
            </a:extLst>
          </p:cNvPr>
          <p:cNvSpPr txBox="1"/>
          <p:nvPr/>
        </p:nvSpPr>
        <p:spPr>
          <a:xfrm>
            <a:off x="6146226" y="4407094"/>
            <a:ext cx="2587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Matheus Augusto Pombo Mendes</a:t>
            </a:r>
          </a:p>
          <a:p>
            <a:pPr algn="ctr"/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RM567936</a:t>
            </a:r>
            <a:endParaRPr lang="sv-SE" sz="1200" b="1">
              <a:solidFill>
                <a:schemeClr val="bg1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020E157-E80B-4F24-AA21-3BDC98EC478A}"/>
              </a:ext>
            </a:extLst>
          </p:cNvPr>
          <p:cNvSpPr txBox="1"/>
          <p:nvPr/>
        </p:nvSpPr>
        <p:spPr>
          <a:xfrm>
            <a:off x="8806616" y="4423298"/>
            <a:ext cx="2056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Santiago </a:t>
            </a:r>
            <a:r>
              <a:rPr lang="pt-BR" sz="1200" b="1" err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Agustin</a:t>
            </a:r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 </a:t>
            </a:r>
            <a:r>
              <a:rPr lang="pt-BR" sz="1200" b="1" err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Medardi</a:t>
            </a:r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 </a:t>
            </a:r>
          </a:p>
          <a:p>
            <a:pPr algn="ctr"/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RM566832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BA3792AB-C7FD-419A-8786-BBEA6C1C82D9}"/>
              </a:ext>
            </a:extLst>
          </p:cNvPr>
          <p:cNvSpPr/>
          <p:nvPr/>
        </p:nvSpPr>
        <p:spPr>
          <a:xfrm>
            <a:off x="1671095" y="2200584"/>
            <a:ext cx="1987421" cy="2006081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 w="38100">
            <a:solidFill>
              <a:srgbClr val="4CBF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Lato" panose="020F0502020204030203" pitchFamily="34" charset="0"/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FD9E3C57-5259-48EE-9D09-F74D76A8BD2E}"/>
              </a:ext>
            </a:extLst>
          </p:cNvPr>
          <p:cNvSpPr/>
          <p:nvPr/>
        </p:nvSpPr>
        <p:spPr>
          <a:xfrm>
            <a:off x="4023565" y="2200586"/>
            <a:ext cx="1987421" cy="2006081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38100">
            <a:solidFill>
              <a:srgbClr val="4CBF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Lato" panose="020F0502020204030203" pitchFamily="34" charset="0"/>
            </a:endParaRP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FB942AC1-210A-476D-8ED8-055FF7647DCC}"/>
              </a:ext>
            </a:extLst>
          </p:cNvPr>
          <p:cNvSpPr/>
          <p:nvPr/>
        </p:nvSpPr>
        <p:spPr>
          <a:xfrm>
            <a:off x="8962967" y="2200586"/>
            <a:ext cx="1987421" cy="2006081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38100">
            <a:solidFill>
              <a:srgbClr val="4CBF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Lato" panose="020F0502020204030203" pitchFamily="34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CC250B06-CB38-4E48-BCB0-FEF73728722A}"/>
              </a:ext>
            </a:extLst>
          </p:cNvPr>
          <p:cNvSpPr txBox="1"/>
          <p:nvPr/>
        </p:nvSpPr>
        <p:spPr>
          <a:xfrm>
            <a:off x="2250349" y="558954"/>
            <a:ext cx="736110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b="1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INTEGRANTES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E6BD18E1-3ACC-4642-A0D3-599207585194}"/>
              </a:ext>
            </a:extLst>
          </p:cNvPr>
          <p:cNvSpPr/>
          <p:nvPr/>
        </p:nvSpPr>
        <p:spPr>
          <a:xfrm>
            <a:off x="6485312" y="2200586"/>
            <a:ext cx="1987420" cy="2006081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 w="38100">
            <a:solidFill>
              <a:srgbClr val="4CBF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930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Avaliar Vetor De ícone De Linha PNG , Avaliar ícone, Avaliar, Contexto  Imagem PNG e Vetor Para Download Gratuito">
            <a:extLst>
              <a:ext uri="{FF2B5EF4-FFF2-40B4-BE49-F238E27FC236}">
                <a16:creationId xmlns:a16="http://schemas.microsoft.com/office/drawing/2014/main" id="{C68B7B69-C306-4A29-8D18-3A68289A65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26100" y="397378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>
              <a:latin typeface="Lato" panose="020F0502020204030203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CD93505-4BBE-4094-A42B-D5D235C6E670}"/>
              </a:ext>
            </a:extLst>
          </p:cNvPr>
          <p:cNvSpPr txBox="1"/>
          <p:nvPr/>
        </p:nvSpPr>
        <p:spPr>
          <a:xfrm>
            <a:off x="1427747" y="558954"/>
            <a:ext cx="903170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b="1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O PROBLEMA DO MERCADO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6910A69-3E5A-4003-9340-006080B8D8BA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3A052F8-E029-45EC-893E-8D3C524924B3}"/>
              </a:ext>
            </a:extLst>
          </p:cNvPr>
          <p:cNvSpPr txBox="1"/>
          <p:nvPr/>
        </p:nvSpPr>
        <p:spPr>
          <a:xfrm>
            <a:off x="764241" y="2127123"/>
            <a:ext cx="10663518" cy="29956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indent="457200">
              <a:spcAft>
                <a:spcPts val="1600"/>
              </a:spcAft>
            </a:pPr>
            <a:r>
              <a:rPr lang="pt-BR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Os Fundos de Investimento em Direitos Creditórios operam em um ambiente de forte assimetria de informação entre cedentes, sacados, gestores e administradores. Na prática, isso dificulta a identificação antecipada de empresas com deterioração financeira, comportamento oportunista ou baixa capacidade real de pagamento.</a:t>
            </a:r>
          </a:p>
          <a:p>
            <a:pPr indent="457200">
              <a:spcAft>
                <a:spcPts val="1600"/>
              </a:spcAft>
            </a:pPr>
            <a:r>
              <a:rPr lang="pt-BR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Além disso, grande parte da análise de crédito ainda é reativa, baseada em modelos genéricos ou em sinais que aparecem tarde demais, quando o risco já se materializou. Como consequência, o fundo fica exposto à seleção adversa, à fraude cadastral e à alocação ineficiente de capital.</a:t>
            </a:r>
          </a:p>
          <a:p>
            <a:pPr indent="457200">
              <a:spcAft>
                <a:spcPts val="1600"/>
              </a:spcAft>
            </a:pPr>
            <a:r>
              <a:rPr lang="pt-BR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O desafio do projeto foi transformar dados dispersos em inteligência acionável, capaz de antecipar risco estrutural antes do vencimento do título.</a:t>
            </a:r>
            <a:endParaRPr lang="pt-BR" b="0" dirty="0">
              <a:effectLst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1910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Avaliar Vetor De ícone De Linha PNG , Avaliar ícone, Avaliar, Contexto  Imagem PNG e Vetor Para Download Gratuito">
            <a:extLst>
              <a:ext uri="{FF2B5EF4-FFF2-40B4-BE49-F238E27FC236}">
                <a16:creationId xmlns:a16="http://schemas.microsoft.com/office/drawing/2014/main" id="{C68B7B69-C306-4A29-8D18-3A68289A65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26100" y="397378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>
              <a:latin typeface="Lato" panose="020F0502020204030203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CD93505-4BBE-4094-A42B-D5D235C6E670}"/>
              </a:ext>
            </a:extLst>
          </p:cNvPr>
          <p:cNvSpPr txBox="1"/>
          <p:nvPr/>
        </p:nvSpPr>
        <p:spPr>
          <a:xfrm>
            <a:off x="1582374" y="418963"/>
            <a:ext cx="839225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b="1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O QUE BUSCAMOS RESOLVER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6910A69-3E5A-4003-9340-006080B8D8BA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3A052F8-E029-45EC-893E-8D3C524924B3}"/>
              </a:ext>
            </a:extLst>
          </p:cNvPr>
          <p:cNvSpPr txBox="1"/>
          <p:nvPr/>
        </p:nvSpPr>
        <p:spPr>
          <a:xfrm>
            <a:off x="764241" y="2127123"/>
            <a:ext cx="10663518" cy="21646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indent="457200">
              <a:spcAft>
                <a:spcPts val="1600"/>
              </a:spcAft>
            </a:pPr>
            <a:r>
              <a:rPr lang="pt-BR" sz="18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O objetivo do PRISMA foi desenvolver um motor de inteligência para classificar, monitorar e simular ativos de FIDC com foco em risco estrutural.</a:t>
            </a:r>
          </a:p>
          <a:p>
            <a:pPr indent="457200">
              <a:spcAft>
                <a:spcPts val="1600"/>
              </a:spcAft>
            </a:pPr>
            <a:r>
              <a:rPr lang="pt-BR" sz="18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A solução foi desenhada para apoiar gestores de carteira, administradores e securitizadoras na tomada de decisão, combinando visão preditiva, explicabilidade e monitoramento contínuo.</a:t>
            </a:r>
          </a:p>
          <a:p>
            <a:pPr indent="457200">
              <a:spcAft>
                <a:spcPts val="1600"/>
              </a:spcAft>
            </a:pPr>
            <a:r>
              <a:rPr lang="pt-BR" sz="18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Com isso, buscamos reduzir perdas esperadas, aumentar a qualidade da elegibilidade dos ativos e acelerar o processo de </a:t>
            </a:r>
            <a:r>
              <a:rPr lang="pt-BR" sz="1800" b="0" i="0" u="none" strike="noStrike" dirty="0" err="1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due</a:t>
            </a:r>
            <a:r>
              <a:rPr lang="pt-BR" sz="18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 </a:t>
            </a:r>
            <a:r>
              <a:rPr lang="pt-BR" sz="1800" b="0" i="0" u="none" strike="noStrike" dirty="0" err="1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diligence</a:t>
            </a:r>
            <a:r>
              <a:rPr lang="pt-BR" sz="18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 com maior precisão e rastreabilidade.</a:t>
            </a:r>
            <a:endParaRPr lang="pt-BR" b="0" dirty="0">
              <a:effectLst/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126969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63426B4-61E1-457E-A551-D6271DEDFEED}"/>
              </a:ext>
            </a:extLst>
          </p:cNvPr>
          <p:cNvSpPr txBox="1"/>
          <p:nvPr/>
        </p:nvSpPr>
        <p:spPr>
          <a:xfrm>
            <a:off x="1646778" y="463930"/>
            <a:ext cx="931433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COMO O PRISMA RESOLVE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2DBCD53-A7CE-4C72-ABE7-A990BE2B6FAA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49FD6B-60FA-DF5D-A2E7-C1D954767150}"/>
              </a:ext>
            </a:extLst>
          </p:cNvPr>
          <p:cNvSpPr txBox="1"/>
          <p:nvPr/>
        </p:nvSpPr>
        <p:spPr>
          <a:xfrm>
            <a:off x="1362023" y="1436364"/>
            <a:ext cx="9775877" cy="16568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O PRISMA atua como uma camada de inteligência aplicada ao ciclo de análise de crédito de ativos de FIDC.</a:t>
            </a:r>
          </a:p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A solução integra dados internos de boletos e liquidez com sinais externos cadastrais e comportamentais, transformando essas informações em features de risco, scores, probabilidades de inadimplência e decisões operacionais.</a:t>
            </a:r>
          </a:p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Sua arquitetura foi estruturada para entregar três capacidades centrais:</a:t>
            </a:r>
            <a:endParaRPr lang="pt-BR" sz="1500" b="0" dirty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17464AE-6894-CF9E-FDFA-13EC5E06F3B5}"/>
              </a:ext>
            </a:extLst>
          </p:cNvPr>
          <p:cNvSpPr txBox="1"/>
          <p:nvPr/>
        </p:nvSpPr>
        <p:spPr>
          <a:xfrm>
            <a:off x="1362022" y="5519715"/>
            <a:ext cx="9775878" cy="7591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Na prática, o PRISMA deixa de apenas reagir ao atraso e passa a antecipar risco com base em padrões estruturais.</a:t>
            </a:r>
          </a:p>
          <a:p>
            <a:pPr algn="just" rtl="0">
              <a:spcBef>
                <a:spcPts val="0"/>
              </a:spcBef>
              <a:spcAft>
                <a:spcPts val="1600"/>
              </a:spcAft>
            </a:pPr>
            <a:endParaRPr lang="pt-BR" sz="1500" b="1" i="0" u="none" strike="noStrike" dirty="0">
              <a:solidFill>
                <a:srgbClr val="FFFFFF"/>
              </a:solidFill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5E295B81-4C76-A2C0-094D-0EBDF4A22F58}"/>
              </a:ext>
            </a:extLst>
          </p:cNvPr>
          <p:cNvGrpSpPr/>
          <p:nvPr/>
        </p:nvGrpSpPr>
        <p:grpSpPr>
          <a:xfrm>
            <a:off x="1495372" y="3367055"/>
            <a:ext cx="8758820" cy="1878833"/>
            <a:chOff x="1315586" y="3407506"/>
            <a:chExt cx="8758820" cy="1878833"/>
          </a:xfrm>
        </p:grpSpPr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AC9F57C7-8486-230C-F222-9DABF2129E96}"/>
                </a:ext>
              </a:extLst>
            </p:cNvPr>
            <p:cNvSpPr txBox="1"/>
            <p:nvPr/>
          </p:nvSpPr>
          <p:spPr>
            <a:xfrm>
              <a:off x="1315586" y="3407506"/>
              <a:ext cx="113346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/>
              <a:r>
                <a:rPr lang="pt-BR" sz="3600" b="1" dirty="0">
                  <a:solidFill>
                    <a:srgbClr val="4CBF88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01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3E0319E1-40B9-E7E9-701F-6D844F8E1090}"/>
                </a:ext>
              </a:extLst>
            </p:cNvPr>
            <p:cNvSpPr txBox="1"/>
            <p:nvPr/>
          </p:nvSpPr>
          <p:spPr>
            <a:xfrm>
              <a:off x="2024719" y="3575081"/>
              <a:ext cx="8049687" cy="3231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 rtl="0">
                <a:spcBef>
                  <a:spcPts val="0"/>
                </a:spcBef>
                <a:spcAft>
                  <a:spcPts val="1600"/>
                </a:spcAft>
              </a:pPr>
              <a:r>
                <a:rPr lang="pt-BR" sz="1500" b="1" i="0" u="none" strike="noStrike" dirty="0">
                  <a:solidFill>
                    <a:srgbClr val="FFFFFF"/>
                  </a:solidFill>
                  <a:effectLst/>
                  <a:latin typeface="Lato" panose="020F0502020204030203" pitchFamily="34" charset="0"/>
                  <a:cs typeface="Segoe UI" panose="020B0502040204020203" pitchFamily="34" charset="0"/>
                </a:rPr>
                <a:t>Simulação de novos ativos;</a:t>
              </a:r>
              <a:endParaRPr lang="pt-BR" sz="1500" b="0" dirty="0">
                <a:effectLst/>
                <a:latin typeface="Lato" panose="020F050202020403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92C6D931-17EB-B14F-4A33-407C9A94634C}"/>
                </a:ext>
              </a:extLst>
            </p:cNvPr>
            <p:cNvSpPr txBox="1"/>
            <p:nvPr/>
          </p:nvSpPr>
          <p:spPr>
            <a:xfrm>
              <a:off x="2006114" y="4188680"/>
              <a:ext cx="8049687" cy="3231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 rtl="0">
                <a:spcBef>
                  <a:spcPts val="0"/>
                </a:spcBef>
                <a:spcAft>
                  <a:spcPts val="1600"/>
                </a:spcAft>
              </a:pPr>
              <a:r>
                <a:rPr lang="pt-BR" sz="1500" b="1" i="0" u="none" strike="noStrike" dirty="0">
                  <a:solidFill>
                    <a:srgbClr val="FFFFFF"/>
                  </a:solidFill>
                  <a:effectLst/>
                  <a:latin typeface="Lato" panose="020F0502020204030203" pitchFamily="34" charset="0"/>
                  <a:cs typeface="Segoe UI" panose="020B0502040204020203" pitchFamily="34" charset="0"/>
                </a:rPr>
                <a:t>Monitoramento executivo e operacional da carteira;</a:t>
              </a:r>
              <a:endParaRPr lang="pt-BR" sz="1500" b="0" dirty="0">
                <a:effectLst/>
                <a:latin typeface="Lato" panose="020F050202020403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8A1193D-7F54-E3FB-CDA2-7AB3DDF1BC6A}"/>
                </a:ext>
              </a:extLst>
            </p:cNvPr>
            <p:cNvSpPr txBox="1"/>
            <p:nvPr/>
          </p:nvSpPr>
          <p:spPr>
            <a:xfrm>
              <a:off x="2015390" y="4802371"/>
              <a:ext cx="8031133" cy="3231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 rtl="0">
                <a:spcBef>
                  <a:spcPts val="0"/>
                </a:spcBef>
                <a:spcAft>
                  <a:spcPts val="1600"/>
                </a:spcAft>
              </a:pPr>
              <a:r>
                <a:rPr lang="pt-BR" sz="1500" b="1" i="0" u="none" strike="noStrike" dirty="0">
                  <a:solidFill>
                    <a:srgbClr val="FFFFFF"/>
                  </a:solidFill>
                  <a:effectLst/>
                  <a:latin typeface="Lato" panose="020F0502020204030203" pitchFamily="34" charset="0"/>
                  <a:cs typeface="Segoe UI" panose="020B0502040204020203" pitchFamily="34" charset="0"/>
                </a:rPr>
                <a:t>Visão analítica para explicabilidade, concentração e evolução do modelo.</a:t>
              </a:r>
              <a:endParaRPr lang="pt-BR" sz="1500" b="0" dirty="0">
                <a:effectLst/>
                <a:latin typeface="Lato" panose="020F050202020403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284E85D1-9BA4-57C6-783D-3484A7B25C00}"/>
                </a:ext>
              </a:extLst>
            </p:cNvPr>
            <p:cNvSpPr txBox="1"/>
            <p:nvPr/>
          </p:nvSpPr>
          <p:spPr>
            <a:xfrm>
              <a:off x="1315586" y="4033769"/>
              <a:ext cx="113346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/>
              <a:r>
                <a:rPr lang="pt-BR" sz="3600" b="1" dirty="0">
                  <a:solidFill>
                    <a:srgbClr val="4CBF88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02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2112F329-CFAE-3890-1803-4EC6BA0F6ABF}"/>
                </a:ext>
              </a:extLst>
            </p:cNvPr>
            <p:cNvSpPr txBox="1"/>
            <p:nvPr/>
          </p:nvSpPr>
          <p:spPr>
            <a:xfrm>
              <a:off x="1315586" y="4640008"/>
              <a:ext cx="113346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/>
              <a:r>
                <a:rPr lang="pt-BR" sz="3600" b="1" dirty="0">
                  <a:solidFill>
                    <a:srgbClr val="4CBF88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0474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CAF1EC-549F-480F-A16B-6B48BBDEA8FA}"/>
              </a:ext>
            </a:extLst>
          </p:cNvPr>
          <p:cNvSpPr txBox="1"/>
          <p:nvPr/>
        </p:nvSpPr>
        <p:spPr>
          <a:xfrm>
            <a:off x="1856110" y="277164"/>
            <a:ext cx="847977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ARQUITETURA DA SOLUÇÃO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D4FAB7-80E0-4CFF-A2CE-9F1F695E755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DD748A6-1EF3-4264-A873-ADFB3E75FEC3}"/>
              </a:ext>
            </a:extLst>
          </p:cNvPr>
          <p:cNvSpPr txBox="1"/>
          <p:nvPr/>
        </p:nvSpPr>
        <p:spPr>
          <a:xfrm>
            <a:off x="764399" y="1780638"/>
            <a:ext cx="106632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A solução foi construída em arquitetura desacoplada, com pipeline de dados, motor analítico e camada de consumo separadas para garantir escalabilidade, rastreabilidade e evolução contínua.</a:t>
            </a:r>
          </a:p>
          <a:p>
            <a:pPr algn="just"/>
            <a:endParaRPr lang="pt-BR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pPr algn="just"/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Na camada de dados, organizamos a informação em estágios de ingestão, curadoria, geração de features e artefatos analíticos. Na camada de modelagem, utilizamos Python com bibliotecas como Pandas e </a:t>
            </a:r>
            <a:r>
              <a:rPr lang="pt-BR" dirty="0" err="1">
                <a:solidFill>
                  <a:schemeClr val="bg1"/>
                </a:solidFill>
                <a:latin typeface="Lato" panose="020F0502020204030203" pitchFamily="34" charset="0"/>
              </a:rPr>
              <a:t>Scikit-Learn</a:t>
            </a:r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 para preparação dos dados, engenharia de atributos e treinamento supervisionado. O modelo final é serializado via </a:t>
            </a:r>
            <a:r>
              <a:rPr lang="pt-BR" dirty="0" err="1">
                <a:solidFill>
                  <a:schemeClr val="bg1"/>
                </a:solidFill>
                <a:latin typeface="Lato" panose="020F0502020204030203" pitchFamily="34" charset="0"/>
              </a:rPr>
              <a:t>Joblib</a:t>
            </a:r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 e servido por API em tempo real com </a:t>
            </a:r>
            <a:r>
              <a:rPr lang="pt-BR" dirty="0" err="1">
                <a:solidFill>
                  <a:schemeClr val="bg1"/>
                </a:solidFill>
                <a:latin typeface="Lato" panose="020F0502020204030203" pitchFamily="34" charset="0"/>
              </a:rPr>
              <a:t>FastAPI</a:t>
            </a:r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.</a:t>
            </a:r>
          </a:p>
          <a:p>
            <a:pPr algn="just"/>
            <a:endParaRPr lang="pt-BR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pPr algn="just"/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Na camada de consumo, utilizamos </a:t>
            </a:r>
            <a:r>
              <a:rPr lang="pt-BR" dirty="0" err="1">
                <a:solidFill>
                  <a:schemeClr val="bg1"/>
                </a:solidFill>
                <a:latin typeface="Lato" panose="020F0502020204030203" pitchFamily="34" charset="0"/>
              </a:rPr>
              <a:t>Streamlit</a:t>
            </a:r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 para materializar o protótipo com simulador de ativos e dashboards gerenciais. Isso permite que o PRISMA funcione como um oráculo de inteligência para o mercado de capitais.</a:t>
            </a:r>
          </a:p>
        </p:txBody>
      </p:sp>
    </p:spTree>
    <p:extLst>
      <p:ext uri="{BB962C8B-B14F-4D97-AF65-F5344CB8AC3E}">
        <p14:creationId xmlns:p14="http://schemas.microsoft.com/office/powerpoint/2010/main" val="2940914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4C0C6E0-4A70-F55B-CC54-781EEDA42B55}"/>
              </a:ext>
            </a:extLst>
          </p:cNvPr>
          <p:cNvSpPr/>
          <p:nvPr/>
        </p:nvSpPr>
        <p:spPr>
          <a:xfrm>
            <a:off x="0" y="2736866"/>
            <a:ext cx="12192000" cy="1625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27B6F97-F5EA-435F-854D-F2FFD2908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36866"/>
            <a:ext cx="12192000" cy="16256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8255917-1FCF-476F-B8FA-1F81F0FC7C48}"/>
              </a:ext>
            </a:extLst>
          </p:cNvPr>
          <p:cNvSpPr txBox="1"/>
          <p:nvPr/>
        </p:nvSpPr>
        <p:spPr>
          <a:xfrm>
            <a:off x="2124053" y="209988"/>
            <a:ext cx="79438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ARQUITETURA DA PRISMA</a:t>
            </a:r>
          </a:p>
        </p:txBody>
      </p:sp>
    </p:spTree>
    <p:extLst>
      <p:ext uri="{BB962C8B-B14F-4D97-AF65-F5344CB8AC3E}">
        <p14:creationId xmlns:p14="http://schemas.microsoft.com/office/powerpoint/2010/main" val="2470331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CAF1EC-549F-480F-A16B-6B48BBDEA8FA}"/>
              </a:ext>
            </a:extLst>
          </p:cNvPr>
          <p:cNvSpPr txBox="1"/>
          <p:nvPr/>
        </p:nvSpPr>
        <p:spPr>
          <a:xfrm>
            <a:off x="0" y="243691"/>
            <a:ext cx="121920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ARQUITETURA DA SOLUÇÃO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D4FAB7-80E0-4CFF-A2CE-9F1F695E755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7F516B9-91F7-AA67-5E0E-12CE082F2290}"/>
              </a:ext>
            </a:extLst>
          </p:cNvPr>
          <p:cNvSpPr txBox="1"/>
          <p:nvPr/>
        </p:nvSpPr>
        <p:spPr>
          <a:xfrm>
            <a:off x="1287784" y="1459623"/>
            <a:ext cx="336249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Tecnologias Principais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349C14D-170B-DE7B-78F8-5C8D0881FB10}"/>
              </a:ext>
            </a:extLst>
          </p:cNvPr>
          <p:cNvSpPr txBox="1"/>
          <p:nvPr/>
        </p:nvSpPr>
        <p:spPr>
          <a:xfrm>
            <a:off x="6096000" y="1459623"/>
            <a:ext cx="336249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Fonte de Dados</a:t>
            </a:r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5BF873D6-80D9-B855-8470-A4E9078ECAE2}"/>
              </a:ext>
            </a:extLst>
          </p:cNvPr>
          <p:cNvGrpSpPr/>
          <p:nvPr/>
        </p:nvGrpSpPr>
        <p:grpSpPr>
          <a:xfrm>
            <a:off x="1287784" y="2305198"/>
            <a:ext cx="6652887" cy="2665948"/>
            <a:chOff x="1450866" y="3160818"/>
            <a:chExt cx="6652887" cy="2665948"/>
          </a:xfrm>
        </p:grpSpPr>
        <p:sp>
          <p:nvSpPr>
            <p:cNvPr id="7" name="Google Shape;101;p14">
              <a:extLst>
                <a:ext uri="{FF2B5EF4-FFF2-40B4-BE49-F238E27FC236}">
                  <a16:creationId xmlns:a16="http://schemas.microsoft.com/office/drawing/2014/main" id="{30E57BDB-E8C3-4F11-AB09-CFC0EDC2DA16}"/>
                </a:ext>
              </a:extLst>
            </p:cNvPr>
            <p:cNvSpPr txBox="1"/>
            <p:nvPr/>
          </p:nvSpPr>
          <p:spPr>
            <a:xfrm>
              <a:off x="2007753" y="3256041"/>
              <a:ext cx="1922561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R="0" lvl="0" rtl="0">
                <a:spcBef>
                  <a:spcPts val="0"/>
                </a:spcBef>
                <a:spcAft>
                  <a:spcPts val="0"/>
                </a:spcAft>
              </a:pPr>
              <a:r>
                <a:rPr lang="pt-BR" b="1" dirty="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Python;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23C29B1-5C42-1432-C212-DD9CB447833E}"/>
                </a:ext>
              </a:extLst>
            </p:cNvPr>
            <p:cNvSpPr txBox="1"/>
            <p:nvPr/>
          </p:nvSpPr>
          <p:spPr>
            <a:xfrm>
              <a:off x="1450867" y="3160818"/>
              <a:ext cx="6903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b="1" dirty="0">
                  <a:solidFill>
                    <a:srgbClr val="4CBF88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01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8A08E8D0-13A8-E765-7D20-07B962BB1799}"/>
                </a:ext>
              </a:extLst>
            </p:cNvPr>
            <p:cNvSpPr txBox="1"/>
            <p:nvPr/>
          </p:nvSpPr>
          <p:spPr>
            <a:xfrm>
              <a:off x="1450867" y="3597426"/>
              <a:ext cx="6903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b="1" dirty="0">
                  <a:solidFill>
                    <a:srgbClr val="4CBF88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02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3BF71724-B033-5498-9A3B-764D7FFF4AC8}"/>
                </a:ext>
              </a:extLst>
            </p:cNvPr>
            <p:cNvSpPr txBox="1"/>
            <p:nvPr/>
          </p:nvSpPr>
          <p:spPr>
            <a:xfrm>
              <a:off x="1450867" y="4017282"/>
              <a:ext cx="6903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b="1" dirty="0">
                  <a:solidFill>
                    <a:srgbClr val="4CBF88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03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32D16970-A821-738E-F7BB-39F798C5A3A3}"/>
                </a:ext>
              </a:extLst>
            </p:cNvPr>
            <p:cNvSpPr txBox="1"/>
            <p:nvPr/>
          </p:nvSpPr>
          <p:spPr>
            <a:xfrm>
              <a:off x="1450866" y="4450486"/>
              <a:ext cx="6293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b="1" dirty="0">
                  <a:solidFill>
                    <a:srgbClr val="4CBF88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04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7412BFE8-2CDA-FA94-2007-07F54D8EBB77}"/>
                </a:ext>
              </a:extLst>
            </p:cNvPr>
            <p:cNvSpPr txBox="1"/>
            <p:nvPr/>
          </p:nvSpPr>
          <p:spPr>
            <a:xfrm>
              <a:off x="2007753" y="3673100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pt-BR" b="1" dirty="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Pandas;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5666FDCD-C545-1F44-7E69-7839E6DEBA9B}"/>
                </a:ext>
              </a:extLst>
            </p:cNvPr>
            <p:cNvSpPr txBox="1"/>
            <p:nvPr/>
          </p:nvSpPr>
          <p:spPr>
            <a:xfrm>
              <a:off x="2007753" y="4090200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pt-BR" b="1" dirty="0" err="1">
                  <a:solidFill>
                    <a:srgbClr val="FFFFFF"/>
                  </a:solidFill>
                  <a:latin typeface="Lato" panose="020F0502020204030203" pitchFamily="34" charset="0"/>
                </a:rPr>
                <a:t>Scikit-Learn</a:t>
              </a:r>
              <a:r>
                <a:rPr lang="pt-BR" b="1" dirty="0">
                  <a:solidFill>
                    <a:srgbClr val="FFFFFF"/>
                  </a:solidFill>
                  <a:latin typeface="Lato" panose="020F0502020204030203" pitchFamily="34" charset="0"/>
                </a:rPr>
                <a:t>;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085287CD-9559-92D4-4B9F-6A3E9A1CC463}"/>
                </a:ext>
              </a:extLst>
            </p:cNvPr>
            <p:cNvSpPr txBox="1"/>
            <p:nvPr/>
          </p:nvSpPr>
          <p:spPr>
            <a:xfrm>
              <a:off x="2007753" y="4527430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pt-BR" b="1" dirty="0" err="1">
                  <a:solidFill>
                    <a:srgbClr val="FFFFFF"/>
                  </a:solidFill>
                  <a:latin typeface="Lato" panose="020F0502020204030203" pitchFamily="34" charset="0"/>
                  <a:ea typeface="Lato"/>
                  <a:cs typeface="Lato"/>
                  <a:sym typeface="Lato"/>
                </a:rPr>
                <a:t>Joblib</a:t>
              </a:r>
              <a:r>
                <a:rPr lang="pt-BR" b="1" dirty="0">
                  <a:solidFill>
                    <a:srgbClr val="FFFFFF"/>
                  </a:solidFill>
                  <a:latin typeface="Lato" panose="020F0502020204030203" pitchFamily="34" charset="0"/>
                  <a:ea typeface="Lato"/>
                  <a:cs typeface="Lato"/>
                  <a:sym typeface="Lato"/>
                </a:rPr>
                <a:t>;</a:t>
              </a:r>
              <a:endParaRPr lang="pt-BR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B9246667-E6A8-C1A3-7CBE-9505F5AE1177}"/>
                </a:ext>
              </a:extLst>
            </p:cNvPr>
            <p:cNvSpPr txBox="1"/>
            <p:nvPr/>
          </p:nvSpPr>
          <p:spPr>
            <a:xfrm>
              <a:off x="1450866" y="4870342"/>
              <a:ext cx="6293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b="1" dirty="0">
                  <a:solidFill>
                    <a:srgbClr val="4CBF88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05</a:t>
              </a: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4E13B7F8-B949-83B3-6592-31EFE2D1562F}"/>
                </a:ext>
              </a:extLst>
            </p:cNvPr>
            <p:cNvSpPr txBox="1"/>
            <p:nvPr/>
          </p:nvSpPr>
          <p:spPr>
            <a:xfrm>
              <a:off x="1450866" y="5303546"/>
              <a:ext cx="6293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b="1" dirty="0">
                  <a:solidFill>
                    <a:srgbClr val="4CBF88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06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C792C720-9640-1DB9-AC89-842E61F550B1}"/>
                </a:ext>
              </a:extLst>
            </p:cNvPr>
            <p:cNvSpPr txBox="1"/>
            <p:nvPr/>
          </p:nvSpPr>
          <p:spPr>
            <a:xfrm>
              <a:off x="2007753" y="4952337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l" rtl="0" eaLnBrk="1" latinLnBrk="0" hangingPunct="1">
                <a:buNone/>
              </a:pPr>
              <a:r>
                <a:rPr lang="pt-BR" sz="1800" b="1" kern="1200" dirty="0" err="1">
                  <a:solidFill>
                    <a:srgbClr val="FFFFFF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FastAPI</a:t>
              </a:r>
              <a:r>
                <a:rPr lang="pt-BR" sz="1800" b="1" kern="1200" dirty="0">
                  <a:solidFill>
                    <a:srgbClr val="FFFFFF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;</a:t>
              </a:r>
              <a:endParaRPr lang="pt-BR" dirty="0"/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1408FE1D-5E46-25F7-C256-5F25869E9316}"/>
                </a:ext>
              </a:extLst>
            </p:cNvPr>
            <p:cNvSpPr txBox="1"/>
            <p:nvPr/>
          </p:nvSpPr>
          <p:spPr>
            <a:xfrm>
              <a:off x="2007753" y="5380490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pt-BR" sz="1800" b="1" kern="1200" dirty="0" err="1">
                  <a:solidFill>
                    <a:srgbClr val="FFFFFF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Streamlit</a:t>
              </a:r>
              <a:r>
                <a:rPr lang="pt-BR" sz="1800" b="1" kern="1200" dirty="0">
                  <a:solidFill>
                    <a:srgbClr val="FFFFFF"/>
                  </a:solidFill>
                  <a:effectLst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</a:t>
              </a:r>
              <a:endParaRPr lang="pt-BR" dirty="0"/>
            </a:p>
          </p:txBody>
        </p:sp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5B195035-CB31-4532-1328-8651406CFAFF}"/>
              </a:ext>
            </a:extLst>
          </p:cNvPr>
          <p:cNvGrpSpPr/>
          <p:nvPr/>
        </p:nvGrpSpPr>
        <p:grpSpPr>
          <a:xfrm>
            <a:off x="6002660" y="2305198"/>
            <a:ext cx="6904249" cy="1812888"/>
            <a:chOff x="6002660" y="2305198"/>
            <a:chExt cx="6904249" cy="1812888"/>
          </a:xfrm>
        </p:grpSpPr>
        <p:sp>
          <p:nvSpPr>
            <p:cNvPr id="3" name="Google Shape;101;p14">
              <a:extLst>
                <a:ext uri="{FF2B5EF4-FFF2-40B4-BE49-F238E27FC236}">
                  <a16:creationId xmlns:a16="http://schemas.microsoft.com/office/drawing/2014/main" id="{D50D7ABD-7907-416D-4F19-2F7156BFEE95}"/>
                </a:ext>
              </a:extLst>
            </p:cNvPr>
            <p:cNvSpPr txBox="1"/>
            <p:nvPr/>
          </p:nvSpPr>
          <p:spPr>
            <a:xfrm>
              <a:off x="6519636" y="2383271"/>
              <a:ext cx="3827693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R="0" lvl="0" rtl="0">
                <a:spcBef>
                  <a:spcPts val="0"/>
                </a:spcBef>
                <a:spcAft>
                  <a:spcPts val="0"/>
                </a:spcAft>
              </a:pPr>
              <a:r>
                <a:rPr lang="pt-BR" b="1" dirty="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Base de boletos;</a:t>
              </a:r>
            </a:p>
          </p:txBody>
        </p:sp>
        <p:grpSp>
          <p:nvGrpSpPr>
            <p:cNvPr id="34" name="Agrupar 33">
              <a:extLst>
                <a:ext uri="{FF2B5EF4-FFF2-40B4-BE49-F238E27FC236}">
                  <a16:creationId xmlns:a16="http://schemas.microsoft.com/office/drawing/2014/main" id="{5F019EF2-9003-0B15-9D50-8E32B78C4F7C}"/>
                </a:ext>
              </a:extLst>
            </p:cNvPr>
            <p:cNvGrpSpPr/>
            <p:nvPr/>
          </p:nvGrpSpPr>
          <p:grpSpPr>
            <a:xfrm>
              <a:off x="6002660" y="2305198"/>
              <a:ext cx="690355" cy="1812888"/>
              <a:chOff x="5596523" y="3335816"/>
              <a:chExt cx="690355" cy="1812888"/>
            </a:xfrm>
          </p:grpSpPr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60FF55B3-EE17-07AF-9E24-C8882B1A6F79}"/>
                  </a:ext>
                </a:extLst>
              </p:cNvPr>
              <p:cNvSpPr txBox="1"/>
              <p:nvPr/>
            </p:nvSpPr>
            <p:spPr>
              <a:xfrm>
                <a:off x="5596524" y="3335816"/>
                <a:ext cx="69035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>
                    <a:solidFill>
                      <a:srgbClr val="4CBF88"/>
                    </a:solidFill>
                    <a:latin typeface="Lato" panose="020F0502020204030203" pitchFamily="34" charset="0"/>
                    <a:cs typeface="Segoe UI" panose="020B0502040204020203" pitchFamily="34" charset="0"/>
                  </a:rPr>
                  <a:t>01</a:t>
                </a:r>
              </a:p>
            </p:txBody>
          </p:sp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2D5F1E24-2514-0563-EC2F-DB3A4EB88A05}"/>
                  </a:ext>
                </a:extLst>
              </p:cNvPr>
              <p:cNvSpPr txBox="1"/>
              <p:nvPr/>
            </p:nvSpPr>
            <p:spPr>
              <a:xfrm>
                <a:off x="5596524" y="3772424"/>
                <a:ext cx="69035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>
                    <a:solidFill>
                      <a:srgbClr val="4CBF88"/>
                    </a:solidFill>
                    <a:latin typeface="Lato" panose="020F0502020204030203" pitchFamily="34" charset="0"/>
                    <a:cs typeface="Segoe UI" panose="020B0502040204020203" pitchFamily="34" charset="0"/>
                  </a:rPr>
                  <a:t>02</a:t>
                </a:r>
              </a:p>
            </p:txBody>
          </p:sp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6B89CE3E-3C8C-2E81-64FA-0BDDE2227738}"/>
                  </a:ext>
                </a:extLst>
              </p:cNvPr>
              <p:cNvSpPr txBox="1"/>
              <p:nvPr/>
            </p:nvSpPr>
            <p:spPr>
              <a:xfrm>
                <a:off x="5596524" y="4192280"/>
                <a:ext cx="69035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>
                    <a:solidFill>
                      <a:srgbClr val="4CBF88"/>
                    </a:solidFill>
                    <a:latin typeface="Lato" panose="020F0502020204030203" pitchFamily="34" charset="0"/>
                    <a:cs typeface="Segoe UI" panose="020B0502040204020203" pitchFamily="34" charset="0"/>
                  </a:rPr>
                  <a:t>03</a:t>
                </a:r>
              </a:p>
            </p:txBody>
          </p:sp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751B621B-640E-87D2-11C2-5BF353B6B99E}"/>
                  </a:ext>
                </a:extLst>
              </p:cNvPr>
              <p:cNvSpPr txBox="1"/>
              <p:nvPr/>
            </p:nvSpPr>
            <p:spPr>
              <a:xfrm>
                <a:off x="5596523" y="4625484"/>
                <a:ext cx="6293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>
                    <a:solidFill>
                      <a:srgbClr val="4CBF88"/>
                    </a:solidFill>
                    <a:latin typeface="Lato" panose="020F0502020204030203" pitchFamily="34" charset="0"/>
                    <a:cs typeface="Segoe UI" panose="020B0502040204020203" pitchFamily="34" charset="0"/>
                  </a:rPr>
                  <a:t>04</a:t>
                </a:r>
              </a:p>
            </p:txBody>
          </p:sp>
        </p:grp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3CC18022-C436-C850-CF74-57D8C8E0DD73}"/>
                </a:ext>
              </a:extLst>
            </p:cNvPr>
            <p:cNvSpPr txBox="1"/>
            <p:nvPr/>
          </p:nvSpPr>
          <p:spPr>
            <a:xfrm>
              <a:off x="6519636" y="2851429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pt-BR" b="1" dirty="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Base auxiliar;</a:t>
              </a:r>
              <a:endParaRPr lang="pt-BR" b="1" dirty="0">
                <a:solidFill>
                  <a:srgbClr val="FFFFFF"/>
                </a:solidFill>
                <a:latin typeface="Lato" panose="020F0502020204030203" pitchFamily="3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EFFC6D55-B5F0-B797-3322-1B1246E34661}"/>
                </a:ext>
              </a:extLst>
            </p:cNvPr>
            <p:cNvSpPr txBox="1"/>
            <p:nvPr/>
          </p:nvSpPr>
          <p:spPr>
            <a:xfrm>
              <a:off x="6519636" y="3244334"/>
              <a:ext cx="630843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pt-BR" b="1" dirty="0">
                  <a:solidFill>
                    <a:srgbClr val="FFFFFF"/>
                  </a:solidFill>
                  <a:latin typeface="Lato" panose="020F0502020204030203" pitchFamily="34" charset="0"/>
                </a:rPr>
                <a:t>Dados cadastrais via </a:t>
              </a:r>
              <a:r>
                <a:rPr lang="pt-BR" b="1" dirty="0" err="1">
                  <a:solidFill>
                    <a:srgbClr val="FFFFFF"/>
                  </a:solidFill>
                  <a:latin typeface="Lato" panose="020F0502020204030203" pitchFamily="34" charset="0"/>
                </a:rPr>
                <a:t>BrasilAPI</a:t>
              </a:r>
              <a:r>
                <a:rPr lang="pt-BR" b="1" dirty="0">
                  <a:solidFill>
                    <a:srgbClr val="FFFFFF"/>
                  </a:solidFill>
                  <a:latin typeface="Lato" panose="020F0502020204030203" pitchFamily="34" charset="0"/>
                </a:rPr>
                <a:t>;</a:t>
              </a:r>
              <a:endParaRPr lang="pt-BR" b="1" dirty="0">
                <a:solidFill>
                  <a:srgbClr val="FFFFFF"/>
                </a:solidFill>
                <a:latin typeface="Lato" panose="020F0502020204030203" pitchFamily="3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8087992B-7C0E-DD6D-596F-9AE3CB670E1C}"/>
                </a:ext>
              </a:extLst>
            </p:cNvPr>
            <p:cNvSpPr txBox="1"/>
            <p:nvPr/>
          </p:nvSpPr>
          <p:spPr>
            <a:xfrm>
              <a:off x="6492255" y="3682372"/>
              <a:ext cx="641465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pt-BR" b="1" dirty="0">
                  <a:solidFill>
                    <a:srgbClr val="FFFFFF"/>
                  </a:solidFill>
                  <a:latin typeface="Lato" panose="020F0502020204030203" pitchFamily="34" charset="0"/>
                  <a:ea typeface="Lato"/>
                  <a:cs typeface="Lato"/>
                  <a:sym typeface="Lato"/>
                </a:rPr>
                <a:t>Bureau simulado para prova de integração externa.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467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CAF1EC-549F-480F-A16B-6B48BBDEA8FA}"/>
              </a:ext>
            </a:extLst>
          </p:cNvPr>
          <p:cNvSpPr txBox="1"/>
          <p:nvPr/>
        </p:nvSpPr>
        <p:spPr>
          <a:xfrm>
            <a:off x="0" y="24369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sz="4000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DADOS, ANÁLISES E INDICADORES RELEVANTES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D4FAB7-80E0-4CFF-A2CE-9F1F695E755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FE08D1D-A101-6418-C0D7-8A8976F2D9C8}"/>
              </a:ext>
            </a:extLst>
          </p:cNvPr>
          <p:cNvSpPr txBox="1"/>
          <p:nvPr/>
        </p:nvSpPr>
        <p:spPr>
          <a:xfrm>
            <a:off x="764400" y="1163759"/>
            <a:ext cx="1066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O modelo foi treinado com variáveis relacionadas ao comportamento de pagamento, liquidez, materialidade, quantidade de operações e características estruturais de sacado e cedente.</a:t>
            </a:r>
          </a:p>
          <a:p>
            <a:pPr algn="just"/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Também incorporamos sinais adicionais de inteligência, como: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663E7F2A-747B-D0E4-15AB-F4197816FAB1}"/>
              </a:ext>
            </a:extLst>
          </p:cNvPr>
          <p:cNvGrpSpPr/>
          <p:nvPr/>
        </p:nvGrpSpPr>
        <p:grpSpPr>
          <a:xfrm>
            <a:off x="764400" y="2215160"/>
            <a:ext cx="9921849" cy="1011795"/>
            <a:chOff x="764400" y="2215160"/>
            <a:chExt cx="9921849" cy="1011795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943BFB63-6ECC-4045-9626-4B0296E9D36B}"/>
                </a:ext>
              </a:extLst>
            </p:cNvPr>
            <p:cNvSpPr txBox="1"/>
            <p:nvPr/>
          </p:nvSpPr>
          <p:spPr>
            <a:xfrm>
              <a:off x="764400" y="2215160"/>
              <a:ext cx="11137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b="1" dirty="0">
                  <a:solidFill>
                    <a:srgbClr val="4CBF88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01</a:t>
              </a:r>
            </a:p>
          </p:txBody>
        </p:sp>
        <p:sp>
          <p:nvSpPr>
            <p:cNvPr id="7" name="Google Shape;101;p14">
              <a:extLst>
                <a:ext uri="{FF2B5EF4-FFF2-40B4-BE49-F238E27FC236}">
                  <a16:creationId xmlns:a16="http://schemas.microsoft.com/office/drawing/2014/main" id="{30E57BDB-E8C3-4F11-AB09-CFC0EDC2DA16}"/>
                </a:ext>
              </a:extLst>
            </p:cNvPr>
            <p:cNvSpPr txBox="1"/>
            <p:nvPr/>
          </p:nvSpPr>
          <p:spPr>
            <a:xfrm>
              <a:off x="1321287" y="2293215"/>
              <a:ext cx="9364962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pt-BR" sz="1600" b="1" i="0" u="none" strike="noStrike" dirty="0">
                  <a:solidFill>
                    <a:srgbClr val="FFFFFF"/>
                  </a:solidFill>
                  <a:effectLst/>
                  <a:latin typeface="Lato" panose="020F0502020204030203" pitchFamily="34" charset="0"/>
                </a:rPr>
                <a:t>Ticket médio de referência;</a:t>
              </a:r>
              <a:endParaRPr lang="pt-BR" sz="1600" dirty="0">
                <a:effectLst/>
              </a:endParaRPr>
            </a:p>
          </p:txBody>
        </p:sp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C4DCA64F-D74E-75DF-7E74-AF21C1F17CC7}"/>
                </a:ext>
              </a:extLst>
            </p:cNvPr>
            <p:cNvSpPr txBox="1"/>
            <p:nvPr/>
          </p:nvSpPr>
          <p:spPr>
            <a:xfrm>
              <a:off x="764400" y="2703735"/>
              <a:ext cx="11137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b="1" dirty="0">
                  <a:solidFill>
                    <a:srgbClr val="4CBF88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02</a:t>
              </a:r>
            </a:p>
          </p:txBody>
        </p:sp>
        <p:sp>
          <p:nvSpPr>
            <p:cNvPr id="10" name="Google Shape;101;p14">
              <a:extLst>
                <a:ext uri="{FF2B5EF4-FFF2-40B4-BE49-F238E27FC236}">
                  <a16:creationId xmlns:a16="http://schemas.microsoft.com/office/drawing/2014/main" id="{487F97E9-4761-D5E5-B724-3329017CAB15}"/>
                </a:ext>
              </a:extLst>
            </p:cNvPr>
            <p:cNvSpPr txBox="1"/>
            <p:nvPr/>
          </p:nvSpPr>
          <p:spPr>
            <a:xfrm>
              <a:off x="1321287" y="2781790"/>
              <a:ext cx="9364962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pt-BR" sz="1600" b="1" dirty="0">
                  <a:solidFill>
                    <a:srgbClr val="FFFFFF"/>
                  </a:solidFill>
                  <a:latin typeface="Lato" panose="020F0502020204030203" pitchFamily="34" charset="0"/>
                </a:rPr>
                <a:t>Inteligência histórica do cedente;</a:t>
              </a:r>
              <a:endParaRPr lang="pt-BR" sz="1600" dirty="0">
                <a:effectLst/>
              </a:endParaRP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FEE6AA21-D113-B34C-B86E-48C682BD09FC}"/>
              </a:ext>
            </a:extLst>
          </p:cNvPr>
          <p:cNvGrpSpPr/>
          <p:nvPr/>
        </p:nvGrpSpPr>
        <p:grpSpPr>
          <a:xfrm>
            <a:off x="5317927" y="2215160"/>
            <a:ext cx="9921849" cy="1011795"/>
            <a:chOff x="764400" y="3192310"/>
            <a:chExt cx="9921849" cy="1011795"/>
          </a:xfrm>
        </p:grpSpPr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DE19CE4B-FF2D-6776-924B-8934159E39E0}"/>
                </a:ext>
              </a:extLst>
            </p:cNvPr>
            <p:cNvSpPr txBox="1"/>
            <p:nvPr/>
          </p:nvSpPr>
          <p:spPr>
            <a:xfrm>
              <a:off x="764400" y="3192310"/>
              <a:ext cx="11137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b="1" dirty="0">
                  <a:solidFill>
                    <a:srgbClr val="4CBF88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03</a:t>
              </a:r>
            </a:p>
          </p:txBody>
        </p:sp>
        <p:sp>
          <p:nvSpPr>
            <p:cNvPr id="15" name="Google Shape;101;p14">
              <a:extLst>
                <a:ext uri="{FF2B5EF4-FFF2-40B4-BE49-F238E27FC236}">
                  <a16:creationId xmlns:a16="http://schemas.microsoft.com/office/drawing/2014/main" id="{F3816356-6200-0D27-8975-F0954BFA6CD2}"/>
                </a:ext>
              </a:extLst>
            </p:cNvPr>
            <p:cNvSpPr txBox="1"/>
            <p:nvPr/>
          </p:nvSpPr>
          <p:spPr>
            <a:xfrm>
              <a:off x="1321287" y="3270365"/>
              <a:ext cx="9364962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pt-BR" sz="1600" b="1" dirty="0">
                  <a:solidFill>
                    <a:srgbClr val="FFFFFF"/>
                  </a:solidFill>
                  <a:latin typeface="Lato" panose="020F0502020204030203" pitchFamily="34" charset="0"/>
                </a:rPr>
                <a:t>Indicadores externos de cadastro e risco;</a:t>
              </a:r>
              <a:endParaRPr lang="pt-BR" sz="1600" dirty="0">
                <a:effectLst/>
              </a:endParaRP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F8878616-EC12-4E27-D65E-C0524045F8D5}"/>
                </a:ext>
              </a:extLst>
            </p:cNvPr>
            <p:cNvSpPr txBox="1"/>
            <p:nvPr/>
          </p:nvSpPr>
          <p:spPr>
            <a:xfrm>
              <a:off x="764400" y="3680885"/>
              <a:ext cx="11137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b="1" dirty="0">
                  <a:solidFill>
                    <a:srgbClr val="4CBF88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04</a:t>
              </a:r>
            </a:p>
          </p:txBody>
        </p:sp>
        <p:sp>
          <p:nvSpPr>
            <p:cNvPr id="18" name="Google Shape;101;p14">
              <a:extLst>
                <a:ext uri="{FF2B5EF4-FFF2-40B4-BE49-F238E27FC236}">
                  <a16:creationId xmlns:a16="http://schemas.microsoft.com/office/drawing/2014/main" id="{FB9C1BCC-4555-5FDC-77F0-4153BFBCFA50}"/>
                </a:ext>
              </a:extLst>
            </p:cNvPr>
            <p:cNvSpPr txBox="1"/>
            <p:nvPr/>
          </p:nvSpPr>
          <p:spPr>
            <a:xfrm>
              <a:off x="1321287" y="3758940"/>
              <a:ext cx="9364962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pt-BR" sz="1600" b="1" dirty="0">
                  <a:solidFill>
                    <a:srgbClr val="FFFFFF"/>
                  </a:solidFill>
                  <a:latin typeface="Lato" panose="020F0502020204030203" pitchFamily="34" charset="0"/>
                </a:rPr>
                <a:t>Regras de negócio para bloqueio críticos.</a:t>
              </a:r>
              <a:endParaRPr lang="pt-BR" sz="1600" dirty="0">
                <a:effectLst/>
              </a:endParaRPr>
            </a:p>
          </p:txBody>
        </p:sp>
      </p:grp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E6924AD-ED07-6C47-91FA-48D63F8670E9}"/>
              </a:ext>
            </a:extLst>
          </p:cNvPr>
          <p:cNvSpPr txBox="1"/>
          <p:nvPr/>
        </p:nvSpPr>
        <p:spPr>
          <a:xfrm>
            <a:off x="764400" y="3327371"/>
            <a:ext cx="1066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b="1" dirty="0">
                <a:solidFill>
                  <a:schemeClr val="bg1"/>
                </a:solidFill>
                <a:latin typeface="Lato" panose="020F0502020204030203" pitchFamily="34" charset="0"/>
              </a:rPr>
              <a:t>Entre os principais indicadores gerados pela solução estão: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80C50F69-C781-12B8-5B6D-4DAEB34E9445}"/>
              </a:ext>
            </a:extLst>
          </p:cNvPr>
          <p:cNvGrpSpPr/>
          <p:nvPr/>
        </p:nvGrpSpPr>
        <p:grpSpPr>
          <a:xfrm>
            <a:off x="764400" y="3710818"/>
            <a:ext cx="9921849" cy="1011795"/>
            <a:chOff x="764400" y="2215160"/>
            <a:chExt cx="9921849" cy="1011795"/>
          </a:xfrm>
        </p:grpSpPr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994482EF-B5E8-89B2-DBB8-42665CC1C4B6}"/>
                </a:ext>
              </a:extLst>
            </p:cNvPr>
            <p:cNvSpPr txBox="1"/>
            <p:nvPr/>
          </p:nvSpPr>
          <p:spPr>
            <a:xfrm>
              <a:off x="764400" y="2215160"/>
              <a:ext cx="11137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b="1" dirty="0">
                  <a:solidFill>
                    <a:srgbClr val="4CBF88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01</a:t>
              </a:r>
            </a:p>
          </p:txBody>
        </p:sp>
        <p:sp>
          <p:nvSpPr>
            <p:cNvPr id="24" name="Google Shape;101;p14">
              <a:extLst>
                <a:ext uri="{FF2B5EF4-FFF2-40B4-BE49-F238E27FC236}">
                  <a16:creationId xmlns:a16="http://schemas.microsoft.com/office/drawing/2014/main" id="{37EBB34F-FCB3-3277-8803-B4F5B4A116E5}"/>
                </a:ext>
              </a:extLst>
            </p:cNvPr>
            <p:cNvSpPr txBox="1"/>
            <p:nvPr/>
          </p:nvSpPr>
          <p:spPr>
            <a:xfrm>
              <a:off x="1321287" y="2293215"/>
              <a:ext cx="9364962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pt-BR" sz="1600" b="1" i="0" u="none" strike="noStrike" dirty="0">
                  <a:solidFill>
                    <a:srgbClr val="FFFFFF"/>
                  </a:solidFill>
                  <a:effectLst/>
                  <a:latin typeface="Lato" panose="020F0502020204030203" pitchFamily="34" charset="0"/>
                </a:rPr>
                <a:t>Probabilidade de inadimplência;</a:t>
              </a:r>
              <a:endParaRPr lang="pt-BR" sz="1600" dirty="0">
                <a:effectLst/>
              </a:endParaRP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8E46E500-D82B-0A9C-6882-4F03A2B18B48}"/>
                </a:ext>
              </a:extLst>
            </p:cNvPr>
            <p:cNvSpPr txBox="1"/>
            <p:nvPr/>
          </p:nvSpPr>
          <p:spPr>
            <a:xfrm>
              <a:off x="764400" y="2703735"/>
              <a:ext cx="11137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b="1" dirty="0">
                  <a:solidFill>
                    <a:srgbClr val="4CBF88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02</a:t>
              </a:r>
            </a:p>
          </p:txBody>
        </p:sp>
        <p:sp>
          <p:nvSpPr>
            <p:cNvPr id="26" name="Google Shape;101;p14">
              <a:extLst>
                <a:ext uri="{FF2B5EF4-FFF2-40B4-BE49-F238E27FC236}">
                  <a16:creationId xmlns:a16="http://schemas.microsoft.com/office/drawing/2014/main" id="{86F60E43-F1A2-62D4-E92C-A6531588CCE1}"/>
                </a:ext>
              </a:extLst>
            </p:cNvPr>
            <p:cNvSpPr txBox="1"/>
            <p:nvPr/>
          </p:nvSpPr>
          <p:spPr>
            <a:xfrm>
              <a:off x="1321287" y="2781790"/>
              <a:ext cx="9364962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pt-BR" sz="1600" b="1" dirty="0">
                  <a:solidFill>
                    <a:srgbClr val="FFFFFF"/>
                  </a:solidFill>
                  <a:latin typeface="Lato" panose="020F0502020204030203" pitchFamily="34" charset="0"/>
                </a:rPr>
                <a:t>Score Prisma;</a:t>
              </a:r>
              <a:endParaRPr lang="pt-BR" sz="1600" dirty="0">
                <a:effectLst/>
              </a:endParaRPr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0297B55D-491E-0A04-D77D-2E10291A79B3}"/>
              </a:ext>
            </a:extLst>
          </p:cNvPr>
          <p:cNvGrpSpPr/>
          <p:nvPr/>
        </p:nvGrpSpPr>
        <p:grpSpPr>
          <a:xfrm>
            <a:off x="5317927" y="3710818"/>
            <a:ext cx="9921849" cy="1011795"/>
            <a:chOff x="764400" y="3192310"/>
            <a:chExt cx="9921849" cy="1011795"/>
          </a:xfrm>
        </p:grpSpPr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341E267D-A560-0A2B-720A-ADFA3FA40B46}"/>
                </a:ext>
              </a:extLst>
            </p:cNvPr>
            <p:cNvSpPr txBox="1"/>
            <p:nvPr/>
          </p:nvSpPr>
          <p:spPr>
            <a:xfrm>
              <a:off x="764400" y="3192310"/>
              <a:ext cx="11137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b="1" dirty="0">
                  <a:solidFill>
                    <a:srgbClr val="4CBF88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05</a:t>
              </a:r>
            </a:p>
          </p:txBody>
        </p:sp>
        <p:sp>
          <p:nvSpPr>
            <p:cNvPr id="29" name="Google Shape;101;p14">
              <a:extLst>
                <a:ext uri="{FF2B5EF4-FFF2-40B4-BE49-F238E27FC236}">
                  <a16:creationId xmlns:a16="http://schemas.microsoft.com/office/drawing/2014/main" id="{37529DA5-734A-ADAD-7B44-F5F86D298295}"/>
                </a:ext>
              </a:extLst>
            </p:cNvPr>
            <p:cNvSpPr txBox="1"/>
            <p:nvPr/>
          </p:nvSpPr>
          <p:spPr>
            <a:xfrm>
              <a:off x="1321287" y="3270365"/>
              <a:ext cx="9364962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pt-BR" sz="1600" b="1" dirty="0">
                  <a:solidFill>
                    <a:srgbClr val="FFFFFF"/>
                  </a:solidFill>
                  <a:latin typeface="Lato" panose="020F0502020204030203" pitchFamily="34" charset="0"/>
                </a:rPr>
                <a:t>Motivos explicáveis da decisão;</a:t>
              </a:r>
              <a:endParaRPr lang="pt-BR" sz="1600" dirty="0">
                <a:effectLst/>
              </a:endParaRP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40D739B0-19E7-1E51-0720-E4810C560637}"/>
                </a:ext>
              </a:extLst>
            </p:cNvPr>
            <p:cNvSpPr txBox="1"/>
            <p:nvPr/>
          </p:nvSpPr>
          <p:spPr>
            <a:xfrm>
              <a:off x="764400" y="3680885"/>
              <a:ext cx="11137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b="1" dirty="0">
                  <a:solidFill>
                    <a:srgbClr val="4CBF88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06</a:t>
              </a:r>
            </a:p>
          </p:txBody>
        </p:sp>
        <p:sp>
          <p:nvSpPr>
            <p:cNvPr id="31" name="Google Shape;101;p14">
              <a:extLst>
                <a:ext uri="{FF2B5EF4-FFF2-40B4-BE49-F238E27FC236}">
                  <a16:creationId xmlns:a16="http://schemas.microsoft.com/office/drawing/2014/main" id="{512B5854-3864-4548-A2C1-ED9A96670D27}"/>
                </a:ext>
              </a:extLst>
            </p:cNvPr>
            <p:cNvSpPr txBox="1"/>
            <p:nvPr/>
          </p:nvSpPr>
          <p:spPr>
            <a:xfrm>
              <a:off x="1321287" y="3758940"/>
              <a:ext cx="9364962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pt-BR" sz="1600" b="1" dirty="0">
                  <a:solidFill>
                    <a:srgbClr val="FFFFFF"/>
                  </a:solidFill>
                  <a:latin typeface="Lato" panose="020F0502020204030203" pitchFamily="34" charset="0"/>
                </a:rPr>
                <a:t>Concentração por cedente;</a:t>
              </a:r>
              <a:endParaRPr lang="pt-BR" sz="1600" dirty="0">
                <a:effectLst/>
              </a:endParaRP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A4A2F59E-0234-38F6-D3AE-4DF5611C87BC}"/>
              </a:ext>
            </a:extLst>
          </p:cNvPr>
          <p:cNvGrpSpPr/>
          <p:nvPr/>
        </p:nvGrpSpPr>
        <p:grpSpPr>
          <a:xfrm>
            <a:off x="764400" y="4694017"/>
            <a:ext cx="9921849" cy="1011795"/>
            <a:chOff x="764400" y="2215160"/>
            <a:chExt cx="9921849" cy="1011795"/>
          </a:xfrm>
        </p:grpSpPr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6428CC00-3EE9-9A0A-5F7D-B3E271D566DA}"/>
                </a:ext>
              </a:extLst>
            </p:cNvPr>
            <p:cNvSpPr txBox="1"/>
            <p:nvPr/>
          </p:nvSpPr>
          <p:spPr>
            <a:xfrm>
              <a:off x="764400" y="2215160"/>
              <a:ext cx="11137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b="1" dirty="0">
                  <a:solidFill>
                    <a:srgbClr val="4CBF88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03</a:t>
              </a:r>
            </a:p>
          </p:txBody>
        </p:sp>
        <p:sp>
          <p:nvSpPr>
            <p:cNvPr id="34" name="Google Shape;101;p14">
              <a:extLst>
                <a:ext uri="{FF2B5EF4-FFF2-40B4-BE49-F238E27FC236}">
                  <a16:creationId xmlns:a16="http://schemas.microsoft.com/office/drawing/2014/main" id="{B03E3683-D2B0-6C42-C85D-DC80FFE931DC}"/>
                </a:ext>
              </a:extLst>
            </p:cNvPr>
            <p:cNvSpPr txBox="1"/>
            <p:nvPr/>
          </p:nvSpPr>
          <p:spPr>
            <a:xfrm>
              <a:off x="1321287" y="2293215"/>
              <a:ext cx="9364962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pt-BR" sz="1600" b="1" i="0" u="none" strike="noStrike" dirty="0">
                  <a:solidFill>
                    <a:srgbClr val="FFFFFF"/>
                  </a:solidFill>
                  <a:effectLst/>
                  <a:latin typeface="Lato" panose="020F0502020204030203" pitchFamily="34" charset="0"/>
                </a:rPr>
                <a:t>Decisão para aprovação;</a:t>
              </a:r>
              <a:endParaRPr lang="pt-BR" sz="1600" dirty="0">
                <a:effectLst/>
              </a:endParaRP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C19A96AA-CC43-0E3A-9738-A26FA181AB3E}"/>
                </a:ext>
              </a:extLst>
            </p:cNvPr>
            <p:cNvSpPr txBox="1"/>
            <p:nvPr/>
          </p:nvSpPr>
          <p:spPr>
            <a:xfrm>
              <a:off x="764400" y="2703735"/>
              <a:ext cx="11137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b="1" dirty="0">
                  <a:solidFill>
                    <a:srgbClr val="4CBF88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04</a:t>
              </a:r>
            </a:p>
          </p:txBody>
        </p:sp>
        <p:sp>
          <p:nvSpPr>
            <p:cNvPr id="36" name="Google Shape;101;p14">
              <a:extLst>
                <a:ext uri="{FF2B5EF4-FFF2-40B4-BE49-F238E27FC236}">
                  <a16:creationId xmlns:a16="http://schemas.microsoft.com/office/drawing/2014/main" id="{2C2D7BD3-4554-58D6-4967-3B4C0769F374}"/>
                </a:ext>
              </a:extLst>
            </p:cNvPr>
            <p:cNvSpPr txBox="1"/>
            <p:nvPr/>
          </p:nvSpPr>
          <p:spPr>
            <a:xfrm>
              <a:off x="1321287" y="2781790"/>
              <a:ext cx="9364962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pt-BR" sz="1600" b="1" dirty="0">
                  <a:solidFill>
                    <a:srgbClr val="FFFFFF"/>
                  </a:solidFill>
                  <a:latin typeface="Lato" panose="020F0502020204030203" pitchFamily="34" charset="0"/>
                </a:rPr>
                <a:t>Faixa de risco;</a:t>
              </a:r>
              <a:endParaRPr lang="pt-BR" sz="1600" dirty="0">
                <a:effectLst/>
              </a:endParaRPr>
            </a:p>
          </p:txBody>
        </p: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26AB18F9-0F09-BD1F-8965-1E1289EAF422}"/>
              </a:ext>
            </a:extLst>
          </p:cNvPr>
          <p:cNvGrpSpPr/>
          <p:nvPr/>
        </p:nvGrpSpPr>
        <p:grpSpPr>
          <a:xfrm>
            <a:off x="5317927" y="4694017"/>
            <a:ext cx="9921849" cy="1011795"/>
            <a:chOff x="764400" y="3192310"/>
            <a:chExt cx="9921849" cy="1011795"/>
          </a:xfrm>
        </p:grpSpPr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3955CCE3-9AE6-F9FE-7978-7DC19D947B51}"/>
                </a:ext>
              </a:extLst>
            </p:cNvPr>
            <p:cNvSpPr txBox="1"/>
            <p:nvPr/>
          </p:nvSpPr>
          <p:spPr>
            <a:xfrm>
              <a:off x="764400" y="3192310"/>
              <a:ext cx="11137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b="1" dirty="0">
                  <a:solidFill>
                    <a:srgbClr val="4CBF88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07</a:t>
              </a:r>
            </a:p>
          </p:txBody>
        </p:sp>
        <p:sp>
          <p:nvSpPr>
            <p:cNvPr id="39" name="Google Shape;101;p14">
              <a:extLst>
                <a:ext uri="{FF2B5EF4-FFF2-40B4-BE49-F238E27FC236}">
                  <a16:creationId xmlns:a16="http://schemas.microsoft.com/office/drawing/2014/main" id="{DBDCFDBD-06D5-1AFC-8D71-2004273562CD}"/>
                </a:ext>
              </a:extLst>
            </p:cNvPr>
            <p:cNvSpPr txBox="1"/>
            <p:nvPr/>
          </p:nvSpPr>
          <p:spPr>
            <a:xfrm>
              <a:off x="1321287" y="3270365"/>
              <a:ext cx="9364962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pt-BR" sz="1600" b="1" dirty="0">
                  <a:solidFill>
                    <a:srgbClr val="FFFFFF"/>
                  </a:solidFill>
                  <a:latin typeface="Lato" panose="020F0502020204030203" pitchFamily="34" charset="0"/>
                </a:rPr>
                <a:t>Curva cumulativa de atrasos;</a:t>
              </a:r>
              <a:endParaRPr lang="pt-BR" sz="1600" dirty="0">
                <a:effectLst/>
              </a:endParaRPr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474A7B38-55E3-1D38-DD20-1D9CF7A5A188}"/>
                </a:ext>
              </a:extLst>
            </p:cNvPr>
            <p:cNvSpPr txBox="1"/>
            <p:nvPr/>
          </p:nvSpPr>
          <p:spPr>
            <a:xfrm>
              <a:off x="764400" y="3680885"/>
              <a:ext cx="11137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b="1" dirty="0">
                  <a:solidFill>
                    <a:srgbClr val="4CBF88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08</a:t>
              </a:r>
            </a:p>
          </p:txBody>
        </p:sp>
        <p:sp>
          <p:nvSpPr>
            <p:cNvPr id="41" name="Google Shape;101;p14">
              <a:extLst>
                <a:ext uri="{FF2B5EF4-FFF2-40B4-BE49-F238E27FC236}">
                  <a16:creationId xmlns:a16="http://schemas.microsoft.com/office/drawing/2014/main" id="{891D93EB-A21A-C13D-51CB-5A13DDEBF2A4}"/>
                </a:ext>
              </a:extLst>
            </p:cNvPr>
            <p:cNvSpPr txBox="1"/>
            <p:nvPr/>
          </p:nvSpPr>
          <p:spPr>
            <a:xfrm>
              <a:off x="1321287" y="3758940"/>
              <a:ext cx="9364962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pt-BR" sz="1600" b="1" dirty="0">
                  <a:solidFill>
                    <a:srgbClr val="FFFFFF"/>
                  </a:solidFill>
                  <a:latin typeface="Lato" panose="020F0502020204030203" pitchFamily="34" charset="0"/>
                </a:rPr>
                <a:t>Comparação entre modelo interno e modelo enriquecido</a:t>
              </a:r>
              <a:endParaRPr lang="pt-BR" sz="1600" dirty="0">
                <a:effectLst/>
              </a:endParaRPr>
            </a:p>
          </p:txBody>
        </p:sp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C2DC6332-4D04-6D7B-9829-C288C094A94D}"/>
              </a:ext>
            </a:extLst>
          </p:cNvPr>
          <p:cNvSpPr txBox="1"/>
          <p:nvPr/>
        </p:nvSpPr>
        <p:spPr>
          <a:xfrm>
            <a:off x="764400" y="5705812"/>
            <a:ext cx="1066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Esses indicadores permitem transformar o score em uma ferramenta de decisão efetiva, e não apenas em uma classificação isolada.</a:t>
            </a:r>
          </a:p>
        </p:txBody>
      </p:sp>
    </p:spTree>
    <p:extLst>
      <p:ext uri="{BB962C8B-B14F-4D97-AF65-F5344CB8AC3E}">
        <p14:creationId xmlns:p14="http://schemas.microsoft.com/office/powerpoint/2010/main" val="3113232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CAF1EC-549F-480F-A16B-6B48BBDEA8FA}"/>
              </a:ext>
            </a:extLst>
          </p:cNvPr>
          <p:cNvSpPr txBox="1"/>
          <p:nvPr/>
        </p:nvSpPr>
        <p:spPr>
          <a:xfrm>
            <a:off x="1158196" y="309283"/>
            <a:ext cx="987558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PROTÓTIPO EM FUNCIONAMENTO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D4FAB7-80E0-4CFF-A2CE-9F1F695E755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6" name="Google Shape;283;p31">
            <a:extLst>
              <a:ext uri="{FF2B5EF4-FFF2-40B4-BE49-F238E27FC236}">
                <a16:creationId xmlns:a16="http://schemas.microsoft.com/office/drawing/2014/main" id="{E73B0C89-FB60-4EA2-8091-BC4AAD51F2AF}"/>
              </a:ext>
            </a:extLst>
          </p:cNvPr>
          <p:cNvSpPr txBox="1"/>
          <p:nvPr/>
        </p:nvSpPr>
        <p:spPr>
          <a:xfrm>
            <a:off x="764240" y="1094113"/>
            <a:ext cx="10663500" cy="1355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 PRISMA foi materializado como um MVP funcional com navegação real e inferência aplicada ao contexto do negócio.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solução permite: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4FAC885E-9D39-60B3-E57B-92BCB27B15E1}"/>
              </a:ext>
            </a:extLst>
          </p:cNvPr>
          <p:cNvGrpSpPr/>
          <p:nvPr/>
        </p:nvGrpSpPr>
        <p:grpSpPr>
          <a:xfrm>
            <a:off x="1158196" y="2362418"/>
            <a:ext cx="8758820" cy="2974843"/>
            <a:chOff x="906011" y="2418662"/>
            <a:chExt cx="8758820" cy="2974843"/>
          </a:xfrm>
        </p:grpSpPr>
        <p:grpSp>
          <p:nvGrpSpPr>
            <p:cNvPr id="2" name="Agrupar 1">
              <a:extLst>
                <a:ext uri="{FF2B5EF4-FFF2-40B4-BE49-F238E27FC236}">
                  <a16:creationId xmlns:a16="http://schemas.microsoft.com/office/drawing/2014/main" id="{6FEA87BC-A4B8-F274-DFFE-E035CCEA403B}"/>
                </a:ext>
              </a:extLst>
            </p:cNvPr>
            <p:cNvGrpSpPr/>
            <p:nvPr/>
          </p:nvGrpSpPr>
          <p:grpSpPr>
            <a:xfrm>
              <a:off x="906011" y="2418662"/>
              <a:ext cx="8758820" cy="1810587"/>
              <a:chOff x="1210811" y="3247337"/>
              <a:chExt cx="8758820" cy="1810587"/>
            </a:xfrm>
          </p:grpSpPr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5DA33121-0EDA-EDB2-9DDB-BFF1D1C7AAD0}"/>
                  </a:ext>
                </a:extLst>
              </p:cNvPr>
              <p:cNvSpPr txBox="1"/>
              <p:nvPr/>
            </p:nvSpPr>
            <p:spPr>
              <a:xfrm>
                <a:off x="1210811" y="3247337"/>
                <a:ext cx="1133460" cy="64633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just"/>
                <a:r>
                  <a:rPr lang="pt-BR" sz="3600" b="1" dirty="0">
                    <a:solidFill>
                      <a:srgbClr val="4CBF88"/>
                    </a:solidFill>
                    <a:latin typeface="Lato" panose="020F0502020204030203" pitchFamily="34" charset="0"/>
                    <a:cs typeface="Segoe UI" panose="020B0502040204020203" pitchFamily="34" charset="0"/>
                  </a:rPr>
                  <a:t>01</a:t>
                </a:r>
              </a:p>
            </p:txBody>
          </p:sp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51E5CBB1-8AD9-094B-653E-A1EF7E715376}"/>
                  </a:ext>
                </a:extLst>
              </p:cNvPr>
              <p:cNvSpPr txBox="1"/>
              <p:nvPr/>
            </p:nvSpPr>
            <p:spPr>
              <a:xfrm>
                <a:off x="1919944" y="3414912"/>
                <a:ext cx="8049687" cy="3231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just" rtl="0">
                  <a:spcBef>
                    <a:spcPts val="0"/>
                  </a:spcBef>
                  <a:spcAft>
                    <a:spcPts val="1600"/>
                  </a:spcAft>
                </a:pPr>
                <a:r>
                  <a:rPr lang="pt-BR" sz="1500" b="1" i="0" u="none" strike="noStrike" dirty="0">
                    <a:solidFill>
                      <a:srgbClr val="FFFFFF"/>
                    </a:solidFill>
                    <a:effectLst/>
                    <a:latin typeface="Lato" panose="020F0502020204030203" pitchFamily="34" charset="0"/>
                    <a:cs typeface="Segoe UI" panose="020B0502040204020203" pitchFamily="34" charset="0"/>
                  </a:rPr>
                  <a:t>Simular novos ativos e validar sua elegibilidade</a:t>
                </a:r>
                <a:endParaRPr lang="pt-BR" sz="1500" b="0" dirty="0">
                  <a:effectLst/>
                  <a:latin typeface="Lato" panose="020F050202020403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5A248E90-2E0E-72AA-2C59-829942BF852E}"/>
                  </a:ext>
                </a:extLst>
              </p:cNvPr>
              <p:cNvSpPr txBox="1"/>
              <p:nvPr/>
            </p:nvSpPr>
            <p:spPr>
              <a:xfrm>
                <a:off x="1901339" y="3991228"/>
                <a:ext cx="8049687" cy="3231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just" rtl="0">
                  <a:spcBef>
                    <a:spcPts val="0"/>
                  </a:spcBef>
                  <a:spcAft>
                    <a:spcPts val="1600"/>
                  </a:spcAft>
                </a:pPr>
                <a:r>
                  <a:rPr lang="pt-BR" sz="1500" b="1" i="0" u="none" strike="noStrike" dirty="0">
                    <a:solidFill>
                      <a:srgbClr val="FFFFFF"/>
                    </a:solidFill>
                    <a:effectLst/>
                    <a:latin typeface="Lato" panose="020F0502020204030203" pitchFamily="34" charset="0"/>
                    <a:cs typeface="Segoe UI" panose="020B0502040204020203" pitchFamily="34" charset="0"/>
                  </a:rPr>
                  <a:t>Acompanhar a carteira em visão estratégica, tática e analítica;</a:t>
                </a:r>
                <a:endParaRPr lang="pt-BR" sz="1500" b="0" dirty="0">
                  <a:effectLst/>
                  <a:latin typeface="Lato" panose="020F050202020403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69F6F284-AEC4-DC3D-D34E-441CA7A7F649}"/>
                  </a:ext>
                </a:extLst>
              </p:cNvPr>
              <p:cNvSpPr txBox="1"/>
              <p:nvPr/>
            </p:nvSpPr>
            <p:spPr>
              <a:xfrm>
                <a:off x="1910615" y="4573956"/>
                <a:ext cx="8031133" cy="3231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just" rtl="0">
                  <a:spcBef>
                    <a:spcPts val="0"/>
                  </a:spcBef>
                  <a:spcAft>
                    <a:spcPts val="1600"/>
                  </a:spcAft>
                </a:pPr>
                <a:r>
                  <a:rPr lang="pt-BR" sz="1500" b="1" i="0" u="none" strike="noStrike" dirty="0">
                    <a:solidFill>
                      <a:srgbClr val="FFFFFF"/>
                    </a:solidFill>
                    <a:effectLst/>
                    <a:latin typeface="Lato" panose="020F0502020204030203" pitchFamily="34" charset="0"/>
                    <a:cs typeface="Segoe UI" panose="020B0502040204020203" pitchFamily="34" charset="0"/>
                  </a:rPr>
                  <a:t>Consultar métricas de impacto financeiro;</a:t>
                </a:r>
                <a:endParaRPr lang="pt-BR" sz="1500" b="0" dirty="0">
                  <a:effectLst/>
                  <a:latin typeface="Lato" panose="020F050202020403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E080E335-D7D6-AA7E-C4E5-20E3F192A35D}"/>
                  </a:ext>
                </a:extLst>
              </p:cNvPr>
              <p:cNvSpPr txBox="1"/>
              <p:nvPr/>
            </p:nvSpPr>
            <p:spPr>
              <a:xfrm>
                <a:off x="1210811" y="3836317"/>
                <a:ext cx="1133460" cy="64633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just"/>
                <a:r>
                  <a:rPr lang="pt-BR" sz="3600" b="1" dirty="0">
                    <a:solidFill>
                      <a:srgbClr val="4CBF88"/>
                    </a:solidFill>
                    <a:latin typeface="Lato" panose="020F0502020204030203" pitchFamily="34" charset="0"/>
                    <a:cs typeface="Segoe UI" panose="020B0502040204020203" pitchFamily="34" charset="0"/>
                  </a:rPr>
                  <a:t>02</a:t>
                </a:r>
              </a:p>
            </p:txBody>
          </p:sp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ADDAA7D3-C933-D118-A069-91FED0CCCF41}"/>
                  </a:ext>
                </a:extLst>
              </p:cNvPr>
              <p:cNvSpPr txBox="1"/>
              <p:nvPr/>
            </p:nvSpPr>
            <p:spPr>
              <a:xfrm>
                <a:off x="1210811" y="4411593"/>
                <a:ext cx="1133460" cy="64633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just"/>
                <a:r>
                  <a:rPr lang="pt-BR" sz="3600" b="1" dirty="0">
                    <a:solidFill>
                      <a:srgbClr val="4CBF88"/>
                    </a:solidFill>
                    <a:latin typeface="Lato" panose="020F0502020204030203" pitchFamily="34" charset="0"/>
                    <a:cs typeface="Segoe UI" panose="020B0502040204020203" pitchFamily="34" charset="0"/>
                  </a:rPr>
                  <a:t>03</a:t>
                </a:r>
              </a:p>
            </p:txBody>
          </p:sp>
        </p:grp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B1BEB4E-5360-848C-2EE9-525801FEE544}"/>
                </a:ext>
              </a:extLst>
            </p:cNvPr>
            <p:cNvSpPr txBox="1"/>
            <p:nvPr/>
          </p:nvSpPr>
          <p:spPr>
            <a:xfrm>
              <a:off x="906011" y="4171898"/>
              <a:ext cx="113346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/>
              <a:r>
                <a:rPr lang="pt-BR" sz="3600" b="1" dirty="0">
                  <a:solidFill>
                    <a:srgbClr val="4CBF88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04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DB68D4EB-D317-BFEB-F965-7E153F95F6D6}"/>
                </a:ext>
              </a:extLst>
            </p:cNvPr>
            <p:cNvSpPr txBox="1"/>
            <p:nvPr/>
          </p:nvSpPr>
          <p:spPr>
            <a:xfrm>
              <a:off x="1615144" y="4339473"/>
              <a:ext cx="8049687" cy="3231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 rtl="0">
                <a:spcBef>
                  <a:spcPts val="0"/>
                </a:spcBef>
                <a:spcAft>
                  <a:spcPts val="1600"/>
                </a:spcAft>
              </a:pPr>
              <a:r>
                <a:rPr lang="pt-BR" sz="1500" b="1" i="0" u="none" strike="noStrike" dirty="0">
                  <a:solidFill>
                    <a:srgbClr val="FFFFFF"/>
                  </a:solidFill>
                  <a:effectLst/>
                  <a:latin typeface="Lato" panose="020F0502020204030203" pitchFamily="34" charset="0"/>
                  <a:cs typeface="Segoe UI" panose="020B0502040204020203" pitchFamily="34" charset="0"/>
                </a:rPr>
                <a:t>Monitorar cedentes e sinais de deterioração;</a:t>
              </a:r>
              <a:endParaRPr lang="pt-BR" sz="1500" b="0" dirty="0">
                <a:effectLst/>
                <a:latin typeface="Lato" panose="020F050202020403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C33D9F8F-9C16-4E04-7C33-F816D57321C3}"/>
                </a:ext>
              </a:extLst>
            </p:cNvPr>
            <p:cNvSpPr txBox="1"/>
            <p:nvPr/>
          </p:nvSpPr>
          <p:spPr>
            <a:xfrm>
              <a:off x="1596539" y="4902085"/>
              <a:ext cx="8049687" cy="3231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 rtl="0">
                <a:spcBef>
                  <a:spcPts val="0"/>
                </a:spcBef>
                <a:spcAft>
                  <a:spcPts val="1600"/>
                </a:spcAft>
              </a:pPr>
              <a:r>
                <a:rPr lang="pt-BR" sz="1500" b="1" i="0" u="none" strike="noStrike" dirty="0">
                  <a:solidFill>
                    <a:srgbClr val="FFFFFF"/>
                  </a:solidFill>
                  <a:effectLst/>
                  <a:latin typeface="Lato" panose="020F0502020204030203" pitchFamily="34" charset="0"/>
                  <a:cs typeface="Segoe UI" panose="020B0502040204020203" pitchFamily="34" charset="0"/>
                </a:rPr>
                <a:t>Explicar a decisão do modelo com base nas variáveis mais relevantes.</a:t>
              </a:r>
              <a:endParaRPr lang="pt-BR" sz="1500" b="0" dirty="0">
                <a:effectLst/>
                <a:latin typeface="Lato" panose="020F050202020403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22B5C2FE-4450-1AAB-E20F-5905FE66BE69}"/>
                </a:ext>
              </a:extLst>
            </p:cNvPr>
            <p:cNvSpPr txBox="1"/>
            <p:nvPr/>
          </p:nvSpPr>
          <p:spPr>
            <a:xfrm>
              <a:off x="906011" y="4747174"/>
              <a:ext cx="113346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/>
              <a:r>
                <a:rPr lang="pt-BR" sz="3600" b="1" dirty="0">
                  <a:solidFill>
                    <a:srgbClr val="4CBF88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05</a:t>
              </a:r>
            </a:p>
          </p:txBody>
        </p:sp>
      </p:grpSp>
      <p:sp>
        <p:nvSpPr>
          <p:cNvPr id="15" name="Google Shape;283;p31">
            <a:extLst>
              <a:ext uri="{FF2B5EF4-FFF2-40B4-BE49-F238E27FC236}">
                <a16:creationId xmlns:a16="http://schemas.microsoft.com/office/drawing/2014/main" id="{B1451FD9-2928-C762-F47A-69C07A90E006}"/>
              </a:ext>
            </a:extLst>
          </p:cNvPr>
          <p:cNvSpPr txBox="1"/>
          <p:nvPr/>
        </p:nvSpPr>
        <p:spPr>
          <a:xfrm>
            <a:off x="764240" y="5209807"/>
            <a:ext cx="2027689" cy="56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Links do projeto:</a:t>
            </a: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6838B54D-FDAF-A101-6621-1CE79531A16E}"/>
              </a:ext>
            </a:extLst>
          </p:cNvPr>
          <p:cNvGrpSpPr/>
          <p:nvPr/>
        </p:nvGrpSpPr>
        <p:grpSpPr>
          <a:xfrm>
            <a:off x="1158196" y="5795421"/>
            <a:ext cx="8909440" cy="1813619"/>
            <a:chOff x="1158196" y="5795421"/>
            <a:chExt cx="8909440" cy="1813619"/>
          </a:xfrm>
        </p:grpSpPr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9F3B0057-642F-4B94-FE43-E305FB717F1A}"/>
                </a:ext>
              </a:extLst>
            </p:cNvPr>
            <p:cNvSpPr txBox="1"/>
            <p:nvPr/>
          </p:nvSpPr>
          <p:spPr>
            <a:xfrm>
              <a:off x="1158196" y="5847083"/>
              <a:ext cx="8909440" cy="1761957"/>
            </a:xfrm>
            <a:prstGeom prst="rect">
              <a:avLst/>
            </a:prstGeom>
            <a:noFill/>
          </p:spPr>
          <p:txBody>
            <a:bodyPr wrap="square" lIns="91440" tIns="45720" rIns="91440" bIns="45720" numCol="2" rtlCol="0" anchor="t">
              <a:spAutoFit/>
            </a:bodyPr>
            <a:lstStyle/>
            <a:p>
              <a:pPr marL="285750" indent="-285750" algn="just" rtl="0">
                <a:spcBef>
                  <a:spcPts val="0"/>
                </a:spcBef>
                <a:spcAft>
                  <a:spcPts val="1600"/>
                </a:spcAft>
                <a:buFont typeface="Arial" panose="020B0604020202020204" pitchFamily="34" charset="0"/>
                <a:buChar char="•"/>
              </a:pPr>
              <a:r>
                <a:rPr lang="pt-BR" sz="1500" i="0" u="none" strike="noStrike" dirty="0">
                  <a:solidFill>
                    <a:srgbClr val="FFFFFF"/>
                  </a:solidFill>
                  <a:effectLst/>
                  <a:latin typeface="Lato" panose="020F0502020204030203" pitchFamily="34" charset="0"/>
                  <a:cs typeface="Segoe UI" panose="020B0502040204020203" pitchFamily="34" charset="0"/>
                </a:rPr>
                <a:t>Link da aplicação funcionando: </a:t>
              </a:r>
            </a:p>
            <a:p>
              <a:pPr marL="285750" indent="-285750" algn="just" rtl="0">
                <a:lnSpc>
                  <a:spcPts val="1200"/>
                </a:lnSpc>
                <a:spcBef>
                  <a:spcPts val="0"/>
                </a:spcBef>
                <a:spcAft>
                  <a:spcPts val="1600"/>
                </a:spcAft>
                <a:buFont typeface="Arial" panose="020B0604020202020204" pitchFamily="34" charset="0"/>
                <a:buChar char="•"/>
              </a:pPr>
              <a:r>
                <a:rPr lang="pt-BR" sz="1500" i="0" u="none" strike="noStrike" dirty="0">
                  <a:solidFill>
                    <a:srgbClr val="FFFFFF"/>
                  </a:solidFill>
                  <a:effectLst/>
                  <a:latin typeface="Lato" panose="020F0502020204030203" pitchFamily="34" charset="0"/>
                  <a:cs typeface="Segoe UI" panose="020B0502040204020203" pitchFamily="34" charset="0"/>
                </a:rPr>
                <a:t>Link do repositório/código-fonte:</a:t>
              </a:r>
            </a:p>
            <a:p>
              <a:pPr marL="285750" indent="-285750" algn="just" rtl="0">
                <a:lnSpc>
                  <a:spcPts val="1200"/>
                </a:lnSpc>
                <a:spcBef>
                  <a:spcPts val="0"/>
                </a:spcBef>
                <a:spcAft>
                  <a:spcPts val="1600"/>
                </a:spcAft>
                <a:buFont typeface="Arial" panose="020B0604020202020204" pitchFamily="34" charset="0"/>
                <a:buChar char="•"/>
              </a:pPr>
              <a:endParaRPr lang="pt-BR" sz="1500" dirty="0">
                <a:solidFill>
                  <a:srgbClr val="FFFFFF"/>
                </a:solidFill>
                <a:latin typeface="Lato" panose="020F0502020204030203" pitchFamily="34" charset="0"/>
                <a:cs typeface="Segoe UI" panose="020B0502040204020203" pitchFamily="34" charset="0"/>
              </a:endParaRPr>
            </a:p>
            <a:p>
              <a:pPr marL="285750" indent="-285750" algn="just" rtl="0">
                <a:lnSpc>
                  <a:spcPts val="1200"/>
                </a:lnSpc>
                <a:spcBef>
                  <a:spcPts val="0"/>
                </a:spcBef>
                <a:spcAft>
                  <a:spcPts val="1600"/>
                </a:spcAft>
                <a:buFont typeface="Arial" panose="020B0604020202020204" pitchFamily="34" charset="0"/>
                <a:buChar char="•"/>
              </a:pPr>
              <a:endParaRPr lang="pt-BR" sz="15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endParaRPr>
            </a:p>
            <a:p>
              <a:pPr algn="just" rtl="0">
                <a:lnSpc>
                  <a:spcPts val="1200"/>
                </a:lnSpc>
                <a:spcBef>
                  <a:spcPts val="0"/>
                </a:spcBef>
                <a:spcAft>
                  <a:spcPts val="1600"/>
                </a:spcAft>
              </a:pPr>
              <a:endParaRPr lang="pt-BR" sz="15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endParaRPr>
            </a:p>
            <a:p>
              <a:pPr marL="285750" indent="-285750" algn="just">
                <a:lnSpc>
                  <a:spcPts val="1200"/>
                </a:lnSpc>
                <a:spcAft>
                  <a:spcPts val="1600"/>
                </a:spcAft>
                <a:buFont typeface="Arial" panose="020B0604020202020204" pitchFamily="34" charset="0"/>
                <a:buChar char="•"/>
              </a:pPr>
              <a:r>
                <a:rPr lang="pt-BR" sz="1500" dirty="0">
                  <a:solidFill>
                    <a:srgbClr val="FFFFFF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Link do </a:t>
              </a:r>
              <a:r>
                <a:rPr lang="pt-BR" sz="1500" dirty="0" err="1">
                  <a:solidFill>
                    <a:srgbClr val="FFFFFF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Video</a:t>
              </a:r>
              <a:r>
                <a:rPr lang="pt-BR" sz="1500" dirty="0">
                  <a:solidFill>
                    <a:srgbClr val="FFFFFF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 </a:t>
              </a:r>
              <a:r>
                <a:rPr lang="pt-BR" sz="1500" dirty="0" err="1">
                  <a:solidFill>
                    <a:srgbClr val="FFFFFF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Pitch</a:t>
              </a:r>
              <a:r>
                <a:rPr lang="pt-BR" sz="1500" dirty="0">
                  <a:solidFill>
                    <a:srgbClr val="FFFFFF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:  </a:t>
              </a:r>
            </a:p>
            <a:p>
              <a:pPr marL="285750" indent="-285750" algn="just" rtl="0">
                <a:lnSpc>
                  <a:spcPts val="1200"/>
                </a:lnSpc>
                <a:spcBef>
                  <a:spcPts val="0"/>
                </a:spcBef>
                <a:spcAft>
                  <a:spcPts val="1600"/>
                </a:spcAft>
                <a:buFont typeface="Arial" panose="020B0604020202020204" pitchFamily="34" charset="0"/>
                <a:buChar char="•"/>
              </a:pPr>
              <a:endParaRPr lang="pt-BR" sz="1500" i="0" u="none" strike="noStrike" dirty="0">
                <a:solidFill>
                  <a:srgbClr val="FFFFFF"/>
                </a:solidFill>
                <a:latin typeface="Lato" panose="020F0502020204030203" pitchFamily="34" charset="0"/>
                <a:cs typeface="Segoe UI" panose="020B0502040204020203" pitchFamily="34" charset="0"/>
              </a:endParaRPr>
            </a:p>
            <a:p>
              <a:pPr marL="285750" indent="-285750" algn="just" rtl="0">
                <a:lnSpc>
                  <a:spcPts val="1200"/>
                </a:lnSpc>
                <a:spcBef>
                  <a:spcPts val="0"/>
                </a:spcBef>
                <a:spcAft>
                  <a:spcPts val="1600"/>
                </a:spcAft>
                <a:buFont typeface="Arial" panose="020B0604020202020204" pitchFamily="34" charset="0"/>
                <a:buChar char="•"/>
              </a:pPr>
              <a:endParaRPr lang="pt-BR" sz="15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" name="Google Shape;306;p33">
              <a:extLst>
                <a:ext uri="{FF2B5EF4-FFF2-40B4-BE49-F238E27FC236}">
                  <a16:creationId xmlns:a16="http://schemas.microsoft.com/office/drawing/2014/main" id="{ED522959-A477-E544-2E21-5A0944EB1E47}"/>
                </a:ext>
              </a:extLst>
            </p:cNvPr>
            <p:cNvSpPr/>
            <p:nvPr/>
          </p:nvSpPr>
          <p:spPr>
            <a:xfrm>
              <a:off x="4208153" y="5819234"/>
              <a:ext cx="419382" cy="352854"/>
            </a:xfrm>
            <a:prstGeom prst="roundRect">
              <a:avLst>
                <a:gd name="adj" fmla="val 16667"/>
              </a:avLst>
            </a:prstGeom>
            <a:solidFill>
              <a:srgbClr val="4CBF88"/>
            </a:solidFill>
            <a:ln w="80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075" tIns="77075" rIns="77075" bIns="770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80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" name="Google Shape;295;p32" title="github-icon-1-logo-png-transparent.png">
              <a:hlinkClick r:id="rId3"/>
              <a:extLst>
                <a:ext uri="{FF2B5EF4-FFF2-40B4-BE49-F238E27FC236}">
                  <a16:creationId xmlns:a16="http://schemas.microsoft.com/office/drawing/2014/main" id="{27C5258E-9F59-281F-AA45-4F00CBB59212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t="29" b="19"/>
            <a:stretch/>
          </p:blipFill>
          <p:spPr>
            <a:xfrm>
              <a:off x="4262313" y="5847083"/>
              <a:ext cx="357312" cy="3231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306;p33">
              <a:extLst>
                <a:ext uri="{FF2B5EF4-FFF2-40B4-BE49-F238E27FC236}">
                  <a16:creationId xmlns:a16="http://schemas.microsoft.com/office/drawing/2014/main" id="{8555DB1B-212A-B8C0-9A50-8A8889135832}"/>
                </a:ext>
              </a:extLst>
            </p:cNvPr>
            <p:cNvSpPr/>
            <p:nvPr/>
          </p:nvSpPr>
          <p:spPr>
            <a:xfrm>
              <a:off x="4386809" y="6253354"/>
              <a:ext cx="419382" cy="352854"/>
            </a:xfrm>
            <a:prstGeom prst="roundRect">
              <a:avLst>
                <a:gd name="adj" fmla="val 16667"/>
              </a:avLst>
            </a:prstGeom>
            <a:solidFill>
              <a:srgbClr val="4CBF88"/>
            </a:solidFill>
            <a:ln w="80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075" tIns="77075" rIns="77075" bIns="770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80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295;p32" title="github-icon-1-logo-png-transparent.png">
              <a:hlinkClick r:id="rId5"/>
              <a:extLst>
                <a:ext uri="{FF2B5EF4-FFF2-40B4-BE49-F238E27FC236}">
                  <a16:creationId xmlns:a16="http://schemas.microsoft.com/office/drawing/2014/main" id="{319F2DD5-8D0F-0862-0F09-294627F5E57F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t="29" b="19"/>
            <a:stretch/>
          </p:blipFill>
          <p:spPr>
            <a:xfrm>
              <a:off x="4440969" y="6281203"/>
              <a:ext cx="357312" cy="3231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306;p33">
              <a:extLst>
                <a:ext uri="{FF2B5EF4-FFF2-40B4-BE49-F238E27FC236}">
                  <a16:creationId xmlns:a16="http://schemas.microsoft.com/office/drawing/2014/main" id="{E7B2EF85-FED7-7B14-9F53-E398946E02AB}"/>
                </a:ext>
              </a:extLst>
            </p:cNvPr>
            <p:cNvSpPr/>
            <p:nvPr/>
          </p:nvSpPr>
          <p:spPr>
            <a:xfrm>
              <a:off x="7646536" y="5795421"/>
              <a:ext cx="419382" cy="352854"/>
            </a:xfrm>
            <a:prstGeom prst="roundRect">
              <a:avLst>
                <a:gd name="adj" fmla="val 16667"/>
              </a:avLst>
            </a:prstGeom>
            <a:solidFill>
              <a:srgbClr val="4CBF88"/>
            </a:solidFill>
            <a:ln w="80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075" tIns="77075" rIns="77075" bIns="770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80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26" name="Picture 2" descr="Youtube png | PNGWing">
              <a:hlinkClick r:id="rId6"/>
              <a:extLst>
                <a:ext uri="{FF2B5EF4-FFF2-40B4-BE49-F238E27FC236}">
                  <a16:creationId xmlns:a16="http://schemas.microsoft.com/office/drawing/2014/main" id="{C7AD8F74-A2C8-048A-EF82-9595BA459C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/>
            <a:srcRect/>
            <a:stretch/>
          </p:blipFill>
          <p:spPr bwMode="auto">
            <a:xfrm>
              <a:off x="7685276" y="5806373"/>
              <a:ext cx="341902" cy="3419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27826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00C77-AD76-CB21-9EAD-22820EAFB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06;p33">
            <a:extLst>
              <a:ext uri="{FF2B5EF4-FFF2-40B4-BE49-F238E27FC236}">
                <a16:creationId xmlns:a16="http://schemas.microsoft.com/office/drawing/2014/main" id="{F47288CB-4354-53A8-9B88-735472665283}"/>
              </a:ext>
            </a:extLst>
          </p:cNvPr>
          <p:cNvSpPr/>
          <p:nvPr/>
        </p:nvSpPr>
        <p:spPr>
          <a:xfrm>
            <a:off x="10919436" y="304210"/>
            <a:ext cx="487591" cy="466406"/>
          </a:xfrm>
          <a:prstGeom prst="roundRect">
            <a:avLst>
              <a:gd name="adj" fmla="val 16667"/>
            </a:avLst>
          </a:prstGeom>
          <a:solidFill>
            <a:srgbClr val="4CBF88"/>
          </a:solidFill>
          <a:ln w="80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075" tIns="77075" rIns="77075" bIns="77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8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051EF5D-9E76-AB8F-FC5E-C0FDDF5D2A30}"/>
              </a:ext>
            </a:extLst>
          </p:cNvPr>
          <p:cNvSpPr txBox="1"/>
          <p:nvPr/>
        </p:nvSpPr>
        <p:spPr>
          <a:xfrm>
            <a:off x="2124053" y="229038"/>
            <a:ext cx="79438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PROTOTIPO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5A4B1B6-A7B8-018D-A435-741C028165CB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4" name="Google Shape;302;p33">
            <a:extLst>
              <a:ext uri="{FF2B5EF4-FFF2-40B4-BE49-F238E27FC236}">
                <a16:creationId xmlns:a16="http://schemas.microsoft.com/office/drawing/2014/main" id="{B3F1116B-1942-5C4D-402B-3B8323D91393}"/>
              </a:ext>
            </a:extLst>
          </p:cNvPr>
          <p:cNvSpPr txBox="1"/>
          <p:nvPr/>
        </p:nvSpPr>
        <p:spPr>
          <a:xfrm>
            <a:off x="387952" y="1656175"/>
            <a:ext cx="11139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 b="1" dirty="0">
                <a:solidFill>
                  <a:srgbClr val="4CBF88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dirty="0"/>
          </a:p>
        </p:txBody>
      </p:sp>
      <p:sp>
        <p:nvSpPr>
          <p:cNvPr id="5" name="Google Shape;303;p33">
            <a:extLst>
              <a:ext uri="{FF2B5EF4-FFF2-40B4-BE49-F238E27FC236}">
                <a16:creationId xmlns:a16="http://schemas.microsoft.com/office/drawing/2014/main" id="{3BCCE2CD-626A-0715-ABD2-7C51E7DB4CFA}"/>
              </a:ext>
            </a:extLst>
          </p:cNvPr>
          <p:cNvSpPr txBox="1"/>
          <p:nvPr/>
        </p:nvSpPr>
        <p:spPr>
          <a:xfrm>
            <a:off x="1585300" y="1811588"/>
            <a:ext cx="3752400" cy="309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1. Simulador de novos ativos</a:t>
            </a: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Este painel foca na simulação de novos ativos, trazendo a probabilidade de inadimplência, a decisão de elegibilidade e a faixa de risco em que se encontra, tudo isso com base no aprendizado de ativos anteriores, na situação atual da empresa, na região do cedente e sacado, no tipo de título e valor do título.</a:t>
            </a: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Para checar o Protótipo completo, clique no botão acima da imagem.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Google Shape;305;p33">
            <a:extLst>
              <a:ext uri="{FF2B5EF4-FFF2-40B4-BE49-F238E27FC236}">
                <a16:creationId xmlns:a16="http://schemas.microsoft.com/office/drawing/2014/main" id="{86F64C23-EE9C-6EA6-42AC-55CFB967E54E}"/>
              </a:ext>
            </a:extLst>
          </p:cNvPr>
          <p:cNvSpPr txBox="1"/>
          <p:nvPr/>
        </p:nvSpPr>
        <p:spPr>
          <a:xfrm>
            <a:off x="8905918" y="260434"/>
            <a:ext cx="1959429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Clique aqui para acessar o Protótipo: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" name="Google Shape;307;p33" title="github-icon-1-logo-png-transparent.png">
            <a:hlinkClick r:id="rId2"/>
            <a:extLst>
              <a:ext uri="{FF2B5EF4-FFF2-40B4-BE49-F238E27FC236}">
                <a16:creationId xmlns:a16="http://schemas.microsoft.com/office/drawing/2014/main" id="{F5A421AF-D009-3917-8609-9C4D3F3F0F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9" b="19"/>
          <a:stretch/>
        </p:blipFill>
        <p:spPr>
          <a:xfrm>
            <a:off x="10937512" y="332059"/>
            <a:ext cx="415426" cy="42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269ECE1-DF53-C569-DE83-39025DA4F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2312" y="1270373"/>
            <a:ext cx="6426125" cy="306718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C6D7036-0E0F-A820-70FC-4F9394CA25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2232" y="4357012"/>
            <a:ext cx="6284756" cy="177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576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06;p33">
            <a:extLst>
              <a:ext uri="{FF2B5EF4-FFF2-40B4-BE49-F238E27FC236}">
                <a16:creationId xmlns:a16="http://schemas.microsoft.com/office/drawing/2014/main" id="{F53072F0-669C-4A6E-96FE-B6ACF6A2CD77}"/>
              </a:ext>
            </a:extLst>
          </p:cNvPr>
          <p:cNvSpPr/>
          <p:nvPr/>
        </p:nvSpPr>
        <p:spPr>
          <a:xfrm>
            <a:off x="10675628" y="1089300"/>
            <a:ext cx="731400" cy="661800"/>
          </a:xfrm>
          <a:prstGeom prst="roundRect">
            <a:avLst>
              <a:gd name="adj" fmla="val 16667"/>
            </a:avLst>
          </a:prstGeom>
          <a:solidFill>
            <a:srgbClr val="4CBF88"/>
          </a:solidFill>
          <a:ln w="80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075" tIns="77075" rIns="77075" bIns="77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8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CAF1EC-549F-480F-A16B-6B48BBDEA8FA}"/>
              </a:ext>
            </a:extLst>
          </p:cNvPr>
          <p:cNvSpPr txBox="1"/>
          <p:nvPr/>
        </p:nvSpPr>
        <p:spPr>
          <a:xfrm>
            <a:off x="2124053" y="229038"/>
            <a:ext cx="79438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PROTOTIPO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D4FAB7-80E0-4CFF-A2CE-9F1F695E755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pic>
        <p:nvPicPr>
          <p:cNvPr id="4" name="Google Shape;292;p32">
            <a:extLst>
              <a:ext uri="{FF2B5EF4-FFF2-40B4-BE49-F238E27FC236}">
                <a16:creationId xmlns:a16="http://schemas.microsoft.com/office/drawing/2014/main" id="{9728516B-D0EB-4A97-8B41-3BE975B04DF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50300" y="1811579"/>
            <a:ext cx="6549502" cy="2873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95;p32" title="github-icon-1-logo-png-transparent.png">
            <a:hlinkClick r:id="rId3"/>
            <a:extLst>
              <a:ext uri="{FF2B5EF4-FFF2-40B4-BE49-F238E27FC236}">
                <a16:creationId xmlns:a16="http://schemas.microsoft.com/office/drawing/2014/main" id="{169DC885-DD75-4835-999C-E8A865B0436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29" b="19"/>
          <a:stretch/>
        </p:blipFill>
        <p:spPr>
          <a:xfrm>
            <a:off x="10729788" y="1117149"/>
            <a:ext cx="623150" cy="60611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91;p32">
            <a:extLst>
              <a:ext uri="{FF2B5EF4-FFF2-40B4-BE49-F238E27FC236}">
                <a16:creationId xmlns:a16="http://schemas.microsoft.com/office/drawing/2014/main" id="{876D4724-5F36-46CB-84C2-668CA19DD1E4}"/>
              </a:ext>
            </a:extLst>
          </p:cNvPr>
          <p:cNvSpPr txBox="1"/>
          <p:nvPr/>
        </p:nvSpPr>
        <p:spPr>
          <a:xfrm>
            <a:off x="1614452" y="1811588"/>
            <a:ext cx="3752400" cy="4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Visão Estratégica (Para Decisores):</a:t>
            </a: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Este painel foca no resultado financeiro. Ele mostra quanto dinheiro o fundo economizou ao evitar ativos ruins (</a:t>
            </a: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Prejuízo Evitado</a:t>
            </a: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 e como isso aumentou a rentabilidade geral (</a:t>
            </a: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Otimização de Retorno</a:t>
            </a: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Além disso, valida a tese de investimento através da "Bola de Cristal", um gráfico que correlaciona diretamente a queda de liquidez com o aumento do risco de calote, provando a eficácia do modelo preditivo.</a:t>
            </a: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Para checar o Protótipo completo, clique no botão acima da imagem.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Google Shape;290;p32">
            <a:extLst>
              <a:ext uri="{FF2B5EF4-FFF2-40B4-BE49-F238E27FC236}">
                <a16:creationId xmlns:a16="http://schemas.microsoft.com/office/drawing/2014/main" id="{C2D366A5-D7DE-45C6-A67F-B4A201DCAC0D}"/>
              </a:ext>
            </a:extLst>
          </p:cNvPr>
          <p:cNvSpPr txBox="1"/>
          <p:nvPr/>
        </p:nvSpPr>
        <p:spPr>
          <a:xfrm>
            <a:off x="387952" y="1694469"/>
            <a:ext cx="11139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 b="1" dirty="0">
                <a:solidFill>
                  <a:srgbClr val="4CBF88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 dirty="0"/>
          </a:p>
        </p:txBody>
      </p:sp>
      <p:sp>
        <p:nvSpPr>
          <p:cNvPr id="9" name="Google Shape;305;p33">
            <a:extLst>
              <a:ext uri="{FF2B5EF4-FFF2-40B4-BE49-F238E27FC236}">
                <a16:creationId xmlns:a16="http://schemas.microsoft.com/office/drawing/2014/main" id="{4B37C943-42DE-4F31-8BAB-0D25ECEBF034}"/>
              </a:ext>
            </a:extLst>
          </p:cNvPr>
          <p:cNvSpPr txBox="1"/>
          <p:nvPr/>
        </p:nvSpPr>
        <p:spPr>
          <a:xfrm>
            <a:off x="8755375" y="1198150"/>
            <a:ext cx="2080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Clique aqui para acessar o Protótipo: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847025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06;p33">
            <a:extLst>
              <a:ext uri="{FF2B5EF4-FFF2-40B4-BE49-F238E27FC236}">
                <a16:creationId xmlns:a16="http://schemas.microsoft.com/office/drawing/2014/main" id="{7B16B49D-84D1-4D31-BE4D-525F181580C5}"/>
              </a:ext>
            </a:extLst>
          </p:cNvPr>
          <p:cNvSpPr/>
          <p:nvPr/>
        </p:nvSpPr>
        <p:spPr>
          <a:xfrm>
            <a:off x="10675628" y="1089300"/>
            <a:ext cx="731400" cy="661800"/>
          </a:xfrm>
          <a:prstGeom prst="roundRect">
            <a:avLst>
              <a:gd name="adj" fmla="val 16667"/>
            </a:avLst>
          </a:prstGeom>
          <a:solidFill>
            <a:srgbClr val="4CBF88"/>
          </a:solidFill>
          <a:ln w="80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075" tIns="77075" rIns="77075" bIns="77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8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CAF1EC-549F-480F-A16B-6B48BBDEA8FA}"/>
              </a:ext>
            </a:extLst>
          </p:cNvPr>
          <p:cNvSpPr txBox="1"/>
          <p:nvPr/>
        </p:nvSpPr>
        <p:spPr>
          <a:xfrm>
            <a:off x="2124053" y="229038"/>
            <a:ext cx="79438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PROTOTIPO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D4FAB7-80E0-4CFF-A2CE-9F1F695E755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4" name="Google Shape;302;p33">
            <a:extLst>
              <a:ext uri="{FF2B5EF4-FFF2-40B4-BE49-F238E27FC236}">
                <a16:creationId xmlns:a16="http://schemas.microsoft.com/office/drawing/2014/main" id="{082A812E-3F0F-48AF-A5B6-F584A6331660}"/>
              </a:ext>
            </a:extLst>
          </p:cNvPr>
          <p:cNvSpPr txBox="1"/>
          <p:nvPr/>
        </p:nvSpPr>
        <p:spPr>
          <a:xfrm>
            <a:off x="387952" y="1656175"/>
            <a:ext cx="11139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 b="1" dirty="0">
                <a:solidFill>
                  <a:srgbClr val="4CBF88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 dirty="0"/>
          </a:p>
        </p:txBody>
      </p:sp>
      <p:sp>
        <p:nvSpPr>
          <p:cNvPr id="5" name="Google Shape;303;p33">
            <a:extLst>
              <a:ext uri="{FF2B5EF4-FFF2-40B4-BE49-F238E27FC236}">
                <a16:creationId xmlns:a16="http://schemas.microsoft.com/office/drawing/2014/main" id="{2D4EFE70-029C-4E81-A90C-9C7FBDC7040A}"/>
              </a:ext>
            </a:extLst>
          </p:cNvPr>
          <p:cNvSpPr txBox="1"/>
          <p:nvPr/>
        </p:nvSpPr>
        <p:spPr>
          <a:xfrm>
            <a:off x="1585300" y="1811588"/>
            <a:ext cx="37524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3. Visão Tática (Para Operação):</a:t>
            </a: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Este painel foca na ação preventiva diária. Identifica parceiros comerciais problemáticos através do </a:t>
            </a: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Radar de Seleção Adversa</a:t>
            </a: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(quem opera muito volume com alta inadimplência) e fornece uma lista de </a:t>
            </a: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Alertas Antecipados</a:t>
            </a: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permitindo que a equipe de crédito atue imediatamente sobre empresas que apresentaram deterioração súbita nos seus indicadores, antes mesmo do vencimento dos títulos.</a:t>
            </a: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Para checar o Protótipo completo, clique no botão acima da imagem.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" name="Google Shape;304;p33">
            <a:extLst>
              <a:ext uri="{FF2B5EF4-FFF2-40B4-BE49-F238E27FC236}">
                <a16:creationId xmlns:a16="http://schemas.microsoft.com/office/drawing/2014/main" id="{FCDB60C7-04D1-4BD5-B80E-6E027A43625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37700" y="1811591"/>
            <a:ext cx="6732375" cy="32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05;p33">
            <a:extLst>
              <a:ext uri="{FF2B5EF4-FFF2-40B4-BE49-F238E27FC236}">
                <a16:creationId xmlns:a16="http://schemas.microsoft.com/office/drawing/2014/main" id="{DE0B8A23-A942-4E84-86F1-6E5D7ED675E6}"/>
              </a:ext>
            </a:extLst>
          </p:cNvPr>
          <p:cNvSpPr txBox="1"/>
          <p:nvPr/>
        </p:nvSpPr>
        <p:spPr>
          <a:xfrm>
            <a:off x="8755375" y="1198150"/>
            <a:ext cx="2080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Clique aqui para acessar o Protótipo: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" name="Google Shape;307;p33" title="github-icon-1-logo-png-transparent.png">
            <a:hlinkClick r:id="rId3"/>
            <a:extLst>
              <a:ext uri="{FF2B5EF4-FFF2-40B4-BE49-F238E27FC236}">
                <a16:creationId xmlns:a16="http://schemas.microsoft.com/office/drawing/2014/main" id="{A84A1D74-B6E9-4C3E-9D92-1168D20A2FD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29" b="19"/>
          <a:stretch/>
        </p:blipFill>
        <p:spPr>
          <a:xfrm>
            <a:off x="10729788" y="1117149"/>
            <a:ext cx="623150" cy="6061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3154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A72DE-48B2-A123-B5D0-58B0F5A26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06;p33">
            <a:extLst>
              <a:ext uri="{FF2B5EF4-FFF2-40B4-BE49-F238E27FC236}">
                <a16:creationId xmlns:a16="http://schemas.microsoft.com/office/drawing/2014/main" id="{FD23F738-60A9-0896-B91C-5299D0B4D76B}"/>
              </a:ext>
            </a:extLst>
          </p:cNvPr>
          <p:cNvSpPr/>
          <p:nvPr/>
        </p:nvSpPr>
        <p:spPr>
          <a:xfrm>
            <a:off x="10675628" y="1089300"/>
            <a:ext cx="731400" cy="661800"/>
          </a:xfrm>
          <a:prstGeom prst="roundRect">
            <a:avLst>
              <a:gd name="adj" fmla="val 16667"/>
            </a:avLst>
          </a:prstGeom>
          <a:solidFill>
            <a:srgbClr val="4CBF88"/>
          </a:solidFill>
          <a:ln w="80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075" tIns="77075" rIns="77075" bIns="77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8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320CEF0-C425-C9D7-E78B-A575E61414F5}"/>
              </a:ext>
            </a:extLst>
          </p:cNvPr>
          <p:cNvSpPr txBox="1"/>
          <p:nvPr/>
        </p:nvSpPr>
        <p:spPr>
          <a:xfrm>
            <a:off x="2124053" y="229038"/>
            <a:ext cx="79438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PROTOTIPO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3939A7D-4643-436E-1A01-BCEB05590D58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4" name="Google Shape;302;p33">
            <a:extLst>
              <a:ext uri="{FF2B5EF4-FFF2-40B4-BE49-F238E27FC236}">
                <a16:creationId xmlns:a16="http://schemas.microsoft.com/office/drawing/2014/main" id="{A5BE8A31-DB7B-8AB3-B089-FFDC766B0B8A}"/>
              </a:ext>
            </a:extLst>
          </p:cNvPr>
          <p:cNvSpPr txBox="1"/>
          <p:nvPr/>
        </p:nvSpPr>
        <p:spPr>
          <a:xfrm>
            <a:off x="387952" y="1656175"/>
            <a:ext cx="11139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 b="1" dirty="0">
                <a:solidFill>
                  <a:srgbClr val="4CBF88"/>
                </a:solidFill>
                <a:latin typeface="Lato"/>
                <a:ea typeface="Lato"/>
                <a:cs typeface="Lato"/>
                <a:sym typeface="Lato"/>
              </a:rPr>
              <a:t>04</a:t>
            </a:r>
            <a:endParaRPr dirty="0"/>
          </a:p>
        </p:txBody>
      </p:sp>
      <p:sp>
        <p:nvSpPr>
          <p:cNvPr id="5" name="Google Shape;303;p33">
            <a:extLst>
              <a:ext uri="{FF2B5EF4-FFF2-40B4-BE49-F238E27FC236}">
                <a16:creationId xmlns:a16="http://schemas.microsoft.com/office/drawing/2014/main" id="{E1B12808-AA30-ACC3-0440-8CB594DD7726}"/>
              </a:ext>
            </a:extLst>
          </p:cNvPr>
          <p:cNvSpPr txBox="1"/>
          <p:nvPr/>
        </p:nvSpPr>
        <p:spPr>
          <a:xfrm>
            <a:off x="1585300" y="1811588"/>
            <a:ext cx="3752400" cy="4016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4. Visão Analítica:</a:t>
            </a: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pt-BR" sz="15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Este painel aprofunda a leitura do modelo, mostrando as variáveis que mais pesam na decisão, a curva cumulativa de atrasos e a comparação entre o modelo interno e o modelo enriquecido.</a:t>
            </a:r>
          </a:p>
          <a:p>
            <a:r>
              <a:rPr lang="pt-BR" sz="15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Também concentra a inteligência dos cedentes, destacando volume, ticket médio, taxa de risco e alertas de parceiros com pior histórico. Com isso, a equipe ganha uma visão clara para calibrar regras, justificar decisões e evoluir continuamente a estratégia de crédito.</a:t>
            </a: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Para checar o Protótipo completo, clique no botão acima da imagem.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Google Shape;305;p33">
            <a:extLst>
              <a:ext uri="{FF2B5EF4-FFF2-40B4-BE49-F238E27FC236}">
                <a16:creationId xmlns:a16="http://schemas.microsoft.com/office/drawing/2014/main" id="{4C827743-14E4-1527-BF5D-351BA4570131}"/>
              </a:ext>
            </a:extLst>
          </p:cNvPr>
          <p:cNvSpPr txBox="1"/>
          <p:nvPr/>
        </p:nvSpPr>
        <p:spPr>
          <a:xfrm>
            <a:off x="8755375" y="1198150"/>
            <a:ext cx="2080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Clique aqui para acessar o Protótipo: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" name="Google Shape;307;p33" title="github-icon-1-logo-png-transparent.png">
            <a:hlinkClick r:id="rId2"/>
            <a:extLst>
              <a:ext uri="{FF2B5EF4-FFF2-40B4-BE49-F238E27FC236}">
                <a16:creationId xmlns:a16="http://schemas.microsoft.com/office/drawing/2014/main" id="{3F0C56E1-112C-EC9F-FA31-383C948ABA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9" b="19"/>
          <a:stretch/>
        </p:blipFill>
        <p:spPr>
          <a:xfrm>
            <a:off x="10729788" y="1117149"/>
            <a:ext cx="623150" cy="606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12359B7-5A93-AE43-CEE6-D75EEF6C7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652" y="2125675"/>
            <a:ext cx="6709446" cy="331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728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CAF1EC-549F-480F-A16B-6B48BBDEA8FA}"/>
              </a:ext>
            </a:extLst>
          </p:cNvPr>
          <p:cNvSpPr txBox="1"/>
          <p:nvPr/>
        </p:nvSpPr>
        <p:spPr>
          <a:xfrm>
            <a:off x="2124053" y="133449"/>
            <a:ext cx="79438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RESULTADOS OBTIDOS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D4FAB7-80E0-4CFF-A2CE-9F1F695E755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B4CF9E6-ADAF-4729-8F7E-5981EDCA5098}"/>
              </a:ext>
            </a:extLst>
          </p:cNvPr>
          <p:cNvSpPr txBox="1"/>
          <p:nvPr/>
        </p:nvSpPr>
        <p:spPr>
          <a:xfrm>
            <a:off x="701962" y="921412"/>
            <a:ext cx="11092873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O PRISMA apresentou desempenho consistente como motor preditivo de risco estrutural.</a:t>
            </a:r>
          </a:p>
          <a:p>
            <a:pPr algn="just"/>
            <a:endParaRPr lang="pt-BR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pPr algn="just"/>
            <a:r>
              <a:rPr lang="pt-BR" sz="1400" b="1" dirty="0">
                <a:solidFill>
                  <a:schemeClr val="bg1"/>
                </a:solidFill>
                <a:latin typeface="Lato" panose="020F0502020204030203" pitchFamily="34" charset="0"/>
              </a:rPr>
              <a:t>Comparativo  de evolução do modelo</a:t>
            </a:r>
          </a:p>
          <a:p>
            <a:pPr algn="just"/>
            <a:endParaRPr lang="pt-BR" b="1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pPr algn="just"/>
            <a:endParaRPr lang="pt-BR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pPr algn="just"/>
            <a:endParaRPr lang="pt-BR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pPr algn="just"/>
            <a:endParaRPr lang="pt-BR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pPr algn="just"/>
            <a:endParaRPr lang="pt-BR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pPr algn="just"/>
            <a:endParaRPr lang="pt-BR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pPr algn="just"/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Além da performance estatística, a solução também passou a entregar leitura operacional e executiva da carteira, com:</a:t>
            </a:r>
          </a:p>
          <a:p>
            <a:pPr algn="just"/>
            <a:endParaRPr lang="pt-BR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4EDAFFD-1F2B-7811-3F69-CF208F59FF92}"/>
              </a:ext>
            </a:extLst>
          </p:cNvPr>
          <p:cNvSpPr txBox="1"/>
          <p:nvPr/>
        </p:nvSpPr>
        <p:spPr>
          <a:xfrm>
            <a:off x="794326" y="3814801"/>
            <a:ext cx="113346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36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01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E21671A-E9DC-4F00-3E12-F0834C9EB50D}"/>
              </a:ext>
            </a:extLst>
          </p:cNvPr>
          <p:cNvSpPr txBox="1"/>
          <p:nvPr/>
        </p:nvSpPr>
        <p:spPr>
          <a:xfrm>
            <a:off x="794326" y="4403781"/>
            <a:ext cx="113346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36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02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B48E73C-9C4F-C3F7-553F-B0210857888F}"/>
              </a:ext>
            </a:extLst>
          </p:cNvPr>
          <p:cNvSpPr txBox="1"/>
          <p:nvPr/>
        </p:nvSpPr>
        <p:spPr>
          <a:xfrm>
            <a:off x="794326" y="4979057"/>
            <a:ext cx="113346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36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03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97CFFCE-6C2E-4732-FA82-11B84B7B0B05}"/>
              </a:ext>
            </a:extLst>
          </p:cNvPr>
          <p:cNvSpPr txBox="1"/>
          <p:nvPr/>
        </p:nvSpPr>
        <p:spPr>
          <a:xfrm>
            <a:off x="794326" y="5568037"/>
            <a:ext cx="113346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36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04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2A72E60-5466-F548-05EE-9EA12B425FDA}"/>
              </a:ext>
            </a:extLst>
          </p:cNvPr>
          <p:cNvSpPr txBox="1"/>
          <p:nvPr/>
        </p:nvSpPr>
        <p:spPr>
          <a:xfrm>
            <a:off x="794326" y="6143313"/>
            <a:ext cx="113346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36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05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DE32521-5924-B058-9296-958DB13E32C7}"/>
              </a:ext>
            </a:extLst>
          </p:cNvPr>
          <p:cNvSpPr txBox="1"/>
          <p:nvPr/>
        </p:nvSpPr>
        <p:spPr>
          <a:xfrm>
            <a:off x="1450109" y="39533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Volume aprovado versus volume negado;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148B2A9-09FC-F3F7-022C-4CE2F6B9C0FD}"/>
              </a:ext>
            </a:extLst>
          </p:cNvPr>
          <p:cNvSpPr txBox="1"/>
          <p:nvPr/>
        </p:nvSpPr>
        <p:spPr>
          <a:xfrm>
            <a:off x="1450109" y="45464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Monitoramento de cedentes em alerta;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7058A53-DD5A-57DB-F56C-82841592795B}"/>
              </a:ext>
            </a:extLst>
          </p:cNvPr>
          <p:cNvSpPr txBox="1"/>
          <p:nvPr/>
        </p:nvSpPr>
        <p:spPr>
          <a:xfrm>
            <a:off x="1450109" y="51175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Curva cumulativa de atrasos;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6DC898A-16C1-BD35-06FA-430E4EC4F044}"/>
              </a:ext>
            </a:extLst>
          </p:cNvPr>
          <p:cNvSpPr txBox="1"/>
          <p:nvPr/>
        </p:nvSpPr>
        <p:spPr>
          <a:xfrm>
            <a:off x="1450109" y="570976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Comparação entre baseline interno e modelo enriquecido;</a:t>
            </a:r>
            <a:endParaRPr lang="pt-BR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54ED6301-BD84-C325-6BAA-2FC3D502B0CA}"/>
              </a:ext>
            </a:extLst>
          </p:cNvPr>
          <p:cNvSpPr txBox="1"/>
          <p:nvPr/>
        </p:nvSpPr>
        <p:spPr>
          <a:xfrm>
            <a:off x="1450109" y="62785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Cenários simulados para validação da resposta do motor.</a:t>
            </a:r>
            <a:endParaRPr lang="pt-BR" dirty="0"/>
          </a:p>
        </p:txBody>
      </p:sp>
      <p:graphicFrame>
        <p:nvGraphicFramePr>
          <p:cNvPr id="26" name="Tabela 25">
            <a:extLst>
              <a:ext uri="{FF2B5EF4-FFF2-40B4-BE49-F238E27FC236}">
                <a16:creationId xmlns:a16="http://schemas.microsoft.com/office/drawing/2014/main" id="{D6C45A88-431C-F9E8-CCE6-2A7B5CC845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880628"/>
              </p:ext>
            </p:extLst>
          </p:nvPr>
        </p:nvGraphicFramePr>
        <p:xfrm>
          <a:off x="794326" y="1798848"/>
          <a:ext cx="5985162" cy="1478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80353">
                  <a:extLst>
                    <a:ext uri="{9D8B030D-6E8A-4147-A177-3AD203B41FA5}">
                      <a16:colId xmlns:a16="http://schemas.microsoft.com/office/drawing/2014/main" val="2949402299"/>
                    </a:ext>
                  </a:extLst>
                </a:gridCol>
                <a:gridCol w="1699790">
                  <a:extLst>
                    <a:ext uri="{9D8B030D-6E8A-4147-A177-3AD203B41FA5}">
                      <a16:colId xmlns:a16="http://schemas.microsoft.com/office/drawing/2014/main" val="3912343250"/>
                    </a:ext>
                  </a:extLst>
                </a:gridCol>
                <a:gridCol w="3205019">
                  <a:extLst>
                    <a:ext uri="{9D8B030D-6E8A-4147-A177-3AD203B41FA5}">
                      <a16:colId xmlns:a16="http://schemas.microsoft.com/office/drawing/2014/main" val="1879696133"/>
                    </a:ext>
                  </a:extLst>
                </a:gridCol>
              </a:tblGrid>
              <a:tr h="127462">
                <a:tc>
                  <a:txBody>
                    <a:bodyPr/>
                    <a:lstStyle/>
                    <a:p>
                      <a:r>
                        <a:rPr lang="pt-BR" dirty="0"/>
                        <a:t> </a:t>
                      </a:r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Métrica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Modelo Interno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Modelo Enriquecido (Atual)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530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Accuracy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94,15%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96,44%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197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ROC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0,9553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0,9697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992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PR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0,7959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0,8291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800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3879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AA059-184C-50E5-A129-C84A5B4B8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672DF603-C180-A467-2DA5-E99DC52F778C}"/>
              </a:ext>
            </a:extLst>
          </p:cNvPr>
          <p:cNvSpPr txBox="1"/>
          <p:nvPr/>
        </p:nvSpPr>
        <p:spPr>
          <a:xfrm>
            <a:off x="2124053" y="229038"/>
            <a:ext cx="79438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BENEFÍCIOS GERADOS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F469B7F-E5DB-E9BD-9E1C-FAE8792A8152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16BB9F-2D79-A27D-F3AE-447824903E24}"/>
              </a:ext>
            </a:extLst>
          </p:cNvPr>
          <p:cNvSpPr txBox="1"/>
          <p:nvPr/>
        </p:nvSpPr>
        <p:spPr>
          <a:xfrm>
            <a:off x="1481859" y="1368593"/>
            <a:ext cx="102298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O PRISMA gera benefícios em três frentes complementares.</a:t>
            </a:r>
          </a:p>
          <a:p>
            <a:pPr algn="just"/>
            <a:endParaRPr lang="pt-BR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pPr algn="just"/>
            <a:r>
              <a:rPr lang="pt-BR" b="1" dirty="0">
                <a:solidFill>
                  <a:schemeClr val="bg1"/>
                </a:solidFill>
                <a:latin typeface="Lato" panose="020F0502020204030203" pitchFamily="34" charset="0"/>
              </a:rPr>
              <a:t>Financeiro</a:t>
            </a:r>
          </a:p>
          <a:p>
            <a:pPr algn="just"/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Reduz perdas esperadas, melhora a qualidade da carteira e aumenta a eficiência da alocação de capital por meio da rejeição antecipada de ativos mais arriscados.</a:t>
            </a:r>
          </a:p>
          <a:p>
            <a:pPr algn="just"/>
            <a:endParaRPr lang="pt-BR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pPr algn="just"/>
            <a:r>
              <a:rPr lang="pt-BR" b="1" dirty="0">
                <a:solidFill>
                  <a:schemeClr val="bg1"/>
                </a:solidFill>
                <a:latin typeface="Lato" panose="020F0502020204030203" pitchFamily="34" charset="0"/>
              </a:rPr>
              <a:t>Operacional</a:t>
            </a:r>
          </a:p>
          <a:p>
            <a:pPr algn="just"/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Acelera a análise de novos ativos, reduz dependência de processos manuais e fortalece o monitoramento contínuo da carteira com alertas e segmentações mais inteligentes.</a:t>
            </a:r>
          </a:p>
          <a:p>
            <a:pPr algn="just"/>
            <a:endParaRPr lang="pt-BR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pPr algn="just"/>
            <a:r>
              <a:rPr lang="pt-BR" b="1" dirty="0">
                <a:solidFill>
                  <a:schemeClr val="bg1"/>
                </a:solidFill>
                <a:latin typeface="Lato" panose="020F0502020204030203" pitchFamily="34" charset="0"/>
              </a:rPr>
              <a:t>Governança e conformidade</a:t>
            </a:r>
          </a:p>
          <a:p>
            <a:pPr algn="just"/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Amplia a rastreabilidade da decisão, melhora a explicabilidade do processo de crédito e apoia a </a:t>
            </a:r>
            <a:r>
              <a:rPr lang="pt-BR" dirty="0" err="1">
                <a:solidFill>
                  <a:schemeClr val="bg1"/>
                </a:solidFill>
                <a:latin typeface="Lato" panose="020F0502020204030203" pitchFamily="34" charset="0"/>
              </a:rPr>
              <a:t>due</a:t>
            </a:r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Lato" panose="020F0502020204030203" pitchFamily="34" charset="0"/>
              </a:rPr>
              <a:t>diligence</a:t>
            </a:r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 com uma base mais robusta de evidências analíticas.</a:t>
            </a:r>
          </a:p>
          <a:p>
            <a:pPr algn="just"/>
            <a:endParaRPr lang="pt-BR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pPr algn="just"/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Em síntese, o PRISMA reduz assimetria informacional e transforma ciência de dados em ação prática para o mercado de crédito estruturado.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4707F15-029F-9FF3-40B2-C54424801371}"/>
              </a:ext>
            </a:extLst>
          </p:cNvPr>
          <p:cNvSpPr txBox="1"/>
          <p:nvPr/>
        </p:nvSpPr>
        <p:spPr>
          <a:xfrm>
            <a:off x="848454" y="2113417"/>
            <a:ext cx="113346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36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2D8A10-82FC-E917-C608-95F5AE3B9CA2}"/>
              </a:ext>
            </a:extLst>
          </p:cNvPr>
          <p:cNvSpPr txBox="1"/>
          <p:nvPr/>
        </p:nvSpPr>
        <p:spPr>
          <a:xfrm>
            <a:off x="848454" y="3183467"/>
            <a:ext cx="113346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36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02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B1F541C-691B-85B8-7A30-6BF3A279B84B}"/>
              </a:ext>
            </a:extLst>
          </p:cNvPr>
          <p:cNvSpPr txBox="1"/>
          <p:nvPr/>
        </p:nvSpPr>
        <p:spPr>
          <a:xfrm>
            <a:off x="848454" y="4253517"/>
            <a:ext cx="113346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36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328372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68151-06AF-1ECF-40F5-08965F305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3450BFCF-0EF9-7012-8981-1F6C844037A1}"/>
              </a:ext>
            </a:extLst>
          </p:cNvPr>
          <p:cNvSpPr txBox="1"/>
          <p:nvPr/>
        </p:nvSpPr>
        <p:spPr>
          <a:xfrm>
            <a:off x="2124053" y="229038"/>
            <a:ext cx="79438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PRÓXIMOS PASSOS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FFD1A9A-BC32-59D8-CCBD-54EDBE429C0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94AF80F-91CD-7DF3-0E28-9B7E1D370DE8}"/>
              </a:ext>
            </a:extLst>
          </p:cNvPr>
          <p:cNvSpPr txBox="1"/>
          <p:nvPr/>
        </p:nvSpPr>
        <p:spPr>
          <a:xfrm>
            <a:off x="981075" y="5158934"/>
            <a:ext cx="10229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Mais do que um score, o PRISMA entrega inteligência acionável para proteger capital, reduzir assimetria de informação e qualificar decisões no mercado de crédito.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A984FC86-93CB-0298-62C1-008AB4B0F621}"/>
              </a:ext>
            </a:extLst>
          </p:cNvPr>
          <p:cNvGrpSpPr/>
          <p:nvPr/>
        </p:nvGrpSpPr>
        <p:grpSpPr>
          <a:xfrm>
            <a:off x="1309126" y="1763804"/>
            <a:ext cx="8758820" cy="2974843"/>
            <a:chOff x="906011" y="2418662"/>
            <a:chExt cx="8758820" cy="2974843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D30AB6A2-990A-E295-AC24-CB0C618F35FD}"/>
                </a:ext>
              </a:extLst>
            </p:cNvPr>
            <p:cNvGrpSpPr/>
            <p:nvPr/>
          </p:nvGrpSpPr>
          <p:grpSpPr>
            <a:xfrm>
              <a:off x="906011" y="2418662"/>
              <a:ext cx="8758820" cy="1810587"/>
              <a:chOff x="1210811" y="3247337"/>
              <a:chExt cx="8758820" cy="1810587"/>
            </a:xfrm>
          </p:grpSpPr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F3D6268F-D6D3-5425-BBE6-3CE4E64271A4}"/>
                  </a:ext>
                </a:extLst>
              </p:cNvPr>
              <p:cNvSpPr txBox="1"/>
              <p:nvPr/>
            </p:nvSpPr>
            <p:spPr>
              <a:xfrm>
                <a:off x="1210811" y="3247337"/>
                <a:ext cx="1133460" cy="64633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just"/>
                <a:r>
                  <a:rPr lang="pt-BR" sz="3600" b="1" dirty="0">
                    <a:solidFill>
                      <a:srgbClr val="4CBF88"/>
                    </a:solidFill>
                    <a:latin typeface="Lato" panose="020F0502020204030203" pitchFamily="34" charset="0"/>
                    <a:cs typeface="Segoe UI" panose="020B0502040204020203" pitchFamily="34" charset="0"/>
                  </a:rPr>
                  <a:t>01</a:t>
                </a:r>
              </a:p>
            </p:txBody>
          </p:sp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0D35F447-6891-A21C-9CB7-02CAE85551DE}"/>
                  </a:ext>
                </a:extLst>
              </p:cNvPr>
              <p:cNvSpPr txBox="1"/>
              <p:nvPr/>
            </p:nvSpPr>
            <p:spPr>
              <a:xfrm>
                <a:off x="1919944" y="3414912"/>
                <a:ext cx="8049687" cy="3231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just" rtl="0">
                  <a:spcBef>
                    <a:spcPts val="0"/>
                  </a:spcBef>
                  <a:spcAft>
                    <a:spcPts val="1600"/>
                  </a:spcAft>
                </a:pPr>
                <a:r>
                  <a:rPr lang="pt-BR" sz="1500" b="1" dirty="0">
                    <a:solidFill>
                      <a:srgbClr val="FFFFFF"/>
                    </a:solidFill>
                    <a:latin typeface="Lato" panose="020F0502020204030203" pitchFamily="34" charset="0"/>
                    <a:cs typeface="Segoe UI" panose="020B0502040204020203" pitchFamily="34" charset="0"/>
                  </a:rPr>
                  <a:t>I</a:t>
                </a:r>
                <a:r>
                  <a:rPr lang="pt-BR" sz="1500" b="1" i="0" u="none" strike="noStrike" dirty="0">
                    <a:solidFill>
                      <a:srgbClr val="FFFFFF"/>
                    </a:solidFill>
                    <a:effectLst/>
                    <a:latin typeface="Lato" panose="020F0502020204030203" pitchFamily="34" charset="0"/>
                    <a:cs typeface="Segoe UI" panose="020B0502040204020203" pitchFamily="34" charset="0"/>
                  </a:rPr>
                  <a:t>ntegração com </a:t>
                </a:r>
                <a:r>
                  <a:rPr lang="pt-BR" sz="1500" b="1" i="0" u="none" strike="noStrike" dirty="0" err="1">
                    <a:solidFill>
                      <a:srgbClr val="FFFFFF"/>
                    </a:solidFill>
                    <a:effectLst/>
                    <a:latin typeface="Lato" panose="020F0502020204030203" pitchFamily="34" charset="0"/>
                    <a:cs typeface="Segoe UI" panose="020B0502040204020203" pitchFamily="34" charset="0"/>
                  </a:rPr>
                  <a:t>bureaus</a:t>
                </a:r>
                <a:r>
                  <a:rPr lang="pt-BR" sz="1500" b="1" i="0" u="none" strike="noStrike" dirty="0">
                    <a:solidFill>
                      <a:srgbClr val="FFFFFF"/>
                    </a:solidFill>
                    <a:effectLst/>
                    <a:latin typeface="Lato" panose="020F0502020204030203" pitchFamily="34" charset="0"/>
                    <a:cs typeface="Segoe UI" panose="020B0502040204020203" pitchFamily="34" charset="0"/>
                  </a:rPr>
                  <a:t> reais de crédito;</a:t>
                </a:r>
              </a:p>
            </p:txBody>
          </p:sp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68B8C335-1EB8-013D-76CB-E5B104F3AF24}"/>
                  </a:ext>
                </a:extLst>
              </p:cNvPr>
              <p:cNvSpPr txBox="1"/>
              <p:nvPr/>
            </p:nvSpPr>
            <p:spPr>
              <a:xfrm>
                <a:off x="1901339" y="3991228"/>
                <a:ext cx="8049687" cy="3231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just" rtl="0">
                  <a:spcBef>
                    <a:spcPts val="0"/>
                  </a:spcBef>
                  <a:spcAft>
                    <a:spcPts val="1600"/>
                  </a:spcAft>
                </a:pPr>
                <a:r>
                  <a:rPr lang="pt-BR" sz="1500" b="1" dirty="0">
                    <a:solidFill>
                      <a:srgbClr val="FFFFFF"/>
                    </a:solidFill>
                    <a:latin typeface="Lato" panose="020F0502020204030203" pitchFamily="34" charset="0"/>
                    <a:cs typeface="Segoe UI" panose="020B0502040204020203" pitchFamily="34" charset="0"/>
                  </a:rPr>
                  <a:t>A</a:t>
                </a:r>
                <a:r>
                  <a:rPr lang="pt-BR" sz="1500" b="1" i="0" u="none" strike="noStrike" dirty="0">
                    <a:solidFill>
                      <a:srgbClr val="FFFFFF"/>
                    </a:solidFill>
                    <a:effectLst/>
                    <a:latin typeface="Lato" panose="020F0502020204030203" pitchFamily="34" charset="0"/>
                    <a:cs typeface="Segoe UI" panose="020B0502040204020203" pitchFamily="34" charset="0"/>
                  </a:rPr>
                  <a:t>mpliação das fontes externas;</a:t>
                </a:r>
              </a:p>
            </p:txBody>
          </p: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B4840C88-45B2-152C-2E84-E6002ED877B9}"/>
                  </a:ext>
                </a:extLst>
              </p:cNvPr>
              <p:cNvSpPr txBox="1"/>
              <p:nvPr/>
            </p:nvSpPr>
            <p:spPr>
              <a:xfrm>
                <a:off x="1910615" y="4573956"/>
                <a:ext cx="8031133" cy="3231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just" rtl="0">
                  <a:spcBef>
                    <a:spcPts val="0"/>
                  </a:spcBef>
                  <a:spcAft>
                    <a:spcPts val="1600"/>
                  </a:spcAft>
                </a:pPr>
                <a:r>
                  <a:rPr lang="pt-BR" sz="1500" b="1" dirty="0">
                    <a:solidFill>
                      <a:srgbClr val="FFFFFF"/>
                    </a:solidFill>
                    <a:latin typeface="Lato" panose="020F0502020204030203" pitchFamily="34" charset="0"/>
                    <a:cs typeface="Segoe UI" panose="020B0502040204020203" pitchFamily="34" charset="0"/>
                  </a:rPr>
                  <a:t>I</a:t>
                </a:r>
                <a:r>
                  <a:rPr lang="pt-BR" sz="1500" b="1" i="0" u="none" strike="noStrike" dirty="0">
                    <a:solidFill>
                      <a:srgbClr val="FFFFFF"/>
                    </a:solidFill>
                    <a:effectLst/>
                    <a:latin typeface="Lato" panose="020F0502020204030203" pitchFamily="34" charset="0"/>
                    <a:cs typeface="Segoe UI" panose="020B0502040204020203" pitchFamily="34" charset="0"/>
                  </a:rPr>
                  <a:t>ngestão contínua em produção;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F45D51C2-0390-82FE-5064-D068A1F15ED3}"/>
                  </a:ext>
                </a:extLst>
              </p:cNvPr>
              <p:cNvSpPr txBox="1"/>
              <p:nvPr/>
            </p:nvSpPr>
            <p:spPr>
              <a:xfrm>
                <a:off x="1210811" y="3836317"/>
                <a:ext cx="1133460" cy="64633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just"/>
                <a:r>
                  <a:rPr lang="pt-BR" sz="3600" b="1" dirty="0">
                    <a:solidFill>
                      <a:srgbClr val="4CBF88"/>
                    </a:solidFill>
                    <a:latin typeface="Lato" panose="020F0502020204030203" pitchFamily="34" charset="0"/>
                    <a:cs typeface="Segoe UI" panose="020B0502040204020203" pitchFamily="34" charset="0"/>
                  </a:rPr>
                  <a:t>02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23E40E3-3BFA-333B-F93A-8F7A9CBAFF38}"/>
                  </a:ext>
                </a:extLst>
              </p:cNvPr>
              <p:cNvSpPr txBox="1"/>
              <p:nvPr/>
            </p:nvSpPr>
            <p:spPr>
              <a:xfrm>
                <a:off x="1210811" y="4411593"/>
                <a:ext cx="1133460" cy="64633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just"/>
                <a:r>
                  <a:rPr lang="pt-BR" sz="3600" b="1" dirty="0">
                    <a:solidFill>
                      <a:srgbClr val="4CBF88"/>
                    </a:solidFill>
                    <a:latin typeface="Lato" panose="020F0502020204030203" pitchFamily="34" charset="0"/>
                    <a:cs typeface="Segoe UI" panose="020B0502040204020203" pitchFamily="34" charset="0"/>
                  </a:rPr>
                  <a:t>03</a:t>
                </a:r>
              </a:p>
            </p:txBody>
          </p:sp>
        </p:grp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67433621-46AF-F0A1-DB70-53F6D8FFE22D}"/>
                </a:ext>
              </a:extLst>
            </p:cNvPr>
            <p:cNvSpPr txBox="1"/>
            <p:nvPr/>
          </p:nvSpPr>
          <p:spPr>
            <a:xfrm>
              <a:off x="906011" y="4171898"/>
              <a:ext cx="113346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/>
              <a:r>
                <a:rPr lang="pt-BR" sz="3600" b="1" dirty="0">
                  <a:solidFill>
                    <a:srgbClr val="4CBF88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04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A3274D12-64CF-E325-6EE7-B42F9C177DB8}"/>
                </a:ext>
              </a:extLst>
            </p:cNvPr>
            <p:cNvSpPr txBox="1"/>
            <p:nvPr/>
          </p:nvSpPr>
          <p:spPr>
            <a:xfrm>
              <a:off x="1615144" y="4339473"/>
              <a:ext cx="8049687" cy="3231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 rtl="0">
                <a:spcBef>
                  <a:spcPts val="0"/>
                </a:spcBef>
                <a:spcAft>
                  <a:spcPts val="1600"/>
                </a:spcAft>
              </a:pPr>
              <a:r>
                <a:rPr lang="pt-BR" sz="1500" b="1" dirty="0">
                  <a:solidFill>
                    <a:srgbClr val="FFFFFF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M</a:t>
              </a:r>
              <a:r>
                <a:rPr lang="pt-BR" sz="1500" b="1" i="0" u="none" strike="noStrike" dirty="0">
                  <a:solidFill>
                    <a:srgbClr val="FFFFFF"/>
                  </a:solidFill>
                  <a:effectLst/>
                  <a:latin typeface="Lato" panose="020F0502020204030203" pitchFamily="34" charset="0"/>
                  <a:cs typeface="Segoe UI" panose="020B0502040204020203" pitchFamily="34" charset="0"/>
                </a:rPr>
                <a:t>onitoramento automatizado em tempo real;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3C727E8-B962-6683-1831-631ADC80EFE2}"/>
                </a:ext>
              </a:extLst>
            </p:cNvPr>
            <p:cNvSpPr txBox="1"/>
            <p:nvPr/>
          </p:nvSpPr>
          <p:spPr>
            <a:xfrm>
              <a:off x="1596539" y="4902085"/>
              <a:ext cx="8049687" cy="3231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 rtl="0">
                <a:spcBef>
                  <a:spcPts val="0"/>
                </a:spcBef>
                <a:spcAft>
                  <a:spcPts val="1600"/>
                </a:spcAft>
              </a:pPr>
              <a:r>
                <a:rPr lang="pt-BR" sz="1500" b="1" dirty="0">
                  <a:solidFill>
                    <a:srgbClr val="FFFFFF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E</a:t>
              </a:r>
              <a:r>
                <a:rPr lang="pt-BR" sz="1500" b="1" i="0" u="none" strike="noStrike" dirty="0">
                  <a:solidFill>
                    <a:srgbClr val="FFFFFF"/>
                  </a:solidFill>
                  <a:effectLst/>
                  <a:latin typeface="Lato" panose="020F0502020204030203" pitchFamily="34" charset="0"/>
                  <a:cs typeface="Segoe UI" panose="020B0502040204020203" pitchFamily="34" charset="0"/>
                </a:rPr>
                <a:t>volução do modelo com governança e versionamento contínuos.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C8153AEF-EF8D-67AD-10A1-B366C4FDAF43}"/>
                </a:ext>
              </a:extLst>
            </p:cNvPr>
            <p:cNvSpPr txBox="1"/>
            <p:nvPr/>
          </p:nvSpPr>
          <p:spPr>
            <a:xfrm>
              <a:off x="906011" y="4747174"/>
              <a:ext cx="113346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/>
              <a:r>
                <a:rPr lang="pt-BR" sz="3600" b="1" dirty="0">
                  <a:solidFill>
                    <a:srgbClr val="4CBF88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05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4293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534C-2876-BFBE-A9C3-B70CE7851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CB29A8E8-291B-AE87-29CF-AC94589D9542}"/>
              </a:ext>
            </a:extLst>
          </p:cNvPr>
          <p:cNvSpPr txBox="1"/>
          <p:nvPr/>
        </p:nvSpPr>
        <p:spPr>
          <a:xfrm>
            <a:off x="2124053" y="229038"/>
            <a:ext cx="7943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CONCLUSÃO E AGRADECIMENTOS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BFCCD8E-534F-008E-F21E-46E478F61CE9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88062DB-7B27-9E58-C875-B6958D9B70A4}"/>
              </a:ext>
            </a:extLst>
          </p:cNvPr>
          <p:cNvSpPr txBox="1"/>
          <p:nvPr/>
        </p:nvSpPr>
        <p:spPr>
          <a:xfrm>
            <a:off x="981075" y="2921168"/>
            <a:ext cx="102298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A </a:t>
            </a:r>
            <a:r>
              <a:rPr lang="pt-BR" b="1" dirty="0">
                <a:solidFill>
                  <a:schemeClr val="bg1"/>
                </a:solidFill>
                <a:latin typeface="Lato" panose="020F0502020204030203" pitchFamily="34" charset="0"/>
              </a:rPr>
              <a:t>PRISMA </a:t>
            </a:r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se apresenta como uma solução moderna e estratégica para elevar o nível da gestão de risco nos </a:t>
            </a:r>
            <a:r>
              <a:rPr lang="pt-BR" dirty="0" err="1">
                <a:solidFill>
                  <a:schemeClr val="bg1"/>
                </a:solidFill>
                <a:latin typeface="Lato" panose="020F0502020204030203" pitchFamily="34" charset="0"/>
              </a:rPr>
              <a:t>FIDCs</a:t>
            </a:r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, unindo IA, modelagem preditiva e análise estrutural para reduzir assimetrias, antecipar inadimplência e revelar oportunidades ocultas. Ao oferecer uma visão integrada e precisa da carteira, a plataforma contribui para decisões mais seguras, operações mais eficientes e um ecossistema de crédito mais transparente e sustentável.</a:t>
            </a:r>
          </a:p>
        </p:txBody>
      </p:sp>
    </p:spTree>
    <p:extLst>
      <p:ext uri="{BB962C8B-B14F-4D97-AF65-F5344CB8AC3E}">
        <p14:creationId xmlns:p14="http://schemas.microsoft.com/office/powerpoint/2010/main" val="1526865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54D95-5064-0546-4173-090B59CF8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B079728B-EE59-93E3-DB1E-212447078784}"/>
              </a:ext>
            </a:extLst>
          </p:cNvPr>
          <p:cNvSpPr txBox="1"/>
          <p:nvPr/>
        </p:nvSpPr>
        <p:spPr>
          <a:xfrm>
            <a:off x="2124053" y="229038"/>
            <a:ext cx="79438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Links do Projeto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955981B-FB53-59EE-4ECA-AF2158C283FB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DF7E2FBD-980C-24BE-0768-67E809B814BA}"/>
              </a:ext>
            </a:extLst>
          </p:cNvPr>
          <p:cNvGrpSpPr/>
          <p:nvPr/>
        </p:nvGrpSpPr>
        <p:grpSpPr>
          <a:xfrm>
            <a:off x="1424896" y="2573852"/>
            <a:ext cx="8909440" cy="1962012"/>
            <a:chOff x="1158196" y="5847083"/>
            <a:chExt cx="8909440" cy="1962012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37F28ACF-8DDB-1FA7-C154-B07D61BFF91D}"/>
                </a:ext>
              </a:extLst>
            </p:cNvPr>
            <p:cNvSpPr txBox="1"/>
            <p:nvPr/>
          </p:nvSpPr>
          <p:spPr>
            <a:xfrm>
              <a:off x="1158196" y="5847083"/>
              <a:ext cx="8909440" cy="1962012"/>
            </a:xfrm>
            <a:prstGeom prst="rect">
              <a:avLst/>
            </a:prstGeom>
            <a:noFill/>
          </p:spPr>
          <p:txBody>
            <a:bodyPr wrap="square" lIns="91440" tIns="45720" rIns="91440" bIns="45720" numCol="1" rtlCol="0" anchor="t">
              <a:spAutoFit/>
            </a:bodyPr>
            <a:lstStyle/>
            <a:p>
              <a:pPr marL="285750" indent="-285750" algn="just" rtl="0">
                <a:spcBef>
                  <a:spcPts val="0"/>
                </a:spcBef>
                <a:spcAft>
                  <a:spcPts val="1600"/>
                </a:spcAft>
                <a:buFont typeface="Arial" panose="020B0604020202020204" pitchFamily="34" charset="0"/>
                <a:buChar char="•"/>
              </a:pPr>
              <a:r>
                <a:rPr lang="pt-BR" sz="2800" i="0" u="none" strike="noStrike" dirty="0">
                  <a:solidFill>
                    <a:srgbClr val="FFFFFF"/>
                  </a:solidFill>
                  <a:effectLst/>
                  <a:latin typeface="Lato" panose="020F0502020204030203" pitchFamily="34" charset="0"/>
                  <a:cs typeface="Segoe UI" panose="020B0502040204020203" pitchFamily="34" charset="0"/>
                </a:rPr>
                <a:t>Link da aplicação funcionando: </a:t>
              </a:r>
            </a:p>
            <a:p>
              <a:pPr marL="285750" indent="-285750" algn="just" rtl="0">
                <a:lnSpc>
                  <a:spcPts val="1200"/>
                </a:lnSpc>
                <a:spcBef>
                  <a:spcPts val="0"/>
                </a:spcBef>
                <a:spcAft>
                  <a:spcPts val="1600"/>
                </a:spcAft>
                <a:buFont typeface="Arial" panose="020B0604020202020204" pitchFamily="34" charset="0"/>
                <a:buChar char="•"/>
              </a:pPr>
              <a:r>
                <a:rPr lang="pt-BR" sz="2800" i="0" u="none" strike="noStrike" dirty="0">
                  <a:solidFill>
                    <a:srgbClr val="FFFFFF"/>
                  </a:solidFill>
                  <a:effectLst/>
                  <a:latin typeface="Lato" panose="020F0502020204030203" pitchFamily="34" charset="0"/>
                  <a:cs typeface="Segoe UI" panose="020B0502040204020203" pitchFamily="34" charset="0"/>
                </a:rPr>
                <a:t>Link do repositório/código-fonte:</a:t>
              </a:r>
            </a:p>
            <a:p>
              <a:pPr marL="285750" indent="-285750" algn="just">
                <a:lnSpc>
                  <a:spcPts val="1200"/>
                </a:lnSpc>
                <a:spcAft>
                  <a:spcPts val="1600"/>
                </a:spcAft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rgbClr val="FFFFFF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Link do </a:t>
              </a:r>
              <a:r>
                <a:rPr lang="pt-BR" sz="2800" dirty="0" err="1">
                  <a:solidFill>
                    <a:srgbClr val="FFFFFF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Video</a:t>
              </a:r>
              <a:r>
                <a:rPr lang="pt-BR" sz="2800" dirty="0">
                  <a:solidFill>
                    <a:srgbClr val="FFFFFF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 </a:t>
              </a:r>
              <a:r>
                <a:rPr lang="pt-BR" sz="2800" dirty="0" err="1">
                  <a:solidFill>
                    <a:srgbClr val="FFFFFF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Pitch</a:t>
              </a:r>
              <a:r>
                <a:rPr lang="pt-BR" sz="2800" dirty="0">
                  <a:solidFill>
                    <a:srgbClr val="FFFFFF"/>
                  </a:solidFill>
                  <a:latin typeface="Lato" panose="020F0502020204030203" pitchFamily="34" charset="0"/>
                  <a:cs typeface="Segoe UI" panose="020B0502040204020203" pitchFamily="34" charset="0"/>
                </a:rPr>
                <a:t>:  </a:t>
              </a:r>
            </a:p>
            <a:p>
              <a:pPr marL="285750" indent="-285750" algn="just" rtl="0">
                <a:lnSpc>
                  <a:spcPts val="1200"/>
                </a:lnSpc>
                <a:spcBef>
                  <a:spcPts val="0"/>
                </a:spcBef>
                <a:spcAft>
                  <a:spcPts val="1600"/>
                </a:spcAft>
                <a:buFont typeface="Arial" panose="020B0604020202020204" pitchFamily="34" charset="0"/>
                <a:buChar char="•"/>
              </a:pPr>
              <a:endParaRPr lang="pt-BR" sz="1500" i="0" u="none" strike="noStrike" dirty="0">
                <a:solidFill>
                  <a:srgbClr val="FFFFFF"/>
                </a:solidFill>
                <a:latin typeface="Lato" panose="020F0502020204030203" pitchFamily="34" charset="0"/>
                <a:cs typeface="Segoe UI" panose="020B0502040204020203" pitchFamily="34" charset="0"/>
              </a:endParaRPr>
            </a:p>
            <a:p>
              <a:pPr marL="285750" indent="-285750" algn="just" rtl="0">
                <a:lnSpc>
                  <a:spcPts val="1200"/>
                </a:lnSpc>
                <a:spcBef>
                  <a:spcPts val="0"/>
                </a:spcBef>
                <a:spcAft>
                  <a:spcPts val="1600"/>
                </a:spcAft>
                <a:buFont typeface="Arial" panose="020B0604020202020204" pitchFamily="34" charset="0"/>
                <a:buChar char="•"/>
              </a:pPr>
              <a:endParaRPr lang="pt-BR" sz="15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" name="Google Shape;306;p33">
              <a:extLst>
                <a:ext uri="{FF2B5EF4-FFF2-40B4-BE49-F238E27FC236}">
                  <a16:creationId xmlns:a16="http://schemas.microsoft.com/office/drawing/2014/main" id="{DE2C90EE-F32F-7832-3085-AA6DDE93868E}"/>
                </a:ext>
              </a:extLst>
            </p:cNvPr>
            <p:cNvSpPr/>
            <p:nvPr/>
          </p:nvSpPr>
          <p:spPr>
            <a:xfrm>
              <a:off x="6365565" y="5930189"/>
              <a:ext cx="419382" cy="352854"/>
            </a:xfrm>
            <a:prstGeom prst="roundRect">
              <a:avLst>
                <a:gd name="adj" fmla="val 16667"/>
              </a:avLst>
            </a:prstGeom>
            <a:solidFill>
              <a:srgbClr val="4CBF88"/>
            </a:solidFill>
            <a:ln w="80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075" tIns="77075" rIns="77075" bIns="770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80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" name="Google Shape;295;p32" title="github-icon-1-logo-png-transparent.png">
              <a:hlinkClick r:id="rId2"/>
              <a:extLst>
                <a:ext uri="{FF2B5EF4-FFF2-40B4-BE49-F238E27FC236}">
                  <a16:creationId xmlns:a16="http://schemas.microsoft.com/office/drawing/2014/main" id="{B3CA2B70-97E5-6D55-1B51-2271FC955E0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t="29" b="19"/>
            <a:stretch/>
          </p:blipFill>
          <p:spPr>
            <a:xfrm>
              <a:off x="6419725" y="5958038"/>
              <a:ext cx="357312" cy="3231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306;p33">
              <a:extLst>
                <a:ext uri="{FF2B5EF4-FFF2-40B4-BE49-F238E27FC236}">
                  <a16:creationId xmlns:a16="http://schemas.microsoft.com/office/drawing/2014/main" id="{6F39FB41-4555-1CB6-75F7-CA531690C6D6}"/>
                </a:ext>
              </a:extLst>
            </p:cNvPr>
            <p:cNvSpPr/>
            <p:nvPr/>
          </p:nvSpPr>
          <p:spPr>
            <a:xfrm>
              <a:off x="6877597" y="6349377"/>
              <a:ext cx="419382" cy="352854"/>
            </a:xfrm>
            <a:prstGeom prst="roundRect">
              <a:avLst>
                <a:gd name="adj" fmla="val 16667"/>
              </a:avLst>
            </a:prstGeom>
            <a:solidFill>
              <a:srgbClr val="4CBF88"/>
            </a:solidFill>
            <a:ln w="80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075" tIns="77075" rIns="77075" bIns="770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80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" name="Google Shape;295;p32" title="github-icon-1-logo-png-transparent.png">
              <a:hlinkClick r:id="rId4"/>
              <a:extLst>
                <a:ext uri="{FF2B5EF4-FFF2-40B4-BE49-F238E27FC236}">
                  <a16:creationId xmlns:a16="http://schemas.microsoft.com/office/drawing/2014/main" id="{D783246F-9263-2E5E-9B10-BE90782F851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t="29" b="19"/>
            <a:stretch/>
          </p:blipFill>
          <p:spPr>
            <a:xfrm>
              <a:off x="6931757" y="6377226"/>
              <a:ext cx="357312" cy="3231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" name="Google Shape;306;p33">
              <a:extLst>
                <a:ext uri="{FF2B5EF4-FFF2-40B4-BE49-F238E27FC236}">
                  <a16:creationId xmlns:a16="http://schemas.microsoft.com/office/drawing/2014/main" id="{9B92B499-3F21-3395-AAE4-F30BC20432F4}"/>
                </a:ext>
              </a:extLst>
            </p:cNvPr>
            <p:cNvSpPr/>
            <p:nvPr/>
          </p:nvSpPr>
          <p:spPr>
            <a:xfrm>
              <a:off x="4742264" y="6693788"/>
              <a:ext cx="419382" cy="352854"/>
            </a:xfrm>
            <a:prstGeom prst="roundRect">
              <a:avLst>
                <a:gd name="adj" fmla="val 16667"/>
              </a:avLst>
            </a:prstGeom>
            <a:solidFill>
              <a:srgbClr val="4CBF88"/>
            </a:solidFill>
            <a:ln w="80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075" tIns="77075" rIns="77075" bIns="770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80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" name="Picture 2" descr="Youtube png | PNGWing">
              <a:hlinkClick r:id="rId5"/>
              <a:extLst>
                <a:ext uri="{FF2B5EF4-FFF2-40B4-BE49-F238E27FC236}">
                  <a16:creationId xmlns:a16="http://schemas.microsoft.com/office/drawing/2014/main" id="{388908CA-1A3D-8CC1-E2D1-6E488621BD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/>
            <a:stretch/>
          </p:blipFill>
          <p:spPr bwMode="auto">
            <a:xfrm>
              <a:off x="4781004" y="6704740"/>
              <a:ext cx="341902" cy="3419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35661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2677</TotalTime>
  <Words>1595</Words>
  <Application>Microsoft Office PowerPoint</Application>
  <PresentationFormat>Widescreen</PresentationFormat>
  <Paragraphs>220</Paragraphs>
  <Slides>19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Arial</vt:lpstr>
      <vt:lpstr>Lato</vt:lpstr>
      <vt:lpstr>Calibri Light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Italo Bangarcl Silva</dc:creator>
  <cp:lastModifiedBy>Ana Carolina Guanaes</cp:lastModifiedBy>
  <cp:revision>46</cp:revision>
  <cp:lastPrinted>2025-11-26T20:33:10Z</cp:lastPrinted>
  <dcterms:created xsi:type="dcterms:W3CDTF">2025-10-18T14:10:50Z</dcterms:created>
  <dcterms:modified xsi:type="dcterms:W3CDTF">2026-05-12T22:47:09Z</dcterms:modified>
</cp:coreProperties>
</file>